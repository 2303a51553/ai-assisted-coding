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1A1A1A"/>
          </a:solidFill>
          <a:ln w="12700">
            <a:solidFill>
              <a:srgbClr val="1A1A1A"/>
            </a:solidFill>
            <a:prstDash val="solid"/>
          </a:ln>
        </p:spPr>
      </p:sp>
      <p:sp>
        <p:nvSpPr>
          <p:cNvPr id="3" name="Shape 1"/>
          <p:cNvSpPr/>
          <p:nvPr/>
        </p:nvSpPr>
        <p:spPr>
          <a:xfrm>
            <a:off x="91440" y="73152"/>
            <a:ext cx="256032" cy="292608"/>
          </a:xfrm>
          <a:prstGeom prst="rect">
            <a:avLst/>
          </a:prstGeom>
          <a:solidFill>
            <a:srgbClr val="0A0A0A"/>
          </a:solidFill>
          <a:ln w="12700">
            <a:solidFill>
              <a:srgbClr val="0A0A0A"/>
            </a:solidFill>
            <a:prstDash val="solid"/>
          </a:ln>
        </p:spPr>
      </p:sp>
      <p:sp>
        <p:nvSpPr>
          <p:cNvPr id="4" name="Shape 2"/>
          <p:cNvSpPr/>
          <p:nvPr/>
        </p:nvSpPr>
        <p:spPr>
          <a:xfrm>
            <a:off x="548640" y="73152"/>
            <a:ext cx="256032" cy="292608"/>
          </a:xfrm>
          <a:prstGeom prst="rect">
            <a:avLst/>
          </a:prstGeom>
          <a:solidFill>
            <a:srgbClr val="0A0A0A"/>
          </a:solidFill>
          <a:ln w="12700">
            <a:solidFill>
              <a:srgbClr val="0A0A0A"/>
            </a:solidFill>
            <a:prstDash val="solid"/>
          </a:ln>
        </p:spPr>
      </p:sp>
      <p:sp>
        <p:nvSpPr>
          <p:cNvPr id="5" name="Shape 3"/>
          <p:cNvSpPr/>
          <p:nvPr/>
        </p:nvSpPr>
        <p:spPr>
          <a:xfrm>
            <a:off x="1005840" y="73152"/>
            <a:ext cx="256032" cy="292608"/>
          </a:xfrm>
          <a:prstGeom prst="rect">
            <a:avLst/>
          </a:prstGeom>
          <a:solidFill>
            <a:srgbClr val="0A0A0A"/>
          </a:solidFill>
          <a:ln w="12700">
            <a:solidFill>
              <a:srgbClr val="0A0A0A"/>
            </a:solidFill>
            <a:prstDash val="solid"/>
          </a:ln>
        </p:spPr>
      </p:sp>
      <p:sp>
        <p:nvSpPr>
          <p:cNvPr id="6" name="Shape 4"/>
          <p:cNvSpPr/>
          <p:nvPr/>
        </p:nvSpPr>
        <p:spPr>
          <a:xfrm>
            <a:off x="1463040" y="73152"/>
            <a:ext cx="256032" cy="292608"/>
          </a:xfrm>
          <a:prstGeom prst="rect">
            <a:avLst/>
          </a:prstGeom>
          <a:solidFill>
            <a:srgbClr val="0A0A0A"/>
          </a:solidFill>
          <a:ln w="12700">
            <a:solidFill>
              <a:srgbClr val="0A0A0A"/>
            </a:solidFill>
            <a:prstDash val="solid"/>
          </a:ln>
        </p:spPr>
      </p:sp>
      <p:sp>
        <p:nvSpPr>
          <p:cNvPr id="7" name="Shape 5"/>
          <p:cNvSpPr/>
          <p:nvPr/>
        </p:nvSpPr>
        <p:spPr>
          <a:xfrm>
            <a:off x="1920240" y="73152"/>
            <a:ext cx="256032" cy="292608"/>
          </a:xfrm>
          <a:prstGeom prst="rect">
            <a:avLst/>
          </a:prstGeom>
          <a:solidFill>
            <a:srgbClr val="0A0A0A"/>
          </a:solidFill>
          <a:ln w="12700">
            <a:solidFill>
              <a:srgbClr val="0A0A0A"/>
            </a:solidFill>
            <a:prstDash val="solid"/>
          </a:ln>
        </p:spPr>
      </p:sp>
      <p:sp>
        <p:nvSpPr>
          <p:cNvPr id="8" name="Shape 6"/>
          <p:cNvSpPr/>
          <p:nvPr/>
        </p:nvSpPr>
        <p:spPr>
          <a:xfrm>
            <a:off x="2377440" y="73152"/>
            <a:ext cx="256032" cy="292608"/>
          </a:xfrm>
          <a:prstGeom prst="rect">
            <a:avLst/>
          </a:prstGeom>
          <a:solidFill>
            <a:srgbClr val="0A0A0A"/>
          </a:solidFill>
          <a:ln w="12700">
            <a:solidFill>
              <a:srgbClr val="0A0A0A"/>
            </a:solidFill>
            <a:prstDash val="solid"/>
          </a:ln>
        </p:spPr>
      </p:sp>
      <p:sp>
        <p:nvSpPr>
          <p:cNvPr id="9" name="Shape 7"/>
          <p:cNvSpPr/>
          <p:nvPr/>
        </p:nvSpPr>
        <p:spPr>
          <a:xfrm>
            <a:off x="2834640" y="73152"/>
            <a:ext cx="256032" cy="292608"/>
          </a:xfrm>
          <a:prstGeom prst="rect">
            <a:avLst/>
          </a:prstGeom>
          <a:solidFill>
            <a:srgbClr val="0A0A0A"/>
          </a:solidFill>
          <a:ln w="12700">
            <a:solidFill>
              <a:srgbClr val="0A0A0A"/>
            </a:solidFill>
            <a:prstDash val="solid"/>
          </a:ln>
        </p:spPr>
      </p:sp>
      <p:sp>
        <p:nvSpPr>
          <p:cNvPr id="10" name="Shape 8"/>
          <p:cNvSpPr/>
          <p:nvPr/>
        </p:nvSpPr>
        <p:spPr>
          <a:xfrm>
            <a:off x="3291840" y="73152"/>
            <a:ext cx="256032" cy="292608"/>
          </a:xfrm>
          <a:prstGeom prst="rect">
            <a:avLst/>
          </a:prstGeom>
          <a:solidFill>
            <a:srgbClr val="0A0A0A"/>
          </a:solidFill>
          <a:ln w="12700">
            <a:solidFill>
              <a:srgbClr val="0A0A0A"/>
            </a:solidFill>
            <a:prstDash val="solid"/>
          </a:ln>
        </p:spPr>
      </p:sp>
      <p:sp>
        <p:nvSpPr>
          <p:cNvPr id="11" name="Shape 9"/>
          <p:cNvSpPr/>
          <p:nvPr/>
        </p:nvSpPr>
        <p:spPr>
          <a:xfrm>
            <a:off x="3749040" y="73152"/>
            <a:ext cx="256032" cy="292608"/>
          </a:xfrm>
          <a:prstGeom prst="rect">
            <a:avLst/>
          </a:prstGeom>
          <a:solidFill>
            <a:srgbClr val="0A0A0A"/>
          </a:solidFill>
          <a:ln w="12700">
            <a:solidFill>
              <a:srgbClr val="0A0A0A"/>
            </a:solidFill>
            <a:prstDash val="solid"/>
          </a:ln>
        </p:spPr>
      </p:sp>
      <p:sp>
        <p:nvSpPr>
          <p:cNvPr id="12" name="Shape 10"/>
          <p:cNvSpPr/>
          <p:nvPr/>
        </p:nvSpPr>
        <p:spPr>
          <a:xfrm>
            <a:off x="4206240" y="73152"/>
            <a:ext cx="256032" cy="292608"/>
          </a:xfrm>
          <a:prstGeom prst="rect">
            <a:avLst/>
          </a:prstGeom>
          <a:solidFill>
            <a:srgbClr val="0A0A0A"/>
          </a:solidFill>
          <a:ln w="12700">
            <a:solidFill>
              <a:srgbClr val="0A0A0A"/>
            </a:solidFill>
            <a:prstDash val="solid"/>
          </a:ln>
        </p:spPr>
      </p:sp>
      <p:sp>
        <p:nvSpPr>
          <p:cNvPr id="13" name="Shape 11"/>
          <p:cNvSpPr/>
          <p:nvPr/>
        </p:nvSpPr>
        <p:spPr>
          <a:xfrm>
            <a:off x="4663440" y="73152"/>
            <a:ext cx="256032" cy="292608"/>
          </a:xfrm>
          <a:prstGeom prst="rect">
            <a:avLst/>
          </a:prstGeom>
          <a:solidFill>
            <a:srgbClr val="0A0A0A"/>
          </a:solidFill>
          <a:ln w="12700">
            <a:solidFill>
              <a:srgbClr val="0A0A0A"/>
            </a:solidFill>
            <a:prstDash val="solid"/>
          </a:ln>
        </p:spPr>
      </p:sp>
      <p:sp>
        <p:nvSpPr>
          <p:cNvPr id="14" name="Shape 12"/>
          <p:cNvSpPr/>
          <p:nvPr/>
        </p:nvSpPr>
        <p:spPr>
          <a:xfrm>
            <a:off x="5120640" y="73152"/>
            <a:ext cx="256032" cy="292608"/>
          </a:xfrm>
          <a:prstGeom prst="rect">
            <a:avLst/>
          </a:prstGeom>
          <a:solidFill>
            <a:srgbClr val="0A0A0A"/>
          </a:solidFill>
          <a:ln w="12700">
            <a:solidFill>
              <a:srgbClr val="0A0A0A"/>
            </a:solidFill>
            <a:prstDash val="solid"/>
          </a:ln>
        </p:spPr>
      </p:sp>
      <p:sp>
        <p:nvSpPr>
          <p:cNvPr id="15" name="Shape 13"/>
          <p:cNvSpPr/>
          <p:nvPr/>
        </p:nvSpPr>
        <p:spPr>
          <a:xfrm>
            <a:off x="5577840" y="73152"/>
            <a:ext cx="256032" cy="292608"/>
          </a:xfrm>
          <a:prstGeom prst="rect">
            <a:avLst/>
          </a:prstGeom>
          <a:solidFill>
            <a:srgbClr val="0A0A0A"/>
          </a:solidFill>
          <a:ln w="12700">
            <a:solidFill>
              <a:srgbClr val="0A0A0A"/>
            </a:solidFill>
            <a:prstDash val="solid"/>
          </a:ln>
        </p:spPr>
      </p:sp>
      <p:sp>
        <p:nvSpPr>
          <p:cNvPr id="16" name="Shape 14"/>
          <p:cNvSpPr/>
          <p:nvPr/>
        </p:nvSpPr>
        <p:spPr>
          <a:xfrm>
            <a:off x="6035040" y="73152"/>
            <a:ext cx="256032" cy="292608"/>
          </a:xfrm>
          <a:prstGeom prst="rect">
            <a:avLst/>
          </a:prstGeom>
          <a:solidFill>
            <a:srgbClr val="0A0A0A"/>
          </a:solidFill>
          <a:ln w="12700">
            <a:solidFill>
              <a:srgbClr val="0A0A0A"/>
            </a:solidFill>
            <a:prstDash val="solid"/>
          </a:ln>
        </p:spPr>
      </p:sp>
      <p:sp>
        <p:nvSpPr>
          <p:cNvPr id="17" name="Shape 15"/>
          <p:cNvSpPr/>
          <p:nvPr/>
        </p:nvSpPr>
        <p:spPr>
          <a:xfrm>
            <a:off x="6492240" y="73152"/>
            <a:ext cx="256032" cy="292608"/>
          </a:xfrm>
          <a:prstGeom prst="rect">
            <a:avLst/>
          </a:prstGeom>
          <a:solidFill>
            <a:srgbClr val="0A0A0A"/>
          </a:solidFill>
          <a:ln w="12700">
            <a:solidFill>
              <a:srgbClr val="0A0A0A"/>
            </a:solidFill>
            <a:prstDash val="solid"/>
          </a:ln>
        </p:spPr>
      </p:sp>
      <p:sp>
        <p:nvSpPr>
          <p:cNvPr id="18" name="Shape 16"/>
          <p:cNvSpPr/>
          <p:nvPr/>
        </p:nvSpPr>
        <p:spPr>
          <a:xfrm>
            <a:off x="6949440" y="73152"/>
            <a:ext cx="256032" cy="292608"/>
          </a:xfrm>
          <a:prstGeom prst="rect">
            <a:avLst/>
          </a:prstGeom>
          <a:solidFill>
            <a:srgbClr val="0A0A0A"/>
          </a:solidFill>
          <a:ln w="12700">
            <a:solidFill>
              <a:srgbClr val="0A0A0A"/>
            </a:solidFill>
            <a:prstDash val="solid"/>
          </a:ln>
        </p:spPr>
      </p:sp>
      <p:sp>
        <p:nvSpPr>
          <p:cNvPr id="19" name="Shape 17"/>
          <p:cNvSpPr/>
          <p:nvPr/>
        </p:nvSpPr>
        <p:spPr>
          <a:xfrm>
            <a:off x="7406640" y="73152"/>
            <a:ext cx="256032" cy="292608"/>
          </a:xfrm>
          <a:prstGeom prst="rect">
            <a:avLst/>
          </a:prstGeom>
          <a:solidFill>
            <a:srgbClr val="0A0A0A"/>
          </a:solidFill>
          <a:ln w="12700">
            <a:solidFill>
              <a:srgbClr val="0A0A0A"/>
            </a:solidFill>
            <a:prstDash val="solid"/>
          </a:ln>
        </p:spPr>
      </p:sp>
      <p:sp>
        <p:nvSpPr>
          <p:cNvPr id="20" name="Shape 18"/>
          <p:cNvSpPr/>
          <p:nvPr/>
        </p:nvSpPr>
        <p:spPr>
          <a:xfrm>
            <a:off x="7863840" y="73152"/>
            <a:ext cx="256032" cy="292608"/>
          </a:xfrm>
          <a:prstGeom prst="rect">
            <a:avLst/>
          </a:prstGeom>
          <a:solidFill>
            <a:srgbClr val="0A0A0A"/>
          </a:solidFill>
          <a:ln w="12700">
            <a:solidFill>
              <a:srgbClr val="0A0A0A"/>
            </a:solidFill>
            <a:prstDash val="solid"/>
          </a:ln>
        </p:spPr>
      </p:sp>
      <p:sp>
        <p:nvSpPr>
          <p:cNvPr id="21" name="Shape 19"/>
          <p:cNvSpPr/>
          <p:nvPr/>
        </p:nvSpPr>
        <p:spPr>
          <a:xfrm>
            <a:off x="8321040" y="73152"/>
            <a:ext cx="256032" cy="292608"/>
          </a:xfrm>
          <a:prstGeom prst="rect">
            <a:avLst/>
          </a:prstGeom>
          <a:solidFill>
            <a:srgbClr val="0A0A0A"/>
          </a:solidFill>
          <a:ln w="12700">
            <a:solidFill>
              <a:srgbClr val="0A0A0A"/>
            </a:solidFill>
            <a:prstDash val="solid"/>
          </a:ln>
        </p:spPr>
      </p:sp>
      <p:sp>
        <p:nvSpPr>
          <p:cNvPr id="22" name="Shape 20"/>
          <p:cNvSpPr/>
          <p:nvPr/>
        </p:nvSpPr>
        <p:spPr>
          <a:xfrm>
            <a:off x="8778240" y="73152"/>
            <a:ext cx="256032" cy="292608"/>
          </a:xfrm>
          <a:prstGeom prst="rect">
            <a:avLst/>
          </a:prstGeom>
          <a:solidFill>
            <a:srgbClr val="0A0A0A"/>
          </a:solidFill>
          <a:ln w="12700">
            <a:solidFill>
              <a:srgbClr val="0A0A0A"/>
            </a:solidFill>
            <a:prstDash val="solid"/>
          </a:ln>
        </p:spPr>
      </p:sp>
      <p:sp>
        <p:nvSpPr>
          <p:cNvPr id="23" name="Shape 21"/>
          <p:cNvSpPr/>
          <p:nvPr/>
        </p:nvSpPr>
        <p:spPr>
          <a:xfrm>
            <a:off x="0" y="4681728"/>
            <a:ext cx="9144000" cy="457200"/>
          </a:xfrm>
          <a:prstGeom prst="rect">
            <a:avLst/>
          </a:prstGeom>
          <a:solidFill>
            <a:srgbClr val="1A1A1A"/>
          </a:solidFill>
          <a:ln w="12700">
            <a:solidFill>
              <a:srgbClr val="1A1A1A"/>
            </a:solidFill>
            <a:prstDash val="solid"/>
          </a:ln>
        </p:spPr>
      </p:sp>
      <p:sp>
        <p:nvSpPr>
          <p:cNvPr id="24" name="Shape 22"/>
          <p:cNvSpPr/>
          <p:nvPr/>
        </p:nvSpPr>
        <p:spPr>
          <a:xfrm>
            <a:off x="91440" y="4754880"/>
            <a:ext cx="256032" cy="292608"/>
          </a:xfrm>
          <a:prstGeom prst="rect">
            <a:avLst/>
          </a:prstGeom>
          <a:solidFill>
            <a:srgbClr val="0A0A0A"/>
          </a:solidFill>
          <a:ln w="12700">
            <a:solidFill>
              <a:srgbClr val="0A0A0A"/>
            </a:solidFill>
            <a:prstDash val="solid"/>
          </a:ln>
        </p:spPr>
      </p:sp>
      <p:sp>
        <p:nvSpPr>
          <p:cNvPr id="25" name="Shape 23"/>
          <p:cNvSpPr/>
          <p:nvPr/>
        </p:nvSpPr>
        <p:spPr>
          <a:xfrm>
            <a:off x="548640" y="4754880"/>
            <a:ext cx="256032" cy="292608"/>
          </a:xfrm>
          <a:prstGeom prst="rect">
            <a:avLst/>
          </a:prstGeom>
          <a:solidFill>
            <a:srgbClr val="0A0A0A"/>
          </a:solidFill>
          <a:ln w="12700">
            <a:solidFill>
              <a:srgbClr val="0A0A0A"/>
            </a:solidFill>
            <a:prstDash val="solid"/>
          </a:ln>
        </p:spPr>
      </p:sp>
      <p:sp>
        <p:nvSpPr>
          <p:cNvPr id="26" name="Shape 24"/>
          <p:cNvSpPr/>
          <p:nvPr/>
        </p:nvSpPr>
        <p:spPr>
          <a:xfrm>
            <a:off x="1005840" y="4754880"/>
            <a:ext cx="256032" cy="292608"/>
          </a:xfrm>
          <a:prstGeom prst="rect">
            <a:avLst/>
          </a:prstGeom>
          <a:solidFill>
            <a:srgbClr val="0A0A0A"/>
          </a:solidFill>
          <a:ln w="12700">
            <a:solidFill>
              <a:srgbClr val="0A0A0A"/>
            </a:solidFill>
            <a:prstDash val="solid"/>
          </a:ln>
        </p:spPr>
      </p:sp>
      <p:sp>
        <p:nvSpPr>
          <p:cNvPr id="27" name="Shape 25"/>
          <p:cNvSpPr/>
          <p:nvPr/>
        </p:nvSpPr>
        <p:spPr>
          <a:xfrm>
            <a:off x="1463040" y="4754880"/>
            <a:ext cx="256032" cy="292608"/>
          </a:xfrm>
          <a:prstGeom prst="rect">
            <a:avLst/>
          </a:prstGeom>
          <a:solidFill>
            <a:srgbClr val="0A0A0A"/>
          </a:solidFill>
          <a:ln w="12700">
            <a:solidFill>
              <a:srgbClr val="0A0A0A"/>
            </a:solidFill>
            <a:prstDash val="solid"/>
          </a:ln>
        </p:spPr>
      </p:sp>
      <p:sp>
        <p:nvSpPr>
          <p:cNvPr id="28" name="Shape 26"/>
          <p:cNvSpPr/>
          <p:nvPr/>
        </p:nvSpPr>
        <p:spPr>
          <a:xfrm>
            <a:off x="1920240" y="4754880"/>
            <a:ext cx="256032" cy="292608"/>
          </a:xfrm>
          <a:prstGeom prst="rect">
            <a:avLst/>
          </a:prstGeom>
          <a:solidFill>
            <a:srgbClr val="0A0A0A"/>
          </a:solidFill>
          <a:ln w="12700">
            <a:solidFill>
              <a:srgbClr val="0A0A0A"/>
            </a:solidFill>
            <a:prstDash val="solid"/>
          </a:ln>
        </p:spPr>
      </p:sp>
      <p:sp>
        <p:nvSpPr>
          <p:cNvPr id="29" name="Shape 27"/>
          <p:cNvSpPr/>
          <p:nvPr/>
        </p:nvSpPr>
        <p:spPr>
          <a:xfrm>
            <a:off x="2377440" y="4754880"/>
            <a:ext cx="256032" cy="292608"/>
          </a:xfrm>
          <a:prstGeom prst="rect">
            <a:avLst/>
          </a:prstGeom>
          <a:solidFill>
            <a:srgbClr val="0A0A0A"/>
          </a:solidFill>
          <a:ln w="12700">
            <a:solidFill>
              <a:srgbClr val="0A0A0A"/>
            </a:solidFill>
            <a:prstDash val="solid"/>
          </a:ln>
        </p:spPr>
      </p:sp>
      <p:sp>
        <p:nvSpPr>
          <p:cNvPr id="30" name="Shape 28"/>
          <p:cNvSpPr/>
          <p:nvPr/>
        </p:nvSpPr>
        <p:spPr>
          <a:xfrm>
            <a:off x="2834640" y="4754880"/>
            <a:ext cx="256032" cy="292608"/>
          </a:xfrm>
          <a:prstGeom prst="rect">
            <a:avLst/>
          </a:prstGeom>
          <a:solidFill>
            <a:srgbClr val="0A0A0A"/>
          </a:solidFill>
          <a:ln w="12700">
            <a:solidFill>
              <a:srgbClr val="0A0A0A"/>
            </a:solidFill>
            <a:prstDash val="solid"/>
          </a:ln>
        </p:spPr>
      </p:sp>
      <p:sp>
        <p:nvSpPr>
          <p:cNvPr id="31" name="Shape 29"/>
          <p:cNvSpPr/>
          <p:nvPr/>
        </p:nvSpPr>
        <p:spPr>
          <a:xfrm>
            <a:off x="3291840" y="4754880"/>
            <a:ext cx="256032" cy="292608"/>
          </a:xfrm>
          <a:prstGeom prst="rect">
            <a:avLst/>
          </a:prstGeom>
          <a:solidFill>
            <a:srgbClr val="0A0A0A"/>
          </a:solidFill>
          <a:ln w="12700">
            <a:solidFill>
              <a:srgbClr val="0A0A0A"/>
            </a:solidFill>
            <a:prstDash val="solid"/>
          </a:ln>
        </p:spPr>
      </p:sp>
      <p:sp>
        <p:nvSpPr>
          <p:cNvPr id="32" name="Shape 30"/>
          <p:cNvSpPr/>
          <p:nvPr/>
        </p:nvSpPr>
        <p:spPr>
          <a:xfrm>
            <a:off x="3749040" y="4754880"/>
            <a:ext cx="256032" cy="292608"/>
          </a:xfrm>
          <a:prstGeom prst="rect">
            <a:avLst/>
          </a:prstGeom>
          <a:solidFill>
            <a:srgbClr val="0A0A0A"/>
          </a:solidFill>
          <a:ln w="12700">
            <a:solidFill>
              <a:srgbClr val="0A0A0A"/>
            </a:solidFill>
            <a:prstDash val="solid"/>
          </a:ln>
        </p:spPr>
      </p:sp>
      <p:sp>
        <p:nvSpPr>
          <p:cNvPr id="33" name="Shape 31"/>
          <p:cNvSpPr/>
          <p:nvPr/>
        </p:nvSpPr>
        <p:spPr>
          <a:xfrm>
            <a:off x="4206240" y="4754880"/>
            <a:ext cx="256032" cy="292608"/>
          </a:xfrm>
          <a:prstGeom prst="rect">
            <a:avLst/>
          </a:prstGeom>
          <a:solidFill>
            <a:srgbClr val="0A0A0A"/>
          </a:solidFill>
          <a:ln w="12700">
            <a:solidFill>
              <a:srgbClr val="0A0A0A"/>
            </a:solidFill>
            <a:prstDash val="solid"/>
          </a:ln>
        </p:spPr>
      </p:sp>
      <p:sp>
        <p:nvSpPr>
          <p:cNvPr id="34" name="Shape 32"/>
          <p:cNvSpPr/>
          <p:nvPr/>
        </p:nvSpPr>
        <p:spPr>
          <a:xfrm>
            <a:off x="4663440" y="4754880"/>
            <a:ext cx="256032" cy="292608"/>
          </a:xfrm>
          <a:prstGeom prst="rect">
            <a:avLst/>
          </a:prstGeom>
          <a:solidFill>
            <a:srgbClr val="0A0A0A"/>
          </a:solidFill>
          <a:ln w="12700">
            <a:solidFill>
              <a:srgbClr val="0A0A0A"/>
            </a:solidFill>
            <a:prstDash val="solid"/>
          </a:ln>
        </p:spPr>
      </p:sp>
      <p:sp>
        <p:nvSpPr>
          <p:cNvPr id="35" name="Shape 33"/>
          <p:cNvSpPr/>
          <p:nvPr/>
        </p:nvSpPr>
        <p:spPr>
          <a:xfrm>
            <a:off x="5120640" y="4754880"/>
            <a:ext cx="256032" cy="292608"/>
          </a:xfrm>
          <a:prstGeom prst="rect">
            <a:avLst/>
          </a:prstGeom>
          <a:solidFill>
            <a:srgbClr val="0A0A0A"/>
          </a:solidFill>
          <a:ln w="12700">
            <a:solidFill>
              <a:srgbClr val="0A0A0A"/>
            </a:solidFill>
            <a:prstDash val="solid"/>
          </a:ln>
        </p:spPr>
      </p:sp>
      <p:sp>
        <p:nvSpPr>
          <p:cNvPr id="36" name="Shape 34"/>
          <p:cNvSpPr/>
          <p:nvPr/>
        </p:nvSpPr>
        <p:spPr>
          <a:xfrm>
            <a:off x="5577840" y="4754880"/>
            <a:ext cx="256032" cy="292608"/>
          </a:xfrm>
          <a:prstGeom prst="rect">
            <a:avLst/>
          </a:prstGeom>
          <a:solidFill>
            <a:srgbClr val="0A0A0A"/>
          </a:solidFill>
          <a:ln w="12700">
            <a:solidFill>
              <a:srgbClr val="0A0A0A"/>
            </a:solidFill>
            <a:prstDash val="solid"/>
          </a:ln>
        </p:spPr>
      </p:sp>
      <p:sp>
        <p:nvSpPr>
          <p:cNvPr id="37" name="Shape 35"/>
          <p:cNvSpPr/>
          <p:nvPr/>
        </p:nvSpPr>
        <p:spPr>
          <a:xfrm>
            <a:off x="6035040" y="4754880"/>
            <a:ext cx="256032" cy="292608"/>
          </a:xfrm>
          <a:prstGeom prst="rect">
            <a:avLst/>
          </a:prstGeom>
          <a:solidFill>
            <a:srgbClr val="0A0A0A"/>
          </a:solidFill>
          <a:ln w="12700">
            <a:solidFill>
              <a:srgbClr val="0A0A0A"/>
            </a:solidFill>
            <a:prstDash val="solid"/>
          </a:ln>
        </p:spPr>
      </p:sp>
      <p:sp>
        <p:nvSpPr>
          <p:cNvPr id="38" name="Shape 36"/>
          <p:cNvSpPr/>
          <p:nvPr/>
        </p:nvSpPr>
        <p:spPr>
          <a:xfrm>
            <a:off x="6492240" y="4754880"/>
            <a:ext cx="256032" cy="292608"/>
          </a:xfrm>
          <a:prstGeom prst="rect">
            <a:avLst/>
          </a:prstGeom>
          <a:solidFill>
            <a:srgbClr val="0A0A0A"/>
          </a:solidFill>
          <a:ln w="12700">
            <a:solidFill>
              <a:srgbClr val="0A0A0A"/>
            </a:solidFill>
            <a:prstDash val="solid"/>
          </a:ln>
        </p:spPr>
      </p:sp>
      <p:sp>
        <p:nvSpPr>
          <p:cNvPr id="39" name="Shape 37"/>
          <p:cNvSpPr/>
          <p:nvPr/>
        </p:nvSpPr>
        <p:spPr>
          <a:xfrm>
            <a:off x="6949440" y="4754880"/>
            <a:ext cx="256032" cy="292608"/>
          </a:xfrm>
          <a:prstGeom prst="rect">
            <a:avLst/>
          </a:prstGeom>
          <a:solidFill>
            <a:srgbClr val="0A0A0A"/>
          </a:solidFill>
          <a:ln w="12700">
            <a:solidFill>
              <a:srgbClr val="0A0A0A"/>
            </a:solidFill>
            <a:prstDash val="solid"/>
          </a:ln>
        </p:spPr>
      </p:sp>
      <p:sp>
        <p:nvSpPr>
          <p:cNvPr id="40" name="Shape 38"/>
          <p:cNvSpPr/>
          <p:nvPr/>
        </p:nvSpPr>
        <p:spPr>
          <a:xfrm>
            <a:off x="7406640" y="4754880"/>
            <a:ext cx="256032" cy="292608"/>
          </a:xfrm>
          <a:prstGeom prst="rect">
            <a:avLst/>
          </a:prstGeom>
          <a:solidFill>
            <a:srgbClr val="0A0A0A"/>
          </a:solidFill>
          <a:ln w="12700">
            <a:solidFill>
              <a:srgbClr val="0A0A0A"/>
            </a:solidFill>
            <a:prstDash val="solid"/>
          </a:ln>
        </p:spPr>
      </p:sp>
      <p:sp>
        <p:nvSpPr>
          <p:cNvPr id="41" name="Shape 39"/>
          <p:cNvSpPr/>
          <p:nvPr/>
        </p:nvSpPr>
        <p:spPr>
          <a:xfrm>
            <a:off x="7863840" y="4754880"/>
            <a:ext cx="256032" cy="292608"/>
          </a:xfrm>
          <a:prstGeom prst="rect">
            <a:avLst/>
          </a:prstGeom>
          <a:solidFill>
            <a:srgbClr val="0A0A0A"/>
          </a:solidFill>
          <a:ln w="12700">
            <a:solidFill>
              <a:srgbClr val="0A0A0A"/>
            </a:solidFill>
            <a:prstDash val="solid"/>
          </a:ln>
        </p:spPr>
      </p:sp>
      <p:sp>
        <p:nvSpPr>
          <p:cNvPr id="42" name="Shape 40"/>
          <p:cNvSpPr/>
          <p:nvPr/>
        </p:nvSpPr>
        <p:spPr>
          <a:xfrm>
            <a:off x="8321040" y="4754880"/>
            <a:ext cx="256032" cy="292608"/>
          </a:xfrm>
          <a:prstGeom prst="rect">
            <a:avLst/>
          </a:prstGeom>
          <a:solidFill>
            <a:srgbClr val="0A0A0A"/>
          </a:solidFill>
          <a:ln w="12700">
            <a:solidFill>
              <a:srgbClr val="0A0A0A"/>
            </a:solidFill>
            <a:prstDash val="solid"/>
          </a:ln>
        </p:spPr>
      </p:sp>
      <p:sp>
        <p:nvSpPr>
          <p:cNvPr id="43" name="Shape 41"/>
          <p:cNvSpPr/>
          <p:nvPr/>
        </p:nvSpPr>
        <p:spPr>
          <a:xfrm>
            <a:off x="8778240" y="4754880"/>
            <a:ext cx="256032" cy="292608"/>
          </a:xfrm>
          <a:prstGeom prst="rect">
            <a:avLst/>
          </a:prstGeom>
          <a:solidFill>
            <a:srgbClr val="0A0A0A"/>
          </a:solidFill>
          <a:ln w="12700">
            <a:solidFill>
              <a:srgbClr val="0A0A0A"/>
            </a:solidFill>
            <a:prstDash val="solid"/>
          </a:ln>
        </p:spPr>
      </p:sp>
      <p:sp>
        <p:nvSpPr>
          <p:cNvPr id="44" name="Shape 42"/>
          <p:cNvSpPr/>
          <p:nvPr/>
        </p:nvSpPr>
        <p:spPr>
          <a:xfrm>
            <a:off x="0" y="457200"/>
            <a:ext cx="9144000" cy="36576"/>
          </a:xfrm>
          <a:prstGeom prst="rect">
            <a:avLst/>
          </a:prstGeom>
          <a:solidFill>
            <a:srgbClr val="D4AF37"/>
          </a:solidFill>
          <a:ln w="12700">
            <a:solidFill>
              <a:srgbClr val="D4AF37"/>
            </a:solidFill>
            <a:prstDash val="solid"/>
          </a:ln>
        </p:spPr>
      </p:sp>
      <p:sp>
        <p:nvSpPr>
          <p:cNvPr id="45" name="Shape 43"/>
          <p:cNvSpPr/>
          <p:nvPr/>
        </p:nvSpPr>
        <p:spPr>
          <a:xfrm>
            <a:off x="0" y="4645152"/>
            <a:ext cx="9144000" cy="36576"/>
          </a:xfrm>
          <a:prstGeom prst="rect">
            <a:avLst/>
          </a:prstGeom>
          <a:solidFill>
            <a:srgbClr val="D4AF37"/>
          </a:solidFill>
          <a:ln w="12700">
            <a:solidFill>
              <a:srgbClr val="D4AF37"/>
            </a:solidFill>
            <a:prstDash val="solid"/>
          </a:ln>
        </p:spPr>
      </p:sp>
      <p:pic>
        <p:nvPicPr>
          <p:cNvPr id="46" name="Image 0" descr="preencoded.png">    </p:cNvPr>
          <p:cNvPicPr>
            <a:picLocks noChangeAspect="1"/>
          </p:cNvPicPr>
          <p:nvPr/>
        </p:nvPicPr>
        <p:blipFill>
          <a:blip r:embed="rId1"/>
          <a:stretch>
            <a:fillRect/>
          </a:stretch>
        </p:blipFill>
        <p:spPr>
          <a:xfrm>
            <a:off x="640080" y="1097280"/>
            <a:ext cx="914400" cy="914400"/>
          </a:xfrm>
          <a:prstGeom prst="rect">
            <a:avLst/>
          </a:prstGeom>
        </p:spPr>
      </p:pic>
      <p:sp>
        <p:nvSpPr>
          <p:cNvPr id="47" name="Text 44"/>
          <p:cNvSpPr/>
          <p:nvPr/>
        </p:nvSpPr>
        <p:spPr>
          <a:xfrm>
            <a:off x="1737360" y="1051560"/>
            <a:ext cx="6400800" cy="822960"/>
          </a:xfrm>
          <a:prstGeom prst="rect">
            <a:avLst/>
          </a:prstGeom>
          <a:noFill/>
          <a:ln/>
        </p:spPr>
        <p:txBody>
          <a:bodyPr wrap="square" rtlCol="0" anchor="ctr"/>
          <a:lstStyle/>
          <a:p>
            <a:pPr algn="l" indent="0" marL="0">
              <a:buNone/>
            </a:pPr>
            <a:r>
              <a:rPr lang="en-US" sz="6200" b="1" spc="800" kern="0" dirty="0">
                <a:solidFill>
                  <a:srgbClr val="D4AF37"/>
                </a:solidFill>
                <a:latin typeface="Arial Black" pitchFamily="34" charset="0"/>
                <a:ea typeface="Arial Black" pitchFamily="34" charset="-122"/>
                <a:cs typeface="Arial Black" pitchFamily="34" charset="-120"/>
              </a:rPr>
              <a:t>CINEBOOK</a:t>
            </a:r>
            <a:endParaRPr lang="en-US" sz="6200" dirty="0"/>
          </a:p>
        </p:txBody>
      </p:sp>
      <p:sp>
        <p:nvSpPr>
          <p:cNvPr id="48" name="Text 45"/>
          <p:cNvSpPr/>
          <p:nvPr/>
        </p:nvSpPr>
        <p:spPr>
          <a:xfrm>
            <a:off x="1828800" y="1874520"/>
            <a:ext cx="6400800" cy="365760"/>
          </a:xfrm>
          <a:prstGeom prst="rect">
            <a:avLst/>
          </a:prstGeom>
          <a:noFill/>
          <a:ln/>
        </p:spPr>
        <p:txBody>
          <a:bodyPr wrap="square" rtlCol="0" anchor="ctr"/>
          <a:lstStyle/>
          <a:p>
            <a:pPr algn="l" indent="0" marL="0">
              <a:buNone/>
            </a:pPr>
            <a:r>
              <a:rPr lang="en-US" sz="1800" spc="200" kern="0" dirty="0">
                <a:solidFill>
                  <a:srgbClr val="F5F5F5"/>
                </a:solidFill>
                <a:latin typeface="Calibri" pitchFamily="34" charset="0"/>
                <a:ea typeface="Calibri" pitchFamily="34" charset="-122"/>
                <a:cs typeface="Calibri" pitchFamily="34" charset="-120"/>
              </a:rPr>
              <a:t>Movie Booking Platform</a:t>
            </a:r>
            <a:endParaRPr lang="en-US" sz="1800" dirty="0"/>
          </a:p>
        </p:txBody>
      </p:sp>
      <p:sp>
        <p:nvSpPr>
          <p:cNvPr id="49" name="Shape 46"/>
          <p:cNvSpPr/>
          <p:nvPr/>
        </p:nvSpPr>
        <p:spPr>
          <a:xfrm>
            <a:off x="640080" y="2331720"/>
            <a:ext cx="7863840" cy="27432"/>
          </a:xfrm>
          <a:prstGeom prst="rect">
            <a:avLst/>
          </a:prstGeom>
          <a:solidFill>
            <a:srgbClr val="D4AF37"/>
          </a:solidFill>
          <a:ln w="12700">
            <a:solidFill>
              <a:srgbClr val="D4AF37"/>
            </a:solidFill>
            <a:prstDash val="solid"/>
          </a:ln>
        </p:spPr>
      </p:sp>
      <p:sp>
        <p:nvSpPr>
          <p:cNvPr id="50" name="Shape 47"/>
          <p:cNvSpPr/>
          <p:nvPr/>
        </p:nvSpPr>
        <p:spPr>
          <a:xfrm>
            <a:off x="640080" y="2514600"/>
            <a:ext cx="2560320" cy="502920"/>
          </a:xfrm>
          <a:prstGeom prst="rect">
            <a:avLst/>
          </a:prstGeom>
          <a:solidFill>
            <a:srgbClr val="2A2A2A"/>
          </a:solidFill>
          <a:ln w="6350">
            <a:solidFill>
              <a:srgbClr val="404040"/>
            </a:solidFill>
            <a:prstDash val="solid"/>
          </a:ln>
        </p:spPr>
      </p:sp>
      <p:sp>
        <p:nvSpPr>
          <p:cNvPr id="51" name="Text 48"/>
          <p:cNvSpPr/>
          <p:nvPr/>
        </p:nvSpPr>
        <p:spPr>
          <a:xfrm>
            <a:off x="731520" y="255117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Course / Module</a:t>
            </a:r>
            <a:endParaRPr lang="en-US" sz="850" dirty="0"/>
          </a:p>
        </p:txBody>
      </p:sp>
      <p:sp>
        <p:nvSpPr>
          <p:cNvPr id="52" name="Text 49"/>
          <p:cNvSpPr/>
          <p:nvPr/>
        </p:nvSpPr>
        <p:spPr>
          <a:xfrm>
            <a:off x="731520" y="275234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Assistant AI</a:t>
            </a:r>
            <a:endParaRPr lang="en-US" sz="1100" dirty="0"/>
          </a:p>
        </p:txBody>
      </p:sp>
      <p:sp>
        <p:nvSpPr>
          <p:cNvPr id="53" name="Shape 50"/>
          <p:cNvSpPr/>
          <p:nvPr/>
        </p:nvSpPr>
        <p:spPr>
          <a:xfrm>
            <a:off x="3383280" y="2514600"/>
            <a:ext cx="2560320" cy="502920"/>
          </a:xfrm>
          <a:prstGeom prst="rect">
            <a:avLst/>
          </a:prstGeom>
          <a:solidFill>
            <a:srgbClr val="2A2A2A"/>
          </a:solidFill>
          <a:ln w="6350">
            <a:solidFill>
              <a:srgbClr val="404040"/>
            </a:solidFill>
            <a:prstDash val="solid"/>
          </a:ln>
        </p:spPr>
      </p:sp>
      <p:sp>
        <p:nvSpPr>
          <p:cNvPr id="54" name="Text 51"/>
          <p:cNvSpPr/>
          <p:nvPr/>
        </p:nvSpPr>
        <p:spPr>
          <a:xfrm>
            <a:off x="3474720" y="255117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Instructor</a:t>
            </a:r>
            <a:endParaRPr lang="en-US" sz="850" dirty="0"/>
          </a:p>
        </p:txBody>
      </p:sp>
      <p:sp>
        <p:nvSpPr>
          <p:cNvPr id="55" name="Text 52"/>
          <p:cNvSpPr/>
          <p:nvPr/>
        </p:nvSpPr>
        <p:spPr>
          <a:xfrm>
            <a:off x="3474720" y="275234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Salauddin Sir</a:t>
            </a:r>
            <a:endParaRPr lang="en-US" sz="1100" dirty="0"/>
          </a:p>
        </p:txBody>
      </p:sp>
      <p:sp>
        <p:nvSpPr>
          <p:cNvPr id="56" name="Shape 53"/>
          <p:cNvSpPr/>
          <p:nvPr/>
        </p:nvSpPr>
        <p:spPr>
          <a:xfrm>
            <a:off x="6126480" y="2514600"/>
            <a:ext cx="2560320" cy="502920"/>
          </a:xfrm>
          <a:prstGeom prst="rect">
            <a:avLst/>
          </a:prstGeom>
          <a:solidFill>
            <a:srgbClr val="2A2A2A"/>
          </a:solidFill>
          <a:ln w="6350">
            <a:solidFill>
              <a:srgbClr val="404040"/>
            </a:solidFill>
            <a:prstDash val="solid"/>
          </a:ln>
        </p:spPr>
      </p:sp>
      <p:sp>
        <p:nvSpPr>
          <p:cNvPr id="57" name="Text 54"/>
          <p:cNvSpPr/>
          <p:nvPr/>
        </p:nvSpPr>
        <p:spPr>
          <a:xfrm>
            <a:off x="6217920" y="255117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Student</a:t>
            </a:r>
            <a:endParaRPr lang="en-US" sz="850" dirty="0"/>
          </a:p>
        </p:txBody>
      </p:sp>
      <p:sp>
        <p:nvSpPr>
          <p:cNvPr id="58" name="Text 55"/>
          <p:cNvSpPr/>
          <p:nvPr/>
        </p:nvSpPr>
        <p:spPr>
          <a:xfrm>
            <a:off x="6217920" y="275234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M. Dakshinya</a:t>
            </a:r>
            <a:endParaRPr lang="en-US" sz="1100" dirty="0"/>
          </a:p>
        </p:txBody>
      </p:sp>
      <p:sp>
        <p:nvSpPr>
          <p:cNvPr id="59" name="Shape 56"/>
          <p:cNvSpPr/>
          <p:nvPr/>
        </p:nvSpPr>
        <p:spPr>
          <a:xfrm>
            <a:off x="640080" y="3108960"/>
            <a:ext cx="2560320" cy="502920"/>
          </a:xfrm>
          <a:prstGeom prst="rect">
            <a:avLst/>
          </a:prstGeom>
          <a:solidFill>
            <a:srgbClr val="2A2A2A"/>
          </a:solidFill>
          <a:ln w="6350">
            <a:solidFill>
              <a:srgbClr val="404040"/>
            </a:solidFill>
            <a:prstDash val="solid"/>
          </a:ln>
        </p:spPr>
      </p:sp>
      <p:sp>
        <p:nvSpPr>
          <p:cNvPr id="60" name="Text 57"/>
          <p:cNvSpPr/>
          <p:nvPr/>
        </p:nvSpPr>
        <p:spPr>
          <a:xfrm>
            <a:off x="731520" y="314553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Hall Ticket No.</a:t>
            </a:r>
            <a:endParaRPr lang="en-US" sz="850" dirty="0"/>
          </a:p>
        </p:txBody>
      </p:sp>
      <p:sp>
        <p:nvSpPr>
          <p:cNvPr id="61" name="Text 58"/>
          <p:cNvSpPr/>
          <p:nvPr/>
        </p:nvSpPr>
        <p:spPr>
          <a:xfrm>
            <a:off x="731520" y="334670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2303A51553</a:t>
            </a:r>
            <a:endParaRPr lang="en-US" sz="1100" dirty="0"/>
          </a:p>
        </p:txBody>
      </p:sp>
      <p:sp>
        <p:nvSpPr>
          <p:cNvPr id="62" name="Shape 59"/>
          <p:cNvSpPr/>
          <p:nvPr/>
        </p:nvSpPr>
        <p:spPr>
          <a:xfrm>
            <a:off x="3383280" y="3108960"/>
            <a:ext cx="2560320" cy="502920"/>
          </a:xfrm>
          <a:prstGeom prst="rect">
            <a:avLst/>
          </a:prstGeom>
          <a:solidFill>
            <a:srgbClr val="2A2A2A"/>
          </a:solidFill>
          <a:ln w="6350">
            <a:solidFill>
              <a:srgbClr val="404040"/>
            </a:solidFill>
            <a:prstDash val="solid"/>
          </a:ln>
        </p:spPr>
      </p:sp>
      <p:sp>
        <p:nvSpPr>
          <p:cNvPr id="63" name="Text 60"/>
          <p:cNvSpPr/>
          <p:nvPr/>
        </p:nvSpPr>
        <p:spPr>
          <a:xfrm>
            <a:off x="3474720" y="314553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Submission Date</a:t>
            </a:r>
            <a:endParaRPr lang="en-US" sz="850" dirty="0"/>
          </a:p>
        </p:txBody>
      </p:sp>
      <p:sp>
        <p:nvSpPr>
          <p:cNvPr id="64" name="Text 61"/>
          <p:cNvSpPr/>
          <p:nvPr/>
        </p:nvSpPr>
        <p:spPr>
          <a:xfrm>
            <a:off x="3474720" y="334670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02 / 04 / 2026</a:t>
            </a:r>
            <a:endParaRPr lang="en-US" sz="1100" dirty="0"/>
          </a:p>
        </p:txBody>
      </p:sp>
      <p:sp>
        <p:nvSpPr>
          <p:cNvPr id="65" name="Shape 62"/>
          <p:cNvSpPr/>
          <p:nvPr/>
        </p:nvSpPr>
        <p:spPr>
          <a:xfrm>
            <a:off x="6126480" y="3108960"/>
            <a:ext cx="2560320" cy="502920"/>
          </a:xfrm>
          <a:prstGeom prst="rect">
            <a:avLst/>
          </a:prstGeom>
          <a:solidFill>
            <a:srgbClr val="2A2A2A"/>
          </a:solidFill>
          <a:ln w="6350">
            <a:solidFill>
              <a:srgbClr val="404040"/>
            </a:solidFill>
            <a:prstDash val="solid"/>
          </a:ln>
        </p:spPr>
      </p:sp>
      <p:sp>
        <p:nvSpPr>
          <p:cNvPr id="66" name="Text 63"/>
          <p:cNvSpPr/>
          <p:nvPr/>
        </p:nvSpPr>
        <p:spPr>
          <a:xfrm>
            <a:off x="6217920" y="3145536"/>
            <a:ext cx="2377440" cy="201168"/>
          </a:xfrm>
          <a:prstGeom prst="rect">
            <a:avLst/>
          </a:prstGeom>
          <a:noFill/>
          <a:ln/>
        </p:spPr>
        <p:txBody>
          <a:bodyPr wrap="square" lIns="0" tIns="0" rIns="0" bIns="0" rtlCol="0" anchor="ctr"/>
          <a:lstStyle/>
          <a:p>
            <a:pPr indent="0" marL="0">
              <a:buNone/>
            </a:pPr>
            <a:r>
              <a:rPr lang="en-US" sz="850" dirty="0">
                <a:solidFill>
                  <a:srgbClr val="888888"/>
                </a:solidFill>
                <a:latin typeface="Calibri" pitchFamily="34" charset="0"/>
                <a:ea typeface="Calibri" pitchFamily="34" charset="-122"/>
                <a:cs typeface="Calibri" pitchFamily="34" charset="-120"/>
              </a:rPr>
              <a:t>🤖 AI Tool Used</a:t>
            </a:r>
            <a:endParaRPr lang="en-US" sz="850" dirty="0"/>
          </a:p>
        </p:txBody>
      </p:sp>
      <p:sp>
        <p:nvSpPr>
          <p:cNvPr id="67" name="Text 64"/>
          <p:cNvSpPr/>
          <p:nvPr/>
        </p:nvSpPr>
        <p:spPr>
          <a:xfrm>
            <a:off x="6217920" y="3346704"/>
            <a:ext cx="2377440" cy="201168"/>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Claude AI (Anthropic)</a:t>
            </a:r>
            <a:endParaRPr lang="en-US" sz="1100" dirty="0"/>
          </a:p>
        </p:txBody>
      </p:sp>
      <p:sp>
        <p:nvSpPr>
          <p:cNvPr id="68" name="Text 65"/>
          <p:cNvSpPr/>
          <p:nvPr/>
        </p:nvSpPr>
        <p:spPr>
          <a:xfrm>
            <a:off x="0" y="4526280"/>
            <a:ext cx="9144000" cy="13716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Submitted for Academic Evaluation — AI-Assisted Software Development Project</a:t>
            </a:r>
            <a:endParaRPr lang="en-US" sz="800" dirty="0"/>
          </a:p>
        </p:txBody>
      </p:sp>
      <p:sp>
        <p:nvSpPr>
          <p:cNvPr id="69" name="Shape 66"/>
          <p:cNvSpPr/>
          <p:nvPr/>
        </p:nvSpPr>
        <p:spPr>
          <a:xfrm>
            <a:off x="8686800" y="91440"/>
            <a:ext cx="320040" cy="320040"/>
          </a:xfrm>
          <a:prstGeom prst="ellipse">
            <a:avLst/>
          </a:prstGeom>
          <a:solidFill>
            <a:srgbClr val="D4AF37"/>
          </a:solidFill>
          <a:ln w="12700">
            <a:solidFill>
              <a:srgbClr val="D4AF37"/>
            </a:solidFill>
            <a:prstDash val="solid"/>
          </a:ln>
        </p:spPr>
      </p:sp>
      <p:sp>
        <p:nvSpPr>
          <p:cNvPr id="70" name="Text 67"/>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Introduction to CineBook</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A modern, AI-assisted movie ticket booking web application</a:t>
            </a:r>
            <a:endParaRPr lang="en-US" sz="1100" dirty="0"/>
          </a:p>
        </p:txBody>
      </p:sp>
      <p:sp>
        <p:nvSpPr>
          <p:cNvPr id="5" name="Shape 3"/>
          <p:cNvSpPr/>
          <p:nvPr/>
        </p:nvSpPr>
        <p:spPr>
          <a:xfrm>
            <a:off x="365760" y="1051560"/>
            <a:ext cx="3931920" cy="320040"/>
          </a:xfrm>
          <a:prstGeom prst="rect">
            <a:avLst/>
          </a:prstGeom>
          <a:solidFill>
            <a:srgbClr val="660000"/>
          </a:solidFill>
          <a:ln w="12700">
            <a:solidFill>
              <a:srgbClr val="660000"/>
            </a:solidFill>
            <a:prstDash val="solid"/>
          </a:ln>
        </p:spPr>
      </p:sp>
      <p:sp>
        <p:nvSpPr>
          <p:cNvPr id="6" name="Text 4"/>
          <p:cNvSpPr/>
          <p:nvPr/>
        </p:nvSpPr>
        <p:spPr>
          <a:xfrm>
            <a:off x="365760" y="1051560"/>
            <a:ext cx="3931920" cy="320040"/>
          </a:xfrm>
          <a:prstGeom prst="rect">
            <a:avLst/>
          </a:prstGeom>
          <a:noFill/>
          <a:ln/>
        </p:spPr>
        <p:txBody>
          <a:bodyPr wrap="square" rtlCol="0" anchor="ctr"/>
          <a:lstStyle/>
          <a:p>
            <a:pPr algn="ctr" indent="0" marL="0">
              <a:buNone/>
            </a:pPr>
            <a:r>
              <a:rPr lang="en-US" sz="1200" b="1" dirty="0">
                <a:solidFill>
                  <a:srgbClr val="F5F5F5"/>
                </a:solidFill>
                <a:latin typeface="Arial Black" pitchFamily="34" charset="0"/>
                <a:ea typeface="Arial Black" pitchFamily="34" charset="-122"/>
                <a:cs typeface="Arial Black" pitchFamily="34" charset="-120"/>
              </a:rPr>
              <a:t>🔴  THE PROBLEM</a:t>
            </a:r>
            <a:endParaRPr lang="en-US" sz="1200" dirty="0"/>
          </a:p>
        </p:txBody>
      </p:sp>
      <p:sp>
        <p:nvSpPr>
          <p:cNvPr id="7" name="Shape 5"/>
          <p:cNvSpPr/>
          <p:nvPr/>
        </p:nvSpPr>
        <p:spPr>
          <a:xfrm>
            <a:off x="365760" y="1389888"/>
            <a:ext cx="3931920" cy="384048"/>
          </a:xfrm>
          <a:prstGeom prst="rect">
            <a:avLst/>
          </a:prstGeom>
          <a:solidFill>
            <a:srgbClr val="2A2A2A"/>
          </a:solidFill>
          <a:ln w="6350">
            <a:solidFill>
              <a:srgbClr val="404040"/>
            </a:solidFill>
            <a:prstDash val="solid"/>
          </a:ln>
        </p:spPr>
      </p:sp>
      <p:sp>
        <p:nvSpPr>
          <p:cNvPr id="8" name="Text 6"/>
          <p:cNvSpPr/>
          <p:nvPr/>
        </p:nvSpPr>
        <p:spPr>
          <a:xfrm>
            <a:off x="457200" y="1408176"/>
            <a:ext cx="3749040" cy="347472"/>
          </a:xfrm>
          <a:prstGeom prst="rect">
            <a:avLst/>
          </a:prstGeom>
          <a:noFill/>
          <a:ln/>
        </p:spPr>
        <p:txBody>
          <a:bodyPr wrap="square" rtlCol="0" anchor="ctr"/>
          <a:lstStyle/>
          <a:p>
            <a:pPr indent="0" marL="0">
              <a:buNone/>
            </a:pPr>
            <a:r>
              <a:rPr lang="en-US" sz="1000" dirty="0">
                <a:solidFill>
                  <a:srgbClr val="FF6666"/>
                </a:solidFill>
                <a:latin typeface="Calibri" pitchFamily="34" charset="0"/>
                <a:ea typeface="Calibri" pitchFamily="34" charset="-122"/>
                <a:cs typeface="Calibri" pitchFamily="34" charset="-120"/>
              </a:rPr>
              <a:t>✗  Long queues at cinema box offices waste time</a:t>
            </a:r>
            <a:endParaRPr lang="en-US" sz="1000" dirty="0"/>
          </a:p>
        </p:txBody>
      </p:sp>
      <p:sp>
        <p:nvSpPr>
          <p:cNvPr id="9" name="Shape 7"/>
          <p:cNvSpPr/>
          <p:nvPr/>
        </p:nvSpPr>
        <p:spPr>
          <a:xfrm>
            <a:off x="365760" y="1828800"/>
            <a:ext cx="3931920" cy="384048"/>
          </a:xfrm>
          <a:prstGeom prst="rect">
            <a:avLst/>
          </a:prstGeom>
          <a:solidFill>
            <a:srgbClr val="2A2A2A"/>
          </a:solidFill>
          <a:ln w="6350">
            <a:solidFill>
              <a:srgbClr val="404040"/>
            </a:solidFill>
            <a:prstDash val="solid"/>
          </a:ln>
        </p:spPr>
      </p:sp>
      <p:sp>
        <p:nvSpPr>
          <p:cNvPr id="10" name="Text 8"/>
          <p:cNvSpPr/>
          <p:nvPr/>
        </p:nvSpPr>
        <p:spPr>
          <a:xfrm>
            <a:off x="457200" y="1847088"/>
            <a:ext cx="3749040" cy="347472"/>
          </a:xfrm>
          <a:prstGeom prst="rect">
            <a:avLst/>
          </a:prstGeom>
          <a:noFill/>
          <a:ln/>
        </p:spPr>
        <p:txBody>
          <a:bodyPr wrap="square" rtlCol="0" anchor="ctr"/>
          <a:lstStyle/>
          <a:p>
            <a:pPr indent="0" marL="0">
              <a:buNone/>
            </a:pPr>
            <a:r>
              <a:rPr lang="en-US" sz="1000" dirty="0">
                <a:solidFill>
                  <a:srgbClr val="FF6666"/>
                </a:solidFill>
                <a:latin typeface="Calibri" pitchFamily="34" charset="0"/>
                <a:ea typeface="Calibri" pitchFamily="34" charset="-122"/>
                <a:cs typeface="Calibri" pitchFamily="34" charset="-120"/>
              </a:rPr>
              <a:t>✗  Fragmented booking experiences across platforms</a:t>
            </a:r>
            <a:endParaRPr lang="en-US" sz="1000" dirty="0"/>
          </a:p>
        </p:txBody>
      </p:sp>
      <p:sp>
        <p:nvSpPr>
          <p:cNvPr id="11" name="Shape 9"/>
          <p:cNvSpPr/>
          <p:nvPr/>
        </p:nvSpPr>
        <p:spPr>
          <a:xfrm>
            <a:off x="365760" y="2267712"/>
            <a:ext cx="3931920" cy="384048"/>
          </a:xfrm>
          <a:prstGeom prst="rect">
            <a:avLst/>
          </a:prstGeom>
          <a:solidFill>
            <a:srgbClr val="2A2A2A"/>
          </a:solidFill>
          <a:ln w="6350">
            <a:solidFill>
              <a:srgbClr val="404040"/>
            </a:solidFill>
            <a:prstDash val="solid"/>
          </a:ln>
        </p:spPr>
      </p:sp>
      <p:sp>
        <p:nvSpPr>
          <p:cNvPr id="12" name="Text 10"/>
          <p:cNvSpPr/>
          <p:nvPr/>
        </p:nvSpPr>
        <p:spPr>
          <a:xfrm>
            <a:off x="457200" y="2286000"/>
            <a:ext cx="3749040" cy="347472"/>
          </a:xfrm>
          <a:prstGeom prst="rect">
            <a:avLst/>
          </a:prstGeom>
          <a:noFill/>
          <a:ln/>
        </p:spPr>
        <p:txBody>
          <a:bodyPr wrap="square" rtlCol="0" anchor="ctr"/>
          <a:lstStyle/>
          <a:p>
            <a:pPr indent="0" marL="0">
              <a:buNone/>
            </a:pPr>
            <a:r>
              <a:rPr lang="en-US" sz="1000" dirty="0">
                <a:solidFill>
                  <a:srgbClr val="FF6666"/>
                </a:solidFill>
                <a:latin typeface="Calibri" pitchFamily="34" charset="0"/>
                <a:ea typeface="Calibri" pitchFamily="34" charset="-122"/>
                <a:cs typeface="Calibri" pitchFamily="34" charset="-120"/>
              </a:rPr>
              <a:t>✗  No real-time seat availability visibility</a:t>
            </a:r>
            <a:endParaRPr lang="en-US" sz="1000" dirty="0"/>
          </a:p>
        </p:txBody>
      </p:sp>
      <p:sp>
        <p:nvSpPr>
          <p:cNvPr id="13" name="Shape 11"/>
          <p:cNvSpPr/>
          <p:nvPr/>
        </p:nvSpPr>
        <p:spPr>
          <a:xfrm>
            <a:off x="365760" y="2706624"/>
            <a:ext cx="3931920" cy="384048"/>
          </a:xfrm>
          <a:prstGeom prst="rect">
            <a:avLst/>
          </a:prstGeom>
          <a:solidFill>
            <a:srgbClr val="2A2A2A"/>
          </a:solidFill>
          <a:ln w="6350">
            <a:solidFill>
              <a:srgbClr val="404040"/>
            </a:solidFill>
            <a:prstDash val="solid"/>
          </a:ln>
        </p:spPr>
      </p:sp>
      <p:sp>
        <p:nvSpPr>
          <p:cNvPr id="14" name="Text 12"/>
          <p:cNvSpPr/>
          <p:nvPr/>
        </p:nvSpPr>
        <p:spPr>
          <a:xfrm>
            <a:off x="457200" y="2724912"/>
            <a:ext cx="3749040" cy="347472"/>
          </a:xfrm>
          <a:prstGeom prst="rect">
            <a:avLst/>
          </a:prstGeom>
          <a:noFill/>
          <a:ln/>
        </p:spPr>
        <p:txBody>
          <a:bodyPr wrap="square" rtlCol="0" anchor="ctr"/>
          <a:lstStyle/>
          <a:p>
            <a:pPr indent="0" marL="0">
              <a:buNone/>
            </a:pPr>
            <a:r>
              <a:rPr lang="en-US" sz="1000" dirty="0">
                <a:solidFill>
                  <a:srgbClr val="FF6666"/>
                </a:solidFill>
                <a:latin typeface="Calibri" pitchFamily="34" charset="0"/>
                <a:ea typeface="Calibri" pitchFamily="34" charset="-122"/>
                <a:cs typeface="Calibri" pitchFamily="34" charset="-120"/>
              </a:rPr>
              <a:t>✗  Manual booking prone to errors and duplication</a:t>
            </a:r>
            <a:endParaRPr lang="en-US" sz="1000" dirty="0"/>
          </a:p>
        </p:txBody>
      </p:sp>
      <p:sp>
        <p:nvSpPr>
          <p:cNvPr id="15" name="Shape 13"/>
          <p:cNvSpPr/>
          <p:nvPr/>
        </p:nvSpPr>
        <p:spPr>
          <a:xfrm>
            <a:off x="4846320" y="1051560"/>
            <a:ext cx="3931920" cy="320040"/>
          </a:xfrm>
          <a:prstGeom prst="rect">
            <a:avLst/>
          </a:prstGeom>
          <a:solidFill>
            <a:srgbClr val="005500"/>
          </a:solidFill>
          <a:ln w="12700">
            <a:solidFill>
              <a:srgbClr val="005500"/>
            </a:solidFill>
            <a:prstDash val="solid"/>
          </a:ln>
        </p:spPr>
      </p:sp>
      <p:sp>
        <p:nvSpPr>
          <p:cNvPr id="16" name="Text 14"/>
          <p:cNvSpPr/>
          <p:nvPr/>
        </p:nvSpPr>
        <p:spPr>
          <a:xfrm>
            <a:off x="4846320" y="1051560"/>
            <a:ext cx="3931920" cy="320040"/>
          </a:xfrm>
          <a:prstGeom prst="rect">
            <a:avLst/>
          </a:prstGeom>
          <a:noFill/>
          <a:ln/>
        </p:spPr>
        <p:txBody>
          <a:bodyPr wrap="square" rtlCol="0" anchor="ctr"/>
          <a:lstStyle/>
          <a:p>
            <a:pPr algn="ctr" indent="0" marL="0">
              <a:buNone/>
            </a:pPr>
            <a:r>
              <a:rPr lang="en-US" sz="1200" b="1" dirty="0">
                <a:solidFill>
                  <a:srgbClr val="F5F5F5"/>
                </a:solidFill>
                <a:latin typeface="Arial Black" pitchFamily="34" charset="0"/>
                <a:ea typeface="Arial Black" pitchFamily="34" charset="-122"/>
                <a:cs typeface="Arial Black" pitchFamily="34" charset="-120"/>
              </a:rPr>
              <a:t>🟢  THE SOLUTION</a:t>
            </a:r>
            <a:endParaRPr lang="en-US" sz="1200" dirty="0"/>
          </a:p>
        </p:txBody>
      </p:sp>
      <p:sp>
        <p:nvSpPr>
          <p:cNvPr id="17" name="Shape 15"/>
          <p:cNvSpPr/>
          <p:nvPr/>
        </p:nvSpPr>
        <p:spPr>
          <a:xfrm>
            <a:off x="4846320" y="1389888"/>
            <a:ext cx="3931920" cy="384048"/>
          </a:xfrm>
          <a:prstGeom prst="rect">
            <a:avLst/>
          </a:prstGeom>
          <a:solidFill>
            <a:srgbClr val="2A2A2A"/>
          </a:solidFill>
          <a:ln w="6350">
            <a:solidFill>
              <a:srgbClr val="404040"/>
            </a:solidFill>
            <a:prstDash val="solid"/>
          </a:ln>
        </p:spPr>
      </p:sp>
      <p:sp>
        <p:nvSpPr>
          <p:cNvPr id="18" name="Text 16"/>
          <p:cNvSpPr/>
          <p:nvPr/>
        </p:nvSpPr>
        <p:spPr>
          <a:xfrm>
            <a:off x="4937760" y="1408176"/>
            <a:ext cx="3749040" cy="347472"/>
          </a:xfrm>
          <a:prstGeom prst="rect">
            <a:avLst/>
          </a:prstGeom>
          <a:noFill/>
          <a:ln/>
        </p:spPr>
        <p:txBody>
          <a:bodyPr wrap="square" rtlCol="0" anchor="ctr"/>
          <a:lstStyle/>
          <a:p>
            <a:pPr indent="0" marL="0">
              <a:buNone/>
            </a:pPr>
            <a:r>
              <a:rPr lang="en-US" sz="1000" dirty="0">
                <a:solidFill>
                  <a:srgbClr val="66FF88"/>
                </a:solidFill>
                <a:latin typeface="Calibri" pitchFamily="34" charset="0"/>
                <a:ea typeface="Calibri" pitchFamily="34" charset="-122"/>
                <a:cs typeface="Calibri" pitchFamily="34" charset="-120"/>
              </a:rPr>
              <a:t>✓  Streamlined digital movie discovery interface</a:t>
            </a:r>
            <a:endParaRPr lang="en-US" sz="1000" dirty="0"/>
          </a:p>
        </p:txBody>
      </p:sp>
      <p:sp>
        <p:nvSpPr>
          <p:cNvPr id="19" name="Shape 17"/>
          <p:cNvSpPr/>
          <p:nvPr/>
        </p:nvSpPr>
        <p:spPr>
          <a:xfrm>
            <a:off x="4846320" y="1828800"/>
            <a:ext cx="3931920" cy="384048"/>
          </a:xfrm>
          <a:prstGeom prst="rect">
            <a:avLst/>
          </a:prstGeom>
          <a:solidFill>
            <a:srgbClr val="2A2A2A"/>
          </a:solidFill>
          <a:ln w="6350">
            <a:solidFill>
              <a:srgbClr val="404040"/>
            </a:solidFill>
            <a:prstDash val="solid"/>
          </a:ln>
        </p:spPr>
      </p:sp>
      <p:sp>
        <p:nvSpPr>
          <p:cNvPr id="20" name="Text 18"/>
          <p:cNvSpPr/>
          <p:nvPr/>
        </p:nvSpPr>
        <p:spPr>
          <a:xfrm>
            <a:off x="4937760" y="1847088"/>
            <a:ext cx="3749040" cy="347472"/>
          </a:xfrm>
          <a:prstGeom prst="rect">
            <a:avLst/>
          </a:prstGeom>
          <a:noFill/>
          <a:ln/>
        </p:spPr>
        <p:txBody>
          <a:bodyPr wrap="square" rtlCol="0" anchor="ctr"/>
          <a:lstStyle/>
          <a:p>
            <a:pPr indent="0" marL="0">
              <a:buNone/>
            </a:pPr>
            <a:r>
              <a:rPr lang="en-US" sz="1000" dirty="0">
                <a:solidFill>
                  <a:srgbClr val="66FF88"/>
                </a:solidFill>
                <a:latin typeface="Calibri" pitchFamily="34" charset="0"/>
                <a:ea typeface="Calibri" pitchFamily="34" charset="-122"/>
                <a:cs typeface="Calibri" pitchFamily="34" charset="-120"/>
              </a:rPr>
              <a:t>✓  Interactive theatre-style seat selection grid</a:t>
            </a:r>
            <a:endParaRPr lang="en-US" sz="1000" dirty="0"/>
          </a:p>
        </p:txBody>
      </p:sp>
      <p:sp>
        <p:nvSpPr>
          <p:cNvPr id="21" name="Shape 19"/>
          <p:cNvSpPr/>
          <p:nvPr/>
        </p:nvSpPr>
        <p:spPr>
          <a:xfrm>
            <a:off x="4846320" y="2267712"/>
            <a:ext cx="3931920" cy="384048"/>
          </a:xfrm>
          <a:prstGeom prst="rect">
            <a:avLst/>
          </a:prstGeom>
          <a:solidFill>
            <a:srgbClr val="2A2A2A"/>
          </a:solidFill>
          <a:ln w="6350">
            <a:solidFill>
              <a:srgbClr val="404040"/>
            </a:solidFill>
            <a:prstDash val="solid"/>
          </a:ln>
        </p:spPr>
      </p:sp>
      <p:sp>
        <p:nvSpPr>
          <p:cNvPr id="22" name="Text 20"/>
          <p:cNvSpPr/>
          <p:nvPr/>
        </p:nvSpPr>
        <p:spPr>
          <a:xfrm>
            <a:off x="4937760" y="2286000"/>
            <a:ext cx="3749040" cy="347472"/>
          </a:xfrm>
          <a:prstGeom prst="rect">
            <a:avLst/>
          </a:prstGeom>
          <a:noFill/>
          <a:ln/>
        </p:spPr>
        <p:txBody>
          <a:bodyPr wrap="square" rtlCol="0" anchor="ctr"/>
          <a:lstStyle/>
          <a:p>
            <a:pPr indent="0" marL="0">
              <a:buNone/>
            </a:pPr>
            <a:r>
              <a:rPr lang="en-US" sz="1000" dirty="0">
                <a:solidFill>
                  <a:srgbClr val="66FF88"/>
                </a:solidFill>
                <a:latin typeface="Calibri" pitchFamily="34" charset="0"/>
                <a:ea typeface="Calibri" pitchFamily="34" charset="-122"/>
                <a:cs typeface="Calibri" pitchFamily="34" charset="-120"/>
              </a:rPr>
              <a:t>✓  Real-time booking with instant QR ticket</a:t>
            </a:r>
            <a:endParaRPr lang="en-US" sz="1000" dirty="0"/>
          </a:p>
        </p:txBody>
      </p:sp>
      <p:sp>
        <p:nvSpPr>
          <p:cNvPr id="23" name="Shape 21"/>
          <p:cNvSpPr/>
          <p:nvPr/>
        </p:nvSpPr>
        <p:spPr>
          <a:xfrm>
            <a:off x="4846320" y="2706624"/>
            <a:ext cx="3931920" cy="384048"/>
          </a:xfrm>
          <a:prstGeom prst="rect">
            <a:avLst/>
          </a:prstGeom>
          <a:solidFill>
            <a:srgbClr val="2A2A2A"/>
          </a:solidFill>
          <a:ln w="6350">
            <a:solidFill>
              <a:srgbClr val="404040"/>
            </a:solidFill>
            <a:prstDash val="solid"/>
          </a:ln>
        </p:spPr>
      </p:sp>
      <p:sp>
        <p:nvSpPr>
          <p:cNvPr id="24" name="Text 22"/>
          <p:cNvSpPr/>
          <p:nvPr/>
        </p:nvSpPr>
        <p:spPr>
          <a:xfrm>
            <a:off x="4937760" y="2724912"/>
            <a:ext cx="3749040" cy="347472"/>
          </a:xfrm>
          <a:prstGeom prst="rect">
            <a:avLst/>
          </a:prstGeom>
          <a:noFill/>
          <a:ln/>
        </p:spPr>
        <p:txBody>
          <a:bodyPr wrap="square" rtlCol="0" anchor="ctr"/>
          <a:lstStyle/>
          <a:p>
            <a:pPr indent="0" marL="0">
              <a:buNone/>
            </a:pPr>
            <a:r>
              <a:rPr lang="en-US" sz="1000" dirty="0">
                <a:solidFill>
                  <a:srgbClr val="66FF88"/>
                </a:solidFill>
                <a:latin typeface="Calibri" pitchFamily="34" charset="0"/>
                <a:ea typeface="Calibri" pitchFamily="34" charset="-122"/>
                <a:cs typeface="Calibri" pitchFamily="34" charset="-120"/>
              </a:rPr>
              <a:t>✓  Admin dashboard for booking management</a:t>
            </a:r>
            <a:endParaRPr lang="en-US" sz="1000" dirty="0"/>
          </a:p>
        </p:txBody>
      </p:sp>
      <p:sp>
        <p:nvSpPr>
          <p:cNvPr id="25" name="Shape 23"/>
          <p:cNvSpPr/>
          <p:nvPr/>
        </p:nvSpPr>
        <p:spPr>
          <a:xfrm>
            <a:off x="4315968" y="1417320"/>
            <a:ext cx="512064" cy="1188720"/>
          </a:xfrm>
          <a:prstGeom prst="rect">
            <a:avLst/>
          </a:prstGeom>
          <a:solidFill>
            <a:srgbClr val="2A2A2A"/>
          </a:solidFill>
          <a:ln w="12700">
            <a:solidFill>
              <a:srgbClr val="2A2A2A"/>
            </a:solidFill>
            <a:prstDash val="solid"/>
          </a:ln>
        </p:spPr>
      </p:sp>
      <p:sp>
        <p:nvSpPr>
          <p:cNvPr id="26" name="Text 24"/>
          <p:cNvSpPr/>
          <p:nvPr/>
        </p:nvSpPr>
        <p:spPr>
          <a:xfrm>
            <a:off x="4315968" y="1417320"/>
            <a:ext cx="512064" cy="1188720"/>
          </a:xfrm>
          <a:prstGeom prst="rect">
            <a:avLst/>
          </a:prstGeom>
          <a:noFill/>
          <a:ln/>
        </p:spPr>
        <p:txBody>
          <a:bodyPr wrap="square" rtlCol="0" anchor="ctr"/>
          <a:lstStyle/>
          <a:p>
            <a:pPr algn="ctr" indent="0" marL="0">
              <a:buNone/>
            </a:pPr>
            <a:r>
              <a:rPr lang="en-US" sz="2800" dirty="0">
                <a:solidFill>
                  <a:srgbClr val="D4AF37"/>
                </a:solidFill>
              </a:rPr>
              <a:t>→</a:t>
            </a:r>
            <a:endParaRPr lang="en-US" sz="2800" dirty="0"/>
          </a:p>
        </p:txBody>
      </p:sp>
      <p:sp>
        <p:nvSpPr>
          <p:cNvPr id="27" name="Shape 25"/>
          <p:cNvSpPr/>
          <p:nvPr/>
        </p:nvSpPr>
        <p:spPr>
          <a:xfrm>
            <a:off x="365760" y="3337560"/>
            <a:ext cx="8412480" cy="256032"/>
          </a:xfrm>
          <a:prstGeom prst="rect">
            <a:avLst/>
          </a:prstGeom>
          <a:solidFill>
            <a:srgbClr val="2A2A2A"/>
          </a:solidFill>
          <a:ln w="12700">
            <a:solidFill>
              <a:srgbClr val="2A2A2A"/>
            </a:solidFill>
            <a:prstDash val="solid"/>
          </a:ln>
        </p:spPr>
      </p:sp>
      <p:sp>
        <p:nvSpPr>
          <p:cNvPr id="28" name="Shape 26"/>
          <p:cNvSpPr/>
          <p:nvPr/>
        </p:nvSpPr>
        <p:spPr>
          <a:xfrm>
            <a:off x="365760" y="3337560"/>
            <a:ext cx="8412480" cy="36576"/>
          </a:xfrm>
          <a:prstGeom prst="rect">
            <a:avLst/>
          </a:prstGeom>
          <a:solidFill>
            <a:srgbClr val="D4AF37"/>
          </a:solidFill>
          <a:ln w="12700">
            <a:solidFill>
              <a:srgbClr val="D4AF37"/>
            </a:solidFill>
            <a:prstDash val="solid"/>
          </a:ln>
        </p:spPr>
      </p:sp>
      <p:sp>
        <p:nvSpPr>
          <p:cNvPr id="29" name="Text 27"/>
          <p:cNvSpPr/>
          <p:nvPr/>
        </p:nvSpPr>
        <p:spPr>
          <a:xfrm>
            <a:off x="457200" y="3364992"/>
            <a:ext cx="1828800" cy="201168"/>
          </a:xfrm>
          <a:prstGeom prst="rect">
            <a:avLst/>
          </a:prstGeom>
          <a:noFill/>
          <a:ln/>
        </p:spPr>
        <p:txBody>
          <a:bodyPr wrap="square" rtlCol="0" anchor="ctr"/>
          <a:lstStyle/>
          <a:p>
            <a:pPr indent="0" marL="0">
              <a:buNone/>
            </a:pPr>
            <a:r>
              <a:rPr lang="en-US" sz="1000" b="1" dirty="0">
                <a:solidFill>
                  <a:srgbClr val="D4AF37"/>
                </a:solidFill>
                <a:latin typeface="Calibri" pitchFamily="34" charset="0"/>
                <a:ea typeface="Calibri" pitchFamily="34" charset="-122"/>
                <a:cs typeface="Calibri" pitchFamily="34" charset="-120"/>
              </a:rPr>
              <a:t>💡  THE APPROACH</a:t>
            </a:r>
            <a:endParaRPr lang="en-US" sz="1000" dirty="0"/>
          </a:p>
        </p:txBody>
      </p:sp>
      <p:sp>
        <p:nvSpPr>
          <p:cNvPr id="30" name="Shape 28"/>
          <p:cNvSpPr/>
          <p:nvPr/>
        </p:nvSpPr>
        <p:spPr>
          <a:xfrm>
            <a:off x="365760" y="3657600"/>
            <a:ext cx="2651760" cy="914400"/>
          </a:xfrm>
          <a:prstGeom prst="rect">
            <a:avLst/>
          </a:prstGeom>
          <a:solidFill>
            <a:srgbClr val="2A2A2A"/>
          </a:solidFill>
          <a:ln w="6350">
            <a:solidFill>
              <a:srgbClr val="404040"/>
            </a:solidFill>
            <a:prstDash val="solid"/>
          </a:ln>
        </p:spPr>
      </p:sp>
      <p:sp>
        <p:nvSpPr>
          <p:cNvPr id="31" name="Shape 29"/>
          <p:cNvSpPr/>
          <p:nvPr/>
        </p:nvSpPr>
        <p:spPr>
          <a:xfrm>
            <a:off x="365760" y="3657600"/>
            <a:ext cx="54864" cy="914400"/>
          </a:xfrm>
          <a:prstGeom prst="rect">
            <a:avLst/>
          </a:prstGeom>
          <a:solidFill>
            <a:srgbClr val="D4AF37"/>
          </a:solidFill>
          <a:ln w="12700">
            <a:solidFill>
              <a:srgbClr val="D4AF37"/>
            </a:solidFill>
            <a:prstDash val="solid"/>
          </a:ln>
        </p:spPr>
      </p:sp>
      <p:sp>
        <p:nvSpPr>
          <p:cNvPr id="32" name="Text 30"/>
          <p:cNvSpPr/>
          <p:nvPr/>
        </p:nvSpPr>
        <p:spPr>
          <a:xfrm>
            <a:off x="512064" y="3712464"/>
            <a:ext cx="2377440" cy="22860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 AI-Assisted Dev</a:t>
            </a:r>
            <a:endParaRPr lang="en-US" sz="1100" dirty="0"/>
          </a:p>
        </p:txBody>
      </p:sp>
      <p:sp>
        <p:nvSpPr>
          <p:cNvPr id="33" name="Text 31"/>
          <p:cNvSpPr/>
          <p:nvPr/>
        </p:nvSpPr>
        <p:spPr>
          <a:xfrm>
            <a:off x="512064" y="3977640"/>
            <a:ext cx="2377440" cy="50292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Claude AI (Anthropic) used to generate, debug &amp; refine all code</a:t>
            </a:r>
            <a:endParaRPr lang="en-US" sz="950" dirty="0"/>
          </a:p>
        </p:txBody>
      </p:sp>
      <p:sp>
        <p:nvSpPr>
          <p:cNvPr id="34" name="Shape 32"/>
          <p:cNvSpPr/>
          <p:nvPr/>
        </p:nvSpPr>
        <p:spPr>
          <a:xfrm>
            <a:off x="3200400" y="3657600"/>
            <a:ext cx="2651760" cy="914400"/>
          </a:xfrm>
          <a:prstGeom prst="rect">
            <a:avLst/>
          </a:prstGeom>
          <a:solidFill>
            <a:srgbClr val="2A2A2A"/>
          </a:solidFill>
          <a:ln w="6350">
            <a:solidFill>
              <a:srgbClr val="404040"/>
            </a:solidFill>
            <a:prstDash val="solid"/>
          </a:ln>
        </p:spPr>
      </p:sp>
      <p:sp>
        <p:nvSpPr>
          <p:cNvPr id="35" name="Shape 33"/>
          <p:cNvSpPr/>
          <p:nvPr/>
        </p:nvSpPr>
        <p:spPr>
          <a:xfrm>
            <a:off x="3200400" y="3657600"/>
            <a:ext cx="54864" cy="914400"/>
          </a:xfrm>
          <a:prstGeom prst="rect">
            <a:avLst/>
          </a:prstGeom>
          <a:solidFill>
            <a:srgbClr val="D4AF37"/>
          </a:solidFill>
          <a:ln w="12700">
            <a:solidFill>
              <a:srgbClr val="D4AF37"/>
            </a:solidFill>
            <a:prstDash val="solid"/>
          </a:ln>
        </p:spPr>
      </p:sp>
      <p:sp>
        <p:nvSpPr>
          <p:cNvPr id="36" name="Text 34"/>
          <p:cNvSpPr/>
          <p:nvPr/>
        </p:nvSpPr>
        <p:spPr>
          <a:xfrm>
            <a:off x="3346704" y="3712464"/>
            <a:ext cx="2377440" cy="22860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 Full-Stack</a:t>
            </a:r>
            <a:endParaRPr lang="en-US" sz="1100" dirty="0"/>
          </a:p>
        </p:txBody>
      </p:sp>
      <p:sp>
        <p:nvSpPr>
          <p:cNvPr id="37" name="Text 35"/>
          <p:cNvSpPr/>
          <p:nvPr/>
        </p:nvSpPr>
        <p:spPr>
          <a:xfrm>
            <a:off x="3346704" y="3977640"/>
            <a:ext cx="2377440" cy="50292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Node.js + Express · HTML/CSS/JS · JSON file storage</a:t>
            </a:r>
            <a:endParaRPr lang="en-US" sz="950" dirty="0"/>
          </a:p>
        </p:txBody>
      </p:sp>
      <p:sp>
        <p:nvSpPr>
          <p:cNvPr id="38" name="Shape 36"/>
          <p:cNvSpPr/>
          <p:nvPr/>
        </p:nvSpPr>
        <p:spPr>
          <a:xfrm>
            <a:off x="6035040" y="3657600"/>
            <a:ext cx="2651760" cy="914400"/>
          </a:xfrm>
          <a:prstGeom prst="rect">
            <a:avLst/>
          </a:prstGeom>
          <a:solidFill>
            <a:srgbClr val="2A2A2A"/>
          </a:solidFill>
          <a:ln w="6350">
            <a:solidFill>
              <a:srgbClr val="404040"/>
            </a:solidFill>
            <a:prstDash val="solid"/>
          </a:ln>
        </p:spPr>
      </p:sp>
      <p:sp>
        <p:nvSpPr>
          <p:cNvPr id="39" name="Shape 37"/>
          <p:cNvSpPr/>
          <p:nvPr/>
        </p:nvSpPr>
        <p:spPr>
          <a:xfrm>
            <a:off x="6035040" y="3657600"/>
            <a:ext cx="54864" cy="914400"/>
          </a:xfrm>
          <a:prstGeom prst="rect">
            <a:avLst/>
          </a:prstGeom>
          <a:solidFill>
            <a:srgbClr val="D4AF37"/>
          </a:solidFill>
          <a:ln w="12700">
            <a:solidFill>
              <a:srgbClr val="D4AF37"/>
            </a:solidFill>
            <a:prstDash val="solid"/>
          </a:ln>
        </p:spPr>
      </p:sp>
      <p:sp>
        <p:nvSpPr>
          <p:cNvPr id="40" name="Text 38"/>
          <p:cNvSpPr/>
          <p:nvPr/>
        </p:nvSpPr>
        <p:spPr>
          <a:xfrm>
            <a:off x="6181344" y="3712464"/>
            <a:ext cx="2377440" cy="228600"/>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 Regional Focus</a:t>
            </a:r>
            <a:endParaRPr lang="en-US" sz="1100" dirty="0"/>
          </a:p>
        </p:txBody>
      </p:sp>
      <p:sp>
        <p:nvSpPr>
          <p:cNvPr id="41" name="Text 39"/>
          <p:cNvSpPr/>
          <p:nvPr/>
        </p:nvSpPr>
        <p:spPr>
          <a:xfrm>
            <a:off x="6181344" y="3977640"/>
            <a:ext cx="2377440" cy="50292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Telugu movies prioritised · 8 Indian languages supported</a:t>
            </a:r>
            <a:endParaRPr lang="en-US" sz="950" dirty="0"/>
          </a:p>
        </p:txBody>
      </p:sp>
      <p:sp>
        <p:nvSpPr>
          <p:cNvPr id="42" name="Shape 40"/>
          <p:cNvSpPr/>
          <p:nvPr/>
        </p:nvSpPr>
        <p:spPr>
          <a:xfrm>
            <a:off x="0" y="4846320"/>
            <a:ext cx="9144000" cy="297180"/>
          </a:xfrm>
          <a:prstGeom prst="rect">
            <a:avLst/>
          </a:prstGeom>
          <a:solidFill>
            <a:srgbClr val="1A1A1A"/>
          </a:solidFill>
          <a:ln w="12700">
            <a:solidFill>
              <a:srgbClr val="1A1A1A"/>
            </a:solidFill>
            <a:prstDash val="solid"/>
          </a:ln>
        </p:spPr>
      </p:sp>
      <p:sp>
        <p:nvSpPr>
          <p:cNvPr id="43" name="Shape 41"/>
          <p:cNvSpPr/>
          <p:nvPr/>
        </p:nvSpPr>
        <p:spPr>
          <a:xfrm>
            <a:off x="0" y="4846320"/>
            <a:ext cx="9144000" cy="18288"/>
          </a:xfrm>
          <a:prstGeom prst="rect">
            <a:avLst/>
          </a:prstGeom>
          <a:solidFill>
            <a:srgbClr val="D4AF37"/>
          </a:solidFill>
          <a:ln w="12700">
            <a:solidFill>
              <a:srgbClr val="D4AF37"/>
            </a:solidFill>
            <a:prstDash val="solid"/>
          </a:ln>
        </p:spPr>
      </p:sp>
      <p:sp>
        <p:nvSpPr>
          <p:cNvPr id="44" name="Text 42"/>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45" name="Shape 43"/>
          <p:cNvSpPr/>
          <p:nvPr/>
        </p:nvSpPr>
        <p:spPr>
          <a:xfrm>
            <a:off x="8686800" y="91440"/>
            <a:ext cx="320040" cy="320040"/>
          </a:xfrm>
          <a:prstGeom prst="ellipse">
            <a:avLst/>
          </a:prstGeom>
          <a:solidFill>
            <a:srgbClr val="D4AF37"/>
          </a:solidFill>
          <a:ln w="12700">
            <a:solidFill>
              <a:srgbClr val="D4AF37"/>
            </a:solidFill>
            <a:prstDash val="solid"/>
          </a:ln>
        </p:spPr>
      </p:sp>
      <p:sp>
        <p:nvSpPr>
          <p:cNvPr id="46" name="Text 44"/>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Project Objectives</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Four core goals defined at project inception and measured at evaluation</a:t>
            </a:r>
            <a:endParaRPr lang="en-US" sz="1100" dirty="0"/>
          </a:p>
        </p:txBody>
      </p:sp>
      <p:sp>
        <p:nvSpPr>
          <p:cNvPr id="5" name="Shape 3"/>
          <p:cNvSpPr/>
          <p:nvPr/>
        </p:nvSpPr>
        <p:spPr>
          <a:xfrm>
            <a:off x="365760" y="1005840"/>
            <a:ext cx="3931920" cy="1737360"/>
          </a:xfrm>
          <a:prstGeom prst="rect">
            <a:avLst/>
          </a:prstGeom>
          <a:solidFill>
            <a:srgbClr val="2A2A2A"/>
          </a:solidFill>
          <a:ln w="6350">
            <a:solidFill>
              <a:srgbClr val="404040"/>
            </a:solidFill>
            <a:prstDash val="solid"/>
          </a:ln>
        </p:spPr>
      </p:sp>
      <p:sp>
        <p:nvSpPr>
          <p:cNvPr id="6" name="Shape 4"/>
          <p:cNvSpPr/>
          <p:nvPr/>
        </p:nvSpPr>
        <p:spPr>
          <a:xfrm>
            <a:off x="365760" y="1005840"/>
            <a:ext cx="54864" cy="1737360"/>
          </a:xfrm>
          <a:prstGeom prst="rect">
            <a:avLst/>
          </a:prstGeom>
          <a:solidFill>
            <a:srgbClr val="D4AF37"/>
          </a:solidFill>
          <a:ln w="12700">
            <a:solidFill>
              <a:srgbClr val="D4AF37"/>
            </a:solidFill>
            <a:prstDash val="solid"/>
          </a:ln>
        </p:spPr>
      </p:sp>
      <p:sp>
        <p:nvSpPr>
          <p:cNvPr id="7" name="Shape 5"/>
          <p:cNvSpPr/>
          <p:nvPr/>
        </p:nvSpPr>
        <p:spPr>
          <a:xfrm>
            <a:off x="3749040" y="1078992"/>
            <a:ext cx="457200" cy="457200"/>
          </a:xfrm>
          <a:prstGeom prst="rect">
            <a:avLst/>
          </a:prstGeom>
          <a:solidFill>
            <a:srgbClr val="0A0A0A"/>
          </a:solidFill>
          <a:ln w="19050">
            <a:solidFill>
              <a:srgbClr val="D4AF37"/>
            </a:solidFill>
            <a:prstDash val="solid"/>
          </a:ln>
        </p:spPr>
      </p:sp>
      <p:sp>
        <p:nvSpPr>
          <p:cNvPr id="8" name="Text 6"/>
          <p:cNvSpPr/>
          <p:nvPr/>
        </p:nvSpPr>
        <p:spPr>
          <a:xfrm>
            <a:off x="3749040" y="1078992"/>
            <a:ext cx="457200" cy="457200"/>
          </a:xfrm>
          <a:prstGeom prst="rect">
            <a:avLst/>
          </a:prstGeom>
          <a:noFill/>
          <a:ln/>
        </p:spPr>
        <p:txBody>
          <a:bodyPr wrap="square" rtlCol="0" anchor="ctr"/>
          <a:lstStyle/>
          <a:p>
            <a:pPr algn="ctr" indent="0" marL="0">
              <a:buNone/>
            </a:pPr>
            <a:r>
              <a:rPr lang="en-US" sz="1600" b="1" dirty="0">
                <a:solidFill>
                  <a:srgbClr val="D4AF37"/>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475488" y="1097280"/>
            <a:ext cx="45720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987552" y="1097280"/>
            <a:ext cx="2743200" cy="36576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Functional Booking Interface</a:t>
            </a:r>
            <a:endParaRPr lang="en-US" sz="1200" dirty="0"/>
          </a:p>
        </p:txBody>
      </p:sp>
      <p:sp>
        <p:nvSpPr>
          <p:cNvPr id="11" name="Text 9"/>
          <p:cNvSpPr/>
          <p:nvPr/>
        </p:nvSpPr>
        <p:spPr>
          <a:xfrm>
            <a:off x="475488" y="1508760"/>
            <a:ext cx="3657600" cy="114300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Develop a working web application where users can browse movies, select showtimes, choose seats interactively, and receive a digital QR ticket upon booking completion.</a:t>
            </a:r>
            <a:endParaRPr lang="en-US" sz="950" dirty="0"/>
          </a:p>
        </p:txBody>
      </p:sp>
      <p:sp>
        <p:nvSpPr>
          <p:cNvPr id="12" name="Shape 10"/>
          <p:cNvSpPr/>
          <p:nvPr/>
        </p:nvSpPr>
        <p:spPr>
          <a:xfrm>
            <a:off x="4846320" y="1005840"/>
            <a:ext cx="3931920" cy="1737360"/>
          </a:xfrm>
          <a:prstGeom prst="rect">
            <a:avLst/>
          </a:prstGeom>
          <a:solidFill>
            <a:srgbClr val="2A2A2A"/>
          </a:solidFill>
          <a:ln w="6350">
            <a:solidFill>
              <a:srgbClr val="404040"/>
            </a:solidFill>
            <a:prstDash val="solid"/>
          </a:ln>
        </p:spPr>
      </p:sp>
      <p:sp>
        <p:nvSpPr>
          <p:cNvPr id="13" name="Shape 11"/>
          <p:cNvSpPr/>
          <p:nvPr/>
        </p:nvSpPr>
        <p:spPr>
          <a:xfrm>
            <a:off x="4846320" y="1005840"/>
            <a:ext cx="54864" cy="1737360"/>
          </a:xfrm>
          <a:prstGeom prst="rect">
            <a:avLst/>
          </a:prstGeom>
          <a:solidFill>
            <a:srgbClr val="D4AF37"/>
          </a:solidFill>
          <a:ln w="12700">
            <a:solidFill>
              <a:srgbClr val="D4AF37"/>
            </a:solidFill>
            <a:prstDash val="solid"/>
          </a:ln>
        </p:spPr>
      </p:sp>
      <p:sp>
        <p:nvSpPr>
          <p:cNvPr id="14" name="Shape 12"/>
          <p:cNvSpPr/>
          <p:nvPr/>
        </p:nvSpPr>
        <p:spPr>
          <a:xfrm>
            <a:off x="8229600" y="1078992"/>
            <a:ext cx="457200" cy="457200"/>
          </a:xfrm>
          <a:prstGeom prst="rect">
            <a:avLst/>
          </a:prstGeom>
          <a:solidFill>
            <a:srgbClr val="0A0A0A"/>
          </a:solidFill>
          <a:ln w="19050">
            <a:solidFill>
              <a:srgbClr val="D4AF37"/>
            </a:solidFill>
            <a:prstDash val="solid"/>
          </a:ln>
        </p:spPr>
      </p:sp>
      <p:sp>
        <p:nvSpPr>
          <p:cNvPr id="15" name="Text 13"/>
          <p:cNvSpPr/>
          <p:nvPr/>
        </p:nvSpPr>
        <p:spPr>
          <a:xfrm>
            <a:off x="8229600" y="1078992"/>
            <a:ext cx="457200" cy="457200"/>
          </a:xfrm>
          <a:prstGeom prst="rect">
            <a:avLst/>
          </a:prstGeom>
          <a:noFill/>
          <a:ln/>
        </p:spPr>
        <p:txBody>
          <a:bodyPr wrap="square" rtlCol="0" anchor="ctr"/>
          <a:lstStyle/>
          <a:p>
            <a:pPr algn="ctr" indent="0" marL="0">
              <a:buNone/>
            </a:pPr>
            <a:r>
              <a:rPr lang="en-US" sz="1600" b="1" dirty="0">
                <a:solidFill>
                  <a:srgbClr val="D4AF37"/>
                </a:solidFill>
                <a:latin typeface="Arial Black" pitchFamily="34" charset="0"/>
                <a:ea typeface="Arial Black" pitchFamily="34" charset="-122"/>
                <a:cs typeface="Arial Black" pitchFamily="34" charset="-120"/>
              </a:rPr>
              <a:t>02</a:t>
            </a:r>
            <a:endParaRPr lang="en-US" sz="1600" dirty="0"/>
          </a:p>
        </p:txBody>
      </p:sp>
      <p:sp>
        <p:nvSpPr>
          <p:cNvPr id="16" name="Text 14"/>
          <p:cNvSpPr/>
          <p:nvPr/>
        </p:nvSpPr>
        <p:spPr>
          <a:xfrm>
            <a:off x="4956048" y="1097280"/>
            <a:ext cx="45720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5468112" y="1097280"/>
            <a:ext cx="2743200" cy="36576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AI-Assisted Development</a:t>
            </a:r>
            <a:endParaRPr lang="en-US" sz="1200" dirty="0"/>
          </a:p>
        </p:txBody>
      </p:sp>
      <p:sp>
        <p:nvSpPr>
          <p:cNvPr id="18" name="Text 16"/>
          <p:cNvSpPr/>
          <p:nvPr/>
        </p:nvSpPr>
        <p:spPr>
          <a:xfrm>
            <a:off x="4956048" y="1508760"/>
            <a:ext cx="3657600" cy="114300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Leverage Claude AI (Anthropic) to generate, debug, and refine all source code. Document every prompt used to demonstrate intentional and structured use of AI tools.</a:t>
            </a:r>
            <a:endParaRPr lang="en-US" sz="950" dirty="0"/>
          </a:p>
        </p:txBody>
      </p:sp>
      <p:sp>
        <p:nvSpPr>
          <p:cNvPr id="19" name="Shape 17"/>
          <p:cNvSpPr/>
          <p:nvPr/>
        </p:nvSpPr>
        <p:spPr>
          <a:xfrm>
            <a:off x="365760" y="2880360"/>
            <a:ext cx="3931920" cy="1737360"/>
          </a:xfrm>
          <a:prstGeom prst="rect">
            <a:avLst/>
          </a:prstGeom>
          <a:solidFill>
            <a:srgbClr val="2A2A2A"/>
          </a:solidFill>
          <a:ln w="6350">
            <a:solidFill>
              <a:srgbClr val="404040"/>
            </a:solidFill>
            <a:prstDash val="solid"/>
          </a:ln>
        </p:spPr>
      </p:sp>
      <p:sp>
        <p:nvSpPr>
          <p:cNvPr id="20" name="Shape 18"/>
          <p:cNvSpPr/>
          <p:nvPr/>
        </p:nvSpPr>
        <p:spPr>
          <a:xfrm>
            <a:off x="365760" y="2880360"/>
            <a:ext cx="54864" cy="1737360"/>
          </a:xfrm>
          <a:prstGeom prst="rect">
            <a:avLst/>
          </a:prstGeom>
          <a:solidFill>
            <a:srgbClr val="D4AF37"/>
          </a:solidFill>
          <a:ln w="12700">
            <a:solidFill>
              <a:srgbClr val="D4AF37"/>
            </a:solidFill>
            <a:prstDash val="solid"/>
          </a:ln>
        </p:spPr>
      </p:sp>
      <p:sp>
        <p:nvSpPr>
          <p:cNvPr id="21" name="Shape 19"/>
          <p:cNvSpPr/>
          <p:nvPr/>
        </p:nvSpPr>
        <p:spPr>
          <a:xfrm>
            <a:off x="3749040" y="2953512"/>
            <a:ext cx="457200" cy="457200"/>
          </a:xfrm>
          <a:prstGeom prst="rect">
            <a:avLst/>
          </a:prstGeom>
          <a:solidFill>
            <a:srgbClr val="0A0A0A"/>
          </a:solidFill>
          <a:ln w="19050">
            <a:solidFill>
              <a:srgbClr val="D4AF37"/>
            </a:solidFill>
            <a:prstDash val="solid"/>
          </a:ln>
        </p:spPr>
      </p:sp>
      <p:sp>
        <p:nvSpPr>
          <p:cNvPr id="22" name="Text 20"/>
          <p:cNvSpPr/>
          <p:nvPr/>
        </p:nvSpPr>
        <p:spPr>
          <a:xfrm>
            <a:off x="3749040" y="2953512"/>
            <a:ext cx="457200" cy="457200"/>
          </a:xfrm>
          <a:prstGeom prst="rect">
            <a:avLst/>
          </a:prstGeom>
          <a:noFill/>
          <a:ln/>
        </p:spPr>
        <p:txBody>
          <a:bodyPr wrap="square" rtlCol="0" anchor="ctr"/>
          <a:lstStyle/>
          <a:p>
            <a:pPr algn="ctr" indent="0" marL="0">
              <a:buNone/>
            </a:pPr>
            <a:r>
              <a:rPr lang="en-US" sz="1600" b="1" dirty="0">
                <a:solidFill>
                  <a:srgbClr val="D4AF37"/>
                </a:solidFill>
                <a:latin typeface="Arial Black" pitchFamily="34" charset="0"/>
                <a:ea typeface="Arial Black" pitchFamily="34" charset="-122"/>
                <a:cs typeface="Arial Black" pitchFamily="34" charset="-120"/>
              </a:rPr>
              <a:t>03</a:t>
            </a:r>
            <a:endParaRPr lang="en-US" sz="1600" dirty="0"/>
          </a:p>
        </p:txBody>
      </p:sp>
      <p:sp>
        <p:nvSpPr>
          <p:cNvPr id="23" name="Text 21"/>
          <p:cNvSpPr/>
          <p:nvPr/>
        </p:nvSpPr>
        <p:spPr>
          <a:xfrm>
            <a:off x="475488" y="2971800"/>
            <a:ext cx="45720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987552" y="2971800"/>
            <a:ext cx="2743200" cy="36576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Responsive UI / UX Design</a:t>
            </a:r>
            <a:endParaRPr lang="en-US" sz="1200" dirty="0"/>
          </a:p>
        </p:txBody>
      </p:sp>
      <p:sp>
        <p:nvSpPr>
          <p:cNvPr id="25" name="Text 23"/>
          <p:cNvSpPr/>
          <p:nvPr/>
        </p:nvSpPr>
        <p:spPr>
          <a:xfrm>
            <a:off x="475488" y="3383280"/>
            <a:ext cx="3657600" cy="114300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Deliver a visually polished, mobile-friendly interface accessible across screen sizes — from mobile (375px) to desktop (1440px) — with smooth animations and transitions.</a:t>
            </a:r>
            <a:endParaRPr lang="en-US" sz="950" dirty="0"/>
          </a:p>
        </p:txBody>
      </p:sp>
      <p:sp>
        <p:nvSpPr>
          <p:cNvPr id="26" name="Shape 24"/>
          <p:cNvSpPr/>
          <p:nvPr/>
        </p:nvSpPr>
        <p:spPr>
          <a:xfrm>
            <a:off x="4846320" y="2880360"/>
            <a:ext cx="3931920" cy="1737360"/>
          </a:xfrm>
          <a:prstGeom prst="rect">
            <a:avLst/>
          </a:prstGeom>
          <a:solidFill>
            <a:srgbClr val="2A2A2A"/>
          </a:solidFill>
          <a:ln w="6350">
            <a:solidFill>
              <a:srgbClr val="404040"/>
            </a:solidFill>
            <a:prstDash val="solid"/>
          </a:ln>
        </p:spPr>
      </p:sp>
      <p:sp>
        <p:nvSpPr>
          <p:cNvPr id="27" name="Shape 25"/>
          <p:cNvSpPr/>
          <p:nvPr/>
        </p:nvSpPr>
        <p:spPr>
          <a:xfrm>
            <a:off x="4846320" y="2880360"/>
            <a:ext cx="54864" cy="1737360"/>
          </a:xfrm>
          <a:prstGeom prst="rect">
            <a:avLst/>
          </a:prstGeom>
          <a:solidFill>
            <a:srgbClr val="D4AF37"/>
          </a:solidFill>
          <a:ln w="12700">
            <a:solidFill>
              <a:srgbClr val="D4AF37"/>
            </a:solidFill>
            <a:prstDash val="solid"/>
          </a:ln>
        </p:spPr>
      </p:sp>
      <p:sp>
        <p:nvSpPr>
          <p:cNvPr id="28" name="Shape 26"/>
          <p:cNvSpPr/>
          <p:nvPr/>
        </p:nvSpPr>
        <p:spPr>
          <a:xfrm>
            <a:off x="8229600" y="2953512"/>
            <a:ext cx="457200" cy="457200"/>
          </a:xfrm>
          <a:prstGeom prst="rect">
            <a:avLst/>
          </a:prstGeom>
          <a:solidFill>
            <a:srgbClr val="0A0A0A"/>
          </a:solidFill>
          <a:ln w="19050">
            <a:solidFill>
              <a:srgbClr val="D4AF37"/>
            </a:solidFill>
            <a:prstDash val="solid"/>
          </a:ln>
        </p:spPr>
      </p:sp>
      <p:sp>
        <p:nvSpPr>
          <p:cNvPr id="29" name="Text 27"/>
          <p:cNvSpPr/>
          <p:nvPr/>
        </p:nvSpPr>
        <p:spPr>
          <a:xfrm>
            <a:off x="8229600" y="2953512"/>
            <a:ext cx="457200" cy="457200"/>
          </a:xfrm>
          <a:prstGeom prst="rect">
            <a:avLst/>
          </a:prstGeom>
          <a:noFill/>
          <a:ln/>
        </p:spPr>
        <p:txBody>
          <a:bodyPr wrap="square" rtlCol="0" anchor="ctr"/>
          <a:lstStyle/>
          <a:p>
            <a:pPr algn="ctr" indent="0" marL="0">
              <a:buNone/>
            </a:pPr>
            <a:r>
              <a:rPr lang="en-US" sz="1600" b="1" dirty="0">
                <a:solidFill>
                  <a:srgbClr val="D4AF37"/>
                </a:solidFill>
                <a:latin typeface="Arial Black" pitchFamily="34" charset="0"/>
                <a:ea typeface="Arial Black" pitchFamily="34" charset="-122"/>
                <a:cs typeface="Arial Black" pitchFamily="34" charset="-120"/>
              </a:rPr>
              <a:t>04</a:t>
            </a:r>
            <a:endParaRPr lang="en-US" sz="1600" dirty="0"/>
          </a:p>
        </p:txBody>
      </p:sp>
      <p:sp>
        <p:nvSpPr>
          <p:cNvPr id="30" name="Text 28"/>
          <p:cNvSpPr/>
          <p:nvPr/>
        </p:nvSpPr>
        <p:spPr>
          <a:xfrm>
            <a:off x="4956048" y="2971800"/>
            <a:ext cx="457200" cy="3657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1" name="Text 29"/>
          <p:cNvSpPr/>
          <p:nvPr/>
        </p:nvSpPr>
        <p:spPr>
          <a:xfrm>
            <a:off x="5468112" y="2971800"/>
            <a:ext cx="2743200" cy="36576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Technical Competency</a:t>
            </a:r>
            <a:endParaRPr lang="en-US" sz="1200" dirty="0"/>
          </a:p>
        </p:txBody>
      </p:sp>
      <p:sp>
        <p:nvSpPr>
          <p:cNvPr id="32" name="Text 30"/>
          <p:cNvSpPr/>
          <p:nvPr/>
        </p:nvSpPr>
        <p:spPr>
          <a:xfrm>
            <a:off x="4956048" y="3383280"/>
            <a:ext cx="3657600" cy="1143000"/>
          </a:xfrm>
          <a:prstGeom prst="rect">
            <a:avLst/>
          </a:prstGeom>
          <a:noFill/>
          <a:ln/>
        </p:spPr>
        <p:txBody>
          <a:bodyPr wrap="square" rtlCol="0" anchor="ctr"/>
          <a:lstStyle/>
          <a:p>
            <a:pPr indent="0" marL="0">
              <a:buNone/>
            </a:pPr>
            <a:r>
              <a:rPr lang="en-US" sz="950" dirty="0">
                <a:solidFill>
                  <a:srgbClr val="F5F5F5"/>
                </a:solidFill>
                <a:latin typeface="Calibri" pitchFamily="34" charset="0"/>
                <a:ea typeface="Calibri" pitchFamily="34" charset="-122"/>
                <a:cs typeface="Calibri" pitchFamily="34" charset="-120"/>
              </a:rPr>
              <a:t>Demonstrate knowledge of HTML5, CSS3, JavaScript ES6+, Node.js, Express.js, JSON storage, QR code generation, and UPI payment simulation.</a:t>
            </a:r>
            <a:endParaRPr lang="en-US" sz="950" dirty="0"/>
          </a:p>
        </p:txBody>
      </p:sp>
      <p:sp>
        <p:nvSpPr>
          <p:cNvPr id="33" name="Shape 31"/>
          <p:cNvSpPr/>
          <p:nvPr/>
        </p:nvSpPr>
        <p:spPr>
          <a:xfrm>
            <a:off x="0" y="4846320"/>
            <a:ext cx="9144000" cy="297180"/>
          </a:xfrm>
          <a:prstGeom prst="rect">
            <a:avLst/>
          </a:prstGeom>
          <a:solidFill>
            <a:srgbClr val="1A1A1A"/>
          </a:solidFill>
          <a:ln w="12700">
            <a:solidFill>
              <a:srgbClr val="1A1A1A"/>
            </a:solidFill>
            <a:prstDash val="solid"/>
          </a:ln>
        </p:spPr>
      </p:sp>
      <p:sp>
        <p:nvSpPr>
          <p:cNvPr id="34" name="Shape 32"/>
          <p:cNvSpPr/>
          <p:nvPr/>
        </p:nvSpPr>
        <p:spPr>
          <a:xfrm>
            <a:off x="0" y="4846320"/>
            <a:ext cx="9144000" cy="18288"/>
          </a:xfrm>
          <a:prstGeom prst="rect">
            <a:avLst/>
          </a:prstGeom>
          <a:solidFill>
            <a:srgbClr val="D4AF37"/>
          </a:solidFill>
          <a:ln w="12700">
            <a:solidFill>
              <a:srgbClr val="D4AF37"/>
            </a:solidFill>
            <a:prstDash val="solid"/>
          </a:ln>
        </p:spPr>
      </p:sp>
      <p:sp>
        <p:nvSpPr>
          <p:cNvPr id="35" name="Text 33"/>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36" name="Shape 34"/>
          <p:cNvSpPr/>
          <p:nvPr/>
        </p:nvSpPr>
        <p:spPr>
          <a:xfrm>
            <a:off x="8686800" y="91440"/>
            <a:ext cx="320040" cy="320040"/>
          </a:xfrm>
          <a:prstGeom prst="ellipse">
            <a:avLst/>
          </a:prstGeom>
          <a:solidFill>
            <a:srgbClr val="D4AF37"/>
          </a:solidFill>
          <a:ln w="12700">
            <a:solidFill>
              <a:srgbClr val="D4AF37"/>
            </a:solidFill>
            <a:prstDash val="solid"/>
          </a:ln>
        </p:spPr>
      </p:sp>
      <p:sp>
        <p:nvSpPr>
          <p:cNvPr id="37" name="Text 35"/>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Stakeholders</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Key parties with a vested interest in CineBook's success</a:t>
            </a:r>
            <a:endParaRPr lang="en-US" sz="1100" dirty="0"/>
          </a:p>
        </p:txBody>
      </p:sp>
      <p:sp>
        <p:nvSpPr>
          <p:cNvPr id="5" name="Shape 3"/>
          <p:cNvSpPr/>
          <p:nvPr/>
        </p:nvSpPr>
        <p:spPr>
          <a:xfrm>
            <a:off x="320040" y="1005840"/>
            <a:ext cx="1965960" cy="3474720"/>
          </a:xfrm>
          <a:prstGeom prst="rect">
            <a:avLst/>
          </a:prstGeom>
          <a:solidFill>
            <a:srgbClr val="2A2A2A"/>
          </a:solidFill>
          <a:ln w="6350">
            <a:solidFill>
              <a:srgbClr val="404040"/>
            </a:solidFill>
            <a:prstDash val="solid"/>
          </a:ln>
        </p:spPr>
      </p:sp>
      <p:sp>
        <p:nvSpPr>
          <p:cNvPr id="6" name="Shape 4"/>
          <p:cNvSpPr/>
          <p:nvPr/>
        </p:nvSpPr>
        <p:spPr>
          <a:xfrm>
            <a:off x="320040" y="1005840"/>
            <a:ext cx="1965960" cy="457200"/>
          </a:xfrm>
          <a:prstGeom prst="rect">
            <a:avLst/>
          </a:prstGeom>
          <a:solidFill>
            <a:srgbClr val="1A1A1A"/>
          </a:solidFill>
          <a:ln w="6350">
            <a:solidFill>
              <a:srgbClr val="404040"/>
            </a:solidFill>
            <a:prstDash val="solid"/>
          </a:ln>
        </p:spPr>
      </p:sp>
      <p:sp>
        <p:nvSpPr>
          <p:cNvPr id="7" name="Shape 5"/>
          <p:cNvSpPr/>
          <p:nvPr/>
        </p:nvSpPr>
        <p:spPr>
          <a:xfrm>
            <a:off x="320040" y="1005840"/>
            <a:ext cx="1965960" cy="36576"/>
          </a:xfrm>
          <a:prstGeom prst="rect">
            <a:avLst/>
          </a:prstGeom>
          <a:solidFill>
            <a:srgbClr val="D4AF37"/>
          </a:solidFill>
          <a:ln w="12700">
            <a:solidFill>
              <a:srgbClr val="D4AF37"/>
            </a:solidFill>
            <a:prstDash val="solid"/>
          </a:ln>
        </p:spPr>
      </p:sp>
      <p:sp>
        <p:nvSpPr>
          <p:cNvPr id="8" name="Text 6"/>
          <p:cNvSpPr/>
          <p:nvPr/>
        </p:nvSpPr>
        <p:spPr>
          <a:xfrm>
            <a:off x="320040" y="1024128"/>
            <a:ext cx="45720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777240" y="1097280"/>
            <a:ext cx="1463040" cy="320040"/>
          </a:xfrm>
          <a:prstGeom prst="rect">
            <a:avLst/>
          </a:prstGeom>
          <a:noFill/>
          <a:ln/>
        </p:spPr>
        <p:txBody>
          <a:bodyPr wrap="square" lIns="0" tIns="0" rIns="0" bIns="0" rtlCol="0" anchor="ctr"/>
          <a:lstStyle/>
          <a:p>
            <a:pPr indent="0" marL="0">
              <a:buNone/>
            </a:pPr>
            <a:r>
              <a:rPr lang="en-US" sz="1050" b="1" dirty="0">
                <a:solidFill>
                  <a:srgbClr val="D4AF37"/>
                </a:solidFill>
                <a:latin typeface="Calibri" pitchFamily="34" charset="0"/>
                <a:ea typeface="Calibri" pitchFamily="34" charset="-122"/>
                <a:cs typeface="Calibri" pitchFamily="34" charset="-120"/>
              </a:rPr>
              <a:t>Student Developer</a:t>
            </a:r>
            <a:endParaRPr lang="en-US" sz="1050" dirty="0"/>
          </a:p>
        </p:txBody>
      </p:sp>
      <p:sp>
        <p:nvSpPr>
          <p:cNvPr id="10" name="Shape 8"/>
          <p:cNvSpPr/>
          <p:nvPr/>
        </p:nvSpPr>
        <p:spPr>
          <a:xfrm>
            <a:off x="438912" y="1645920"/>
            <a:ext cx="109728" cy="109728"/>
          </a:xfrm>
          <a:prstGeom prst="ellipse">
            <a:avLst/>
          </a:prstGeom>
          <a:solidFill>
            <a:srgbClr val="D4AF37"/>
          </a:solidFill>
          <a:ln w="12700">
            <a:solidFill>
              <a:srgbClr val="D4AF37"/>
            </a:solidFill>
            <a:prstDash val="solid"/>
          </a:ln>
        </p:spPr>
      </p:sp>
      <p:sp>
        <p:nvSpPr>
          <p:cNvPr id="11" name="Text 9"/>
          <p:cNvSpPr/>
          <p:nvPr/>
        </p:nvSpPr>
        <p:spPr>
          <a:xfrm>
            <a:off x="612648" y="157276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Design, develop, test &amp; present the application</a:t>
            </a:r>
            <a:endParaRPr lang="en-US" sz="900" dirty="0"/>
          </a:p>
        </p:txBody>
      </p:sp>
      <p:sp>
        <p:nvSpPr>
          <p:cNvPr id="12" name="Shape 10"/>
          <p:cNvSpPr/>
          <p:nvPr/>
        </p:nvSpPr>
        <p:spPr>
          <a:xfrm>
            <a:off x="438912" y="2514600"/>
            <a:ext cx="109728" cy="109728"/>
          </a:xfrm>
          <a:prstGeom prst="ellipse">
            <a:avLst/>
          </a:prstGeom>
          <a:solidFill>
            <a:srgbClr val="D4AF37"/>
          </a:solidFill>
          <a:ln w="12700">
            <a:solidFill>
              <a:srgbClr val="D4AF37"/>
            </a:solidFill>
            <a:prstDash val="solid"/>
          </a:ln>
        </p:spPr>
      </p:sp>
      <p:sp>
        <p:nvSpPr>
          <p:cNvPr id="13" name="Text 11"/>
          <p:cNvSpPr/>
          <p:nvPr/>
        </p:nvSpPr>
        <p:spPr>
          <a:xfrm>
            <a:off x="612648" y="244144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All code generation &amp; prompt documentation</a:t>
            </a:r>
            <a:endParaRPr lang="en-US" sz="900" dirty="0"/>
          </a:p>
        </p:txBody>
      </p:sp>
      <p:sp>
        <p:nvSpPr>
          <p:cNvPr id="14" name="Shape 12"/>
          <p:cNvSpPr/>
          <p:nvPr/>
        </p:nvSpPr>
        <p:spPr>
          <a:xfrm>
            <a:off x="438912" y="3383280"/>
            <a:ext cx="109728" cy="109728"/>
          </a:xfrm>
          <a:prstGeom prst="ellipse">
            <a:avLst/>
          </a:prstGeom>
          <a:solidFill>
            <a:srgbClr val="D4AF37"/>
          </a:solidFill>
          <a:ln w="12700">
            <a:solidFill>
              <a:srgbClr val="D4AF37"/>
            </a:solidFill>
            <a:prstDash val="solid"/>
          </a:ln>
        </p:spPr>
      </p:sp>
      <p:sp>
        <p:nvSpPr>
          <p:cNvPr id="15" name="Text 13"/>
          <p:cNvSpPr/>
          <p:nvPr/>
        </p:nvSpPr>
        <p:spPr>
          <a:xfrm>
            <a:off x="612648" y="331012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Sole team member: M.Dakshinya — 2303A51553</a:t>
            </a:r>
            <a:endParaRPr lang="en-US" sz="900" dirty="0"/>
          </a:p>
        </p:txBody>
      </p:sp>
      <p:sp>
        <p:nvSpPr>
          <p:cNvPr id="16" name="Shape 14"/>
          <p:cNvSpPr/>
          <p:nvPr/>
        </p:nvSpPr>
        <p:spPr>
          <a:xfrm>
            <a:off x="2468880" y="1005840"/>
            <a:ext cx="1965960" cy="3474720"/>
          </a:xfrm>
          <a:prstGeom prst="rect">
            <a:avLst/>
          </a:prstGeom>
          <a:solidFill>
            <a:srgbClr val="2A2A2A"/>
          </a:solidFill>
          <a:ln w="6350">
            <a:solidFill>
              <a:srgbClr val="404040"/>
            </a:solidFill>
            <a:prstDash val="solid"/>
          </a:ln>
        </p:spPr>
      </p:sp>
      <p:sp>
        <p:nvSpPr>
          <p:cNvPr id="17" name="Shape 15"/>
          <p:cNvSpPr/>
          <p:nvPr/>
        </p:nvSpPr>
        <p:spPr>
          <a:xfrm>
            <a:off x="2468880" y="1005840"/>
            <a:ext cx="1965960" cy="457200"/>
          </a:xfrm>
          <a:prstGeom prst="rect">
            <a:avLst/>
          </a:prstGeom>
          <a:solidFill>
            <a:srgbClr val="1A1A1A"/>
          </a:solidFill>
          <a:ln w="6350">
            <a:solidFill>
              <a:srgbClr val="404040"/>
            </a:solidFill>
            <a:prstDash val="solid"/>
          </a:ln>
        </p:spPr>
      </p:sp>
      <p:sp>
        <p:nvSpPr>
          <p:cNvPr id="18" name="Shape 16"/>
          <p:cNvSpPr/>
          <p:nvPr/>
        </p:nvSpPr>
        <p:spPr>
          <a:xfrm>
            <a:off x="2468880" y="1005840"/>
            <a:ext cx="1965960" cy="36576"/>
          </a:xfrm>
          <a:prstGeom prst="rect">
            <a:avLst/>
          </a:prstGeom>
          <a:solidFill>
            <a:srgbClr val="66AAFF"/>
          </a:solidFill>
          <a:ln w="12700">
            <a:solidFill>
              <a:srgbClr val="66AAFF"/>
            </a:solidFill>
            <a:prstDash val="solid"/>
          </a:ln>
        </p:spPr>
      </p:sp>
      <p:sp>
        <p:nvSpPr>
          <p:cNvPr id="19" name="Text 17"/>
          <p:cNvSpPr/>
          <p:nvPr/>
        </p:nvSpPr>
        <p:spPr>
          <a:xfrm>
            <a:off x="2468880" y="1024128"/>
            <a:ext cx="45720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2926080" y="1097280"/>
            <a:ext cx="1463040" cy="320040"/>
          </a:xfrm>
          <a:prstGeom prst="rect">
            <a:avLst/>
          </a:prstGeom>
          <a:noFill/>
          <a:ln/>
        </p:spPr>
        <p:txBody>
          <a:bodyPr wrap="square" lIns="0" tIns="0" rIns="0" bIns="0" rtlCol="0" anchor="ctr"/>
          <a:lstStyle/>
          <a:p>
            <a:pPr indent="0" marL="0">
              <a:buNone/>
            </a:pPr>
            <a:r>
              <a:rPr lang="en-US" sz="1050" b="1" dirty="0">
                <a:solidFill>
                  <a:srgbClr val="66AAFF"/>
                </a:solidFill>
                <a:latin typeface="Calibri" pitchFamily="34" charset="0"/>
                <a:ea typeface="Calibri" pitchFamily="34" charset="-122"/>
                <a:cs typeface="Calibri" pitchFamily="34" charset="-120"/>
              </a:rPr>
              <a:t>Course Instructors</a:t>
            </a:r>
            <a:endParaRPr lang="en-US" sz="1050" dirty="0"/>
          </a:p>
        </p:txBody>
      </p:sp>
      <p:sp>
        <p:nvSpPr>
          <p:cNvPr id="21" name="Shape 19"/>
          <p:cNvSpPr/>
          <p:nvPr/>
        </p:nvSpPr>
        <p:spPr>
          <a:xfrm>
            <a:off x="2587752" y="1645920"/>
            <a:ext cx="109728" cy="109728"/>
          </a:xfrm>
          <a:prstGeom prst="ellipse">
            <a:avLst/>
          </a:prstGeom>
          <a:solidFill>
            <a:srgbClr val="66AAFF"/>
          </a:solidFill>
          <a:ln w="12700">
            <a:solidFill>
              <a:srgbClr val="66AAFF"/>
            </a:solidFill>
            <a:prstDash val="solid"/>
          </a:ln>
        </p:spPr>
      </p:sp>
      <p:sp>
        <p:nvSpPr>
          <p:cNvPr id="22" name="Text 20"/>
          <p:cNvSpPr/>
          <p:nvPr/>
        </p:nvSpPr>
        <p:spPr>
          <a:xfrm>
            <a:off x="2761488" y="157276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Evaluate code quality, functionality &amp; presentation</a:t>
            </a:r>
            <a:endParaRPr lang="en-US" sz="900" dirty="0"/>
          </a:p>
        </p:txBody>
      </p:sp>
      <p:sp>
        <p:nvSpPr>
          <p:cNvPr id="23" name="Shape 21"/>
          <p:cNvSpPr/>
          <p:nvPr/>
        </p:nvSpPr>
        <p:spPr>
          <a:xfrm>
            <a:off x="2587752" y="2514600"/>
            <a:ext cx="109728" cy="109728"/>
          </a:xfrm>
          <a:prstGeom prst="ellipse">
            <a:avLst/>
          </a:prstGeom>
          <a:solidFill>
            <a:srgbClr val="66AAFF"/>
          </a:solidFill>
          <a:ln w="12700">
            <a:solidFill>
              <a:srgbClr val="66AAFF"/>
            </a:solidFill>
            <a:prstDash val="solid"/>
          </a:ln>
        </p:spPr>
      </p:sp>
      <p:sp>
        <p:nvSpPr>
          <p:cNvPr id="24" name="Text 22"/>
          <p:cNvSpPr/>
          <p:nvPr/>
        </p:nvSpPr>
        <p:spPr>
          <a:xfrm>
            <a:off x="2761488" y="244144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Assess responsible AI usage &amp; prompt transparency</a:t>
            </a:r>
            <a:endParaRPr lang="en-US" sz="900" dirty="0"/>
          </a:p>
        </p:txBody>
      </p:sp>
      <p:sp>
        <p:nvSpPr>
          <p:cNvPr id="25" name="Shape 23"/>
          <p:cNvSpPr/>
          <p:nvPr/>
        </p:nvSpPr>
        <p:spPr>
          <a:xfrm>
            <a:off x="2587752" y="3383280"/>
            <a:ext cx="109728" cy="109728"/>
          </a:xfrm>
          <a:prstGeom prst="ellipse">
            <a:avLst/>
          </a:prstGeom>
          <a:solidFill>
            <a:srgbClr val="66AAFF"/>
          </a:solidFill>
          <a:ln w="12700">
            <a:solidFill>
              <a:srgbClr val="66AAFF"/>
            </a:solidFill>
            <a:prstDash val="solid"/>
          </a:ln>
        </p:spPr>
      </p:sp>
      <p:sp>
        <p:nvSpPr>
          <p:cNvPr id="26" name="Text 24"/>
          <p:cNvSpPr/>
          <p:nvPr/>
        </p:nvSpPr>
        <p:spPr>
          <a:xfrm>
            <a:off x="2761488" y="331012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Verify working demo of the live application</a:t>
            </a:r>
            <a:endParaRPr lang="en-US" sz="900" dirty="0"/>
          </a:p>
        </p:txBody>
      </p:sp>
      <p:sp>
        <p:nvSpPr>
          <p:cNvPr id="27" name="Shape 25"/>
          <p:cNvSpPr/>
          <p:nvPr/>
        </p:nvSpPr>
        <p:spPr>
          <a:xfrm>
            <a:off x="4617720" y="1005840"/>
            <a:ext cx="1965960" cy="3474720"/>
          </a:xfrm>
          <a:prstGeom prst="rect">
            <a:avLst/>
          </a:prstGeom>
          <a:solidFill>
            <a:srgbClr val="2A2A2A"/>
          </a:solidFill>
          <a:ln w="6350">
            <a:solidFill>
              <a:srgbClr val="404040"/>
            </a:solidFill>
            <a:prstDash val="solid"/>
          </a:ln>
        </p:spPr>
      </p:sp>
      <p:sp>
        <p:nvSpPr>
          <p:cNvPr id="28" name="Shape 26"/>
          <p:cNvSpPr/>
          <p:nvPr/>
        </p:nvSpPr>
        <p:spPr>
          <a:xfrm>
            <a:off x="4617720" y="1005840"/>
            <a:ext cx="1965960" cy="457200"/>
          </a:xfrm>
          <a:prstGeom prst="rect">
            <a:avLst/>
          </a:prstGeom>
          <a:solidFill>
            <a:srgbClr val="1A1A1A"/>
          </a:solidFill>
          <a:ln w="6350">
            <a:solidFill>
              <a:srgbClr val="404040"/>
            </a:solidFill>
            <a:prstDash val="solid"/>
          </a:ln>
        </p:spPr>
      </p:sp>
      <p:sp>
        <p:nvSpPr>
          <p:cNvPr id="29" name="Shape 27"/>
          <p:cNvSpPr/>
          <p:nvPr/>
        </p:nvSpPr>
        <p:spPr>
          <a:xfrm>
            <a:off x="4617720" y="1005840"/>
            <a:ext cx="1965960" cy="36576"/>
          </a:xfrm>
          <a:prstGeom prst="rect">
            <a:avLst/>
          </a:prstGeom>
          <a:solidFill>
            <a:srgbClr val="66FF88"/>
          </a:solidFill>
          <a:ln w="12700">
            <a:solidFill>
              <a:srgbClr val="66FF88"/>
            </a:solidFill>
            <a:prstDash val="solid"/>
          </a:ln>
        </p:spPr>
      </p:sp>
      <p:sp>
        <p:nvSpPr>
          <p:cNvPr id="30" name="Text 28"/>
          <p:cNvSpPr/>
          <p:nvPr/>
        </p:nvSpPr>
        <p:spPr>
          <a:xfrm>
            <a:off x="4617720" y="1024128"/>
            <a:ext cx="45720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1" name="Text 29"/>
          <p:cNvSpPr/>
          <p:nvPr/>
        </p:nvSpPr>
        <p:spPr>
          <a:xfrm>
            <a:off x="5074920" y="1097280"/>
            <a:ext cx="1463040" cy="320040"/>
          </a:xfrm>
          <a:prstGeom prst="rect">
            <a:avLst/>
          </a:prstGeom>
          <a:noFill/>
          <a:ln/>
        </p:spPr>
        <p:txBody>
          <a:bodyPr wrap="square" lIns="0" tIns="0" rIns="0" bIns="0" rtlCol="0" anchor="ctr"/>
          <a:lstStyle/>
          <a:p>
            <a:pPr indent="0" marL="0">
              <a:buNone/>
            </a:pPr>
            <a:r>
              <a:rPr lang="en-US" sz="1050" b="1" dirty="0">
                <a:solidFill>
                  <a:srgbClr val="66FF88"/>
                </a:solidFill>
                <a:latin typeface="Calibri" pitchFamily="34" charset="0"/>
                <a:ea typeface="Calibri" pitchFamily="34" charset="-122"/>
                <a:cs typeface="Calibri" pitchFamily="34" charset="-120"/>
              </a:rPr>
              <a:t>End Users (Public)</a:t>
            </a:r>
            <a:endParaRPr lang="en-US" sz="1050" dirty="0"/>
          </a:p>
        </p:txBody>
      </p:sp>
      <p:sp>
        <p:nvSpPr>
          <p:cNvPr id="32" name="Shape 30"/>
          <p:cNvSpPr/>
          <p:nvPr/>
        </p:nvSpPr>
        <p:spPr>
          <a:xfrm>
            <a:off x="4736592" y="1645920"/>
            <a:ext cx="109728" cy="109728"/>
          </a:xfrm>
          <a:prstGeom prst="ellipse">
            <a:avLst/>
          </a:prstGeom>
          <a:solidFill>
            <a:srgbClr val="66FF88"/>
          </a:solidFill>
          <a:ln w="12700">
            <a:solidFill>
              <a:srgbClr val="66FF88"/>
            </a:solidFill>
            <a:prstDash val="solid"/>
          </a:ln>
        </p:spPr>
      </p:sp>
      <p:sp>
        <p:nvSpPr>
          <p:cNvPr id="33" name="Text 31"/>
          <p:cNvSpPr/>
          <p:nvPr/>
        </p:nvSpPr>
        <p:spPr>
          <a:xfrm>
            <a:off x="4910328" y="157276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Browse movies across 8 Indian languages</a:t>
            </a:r>
            <a:endParaRPr lang="en-US" sz="900" dirty="0"/>
          </a:p>
        </p:txBody>
      </p:sp>
      <p:sp>
        <p:nvSpPr>
          <p:cNvPr id="34" name="Shape 32"/>
          <p:cNvSpPr/>
          <p:nvPr/>
        </p:nvSpPr>
        <p:spPr>
          <a:xfrm>
            <a:off x="4736592" y="2514600"/>
            <a:ext cx="109728" cy="109728"/>
          </a:xfrm>
          <a:prstGeom prst="ellipse">
            <a:avLst/>
          </a:prstGeom>
          <a:solidFill>
            <a:srgbClr val="66FF88"/>
          </a:solidFill>
          <a:ln w="12700">
            <a:solidFill>
              <a:srgbClr val="66FF88"/>
            </a:solidFill>
            <a:prstDash val="solid"/>
          </a:ln>
        </p:spPr>
      </p:sp>
      <p:sp>
        <p:nvSpPr>
          <p:cNvPr id="35" name="Text 33"/>
          <p:cNvSpPr/>
          <p:nvPr/>
        </p:nvSpPr>
        <p:spPr>
          <a:xfrm>
            <a:off x="4910328" y="244144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Select seats and showtimes interactively</a:t>
            </a:r>
            <a:endParaRPr lang="en-US" sz="900" dirty="0"/>
          </a:p>
        </p:txBody>
      </p:sp>
      <p:sp>
        <p:nvSpPr>
          <p:cNvPr id="36" name="Shape 34"/>
          <p:cNvSpPr/>
          <p:nvPr/>
        </p:nvSpPr>
        <p:spPr>
          <a:xfrm>
            <a:off x="4736592" y="3383280"/>
            <a:ext cx="109728" cy="109728"/>
          </a:xfrm>
          <a:prstGeom prst="ellipse">
            <a:avLst/>
          </a:prstGeom>
          <a:solidFill>
            <a:srgbClr val="66FF88"/>
          </a:solidFill>
          <a:ln w="12700">
            <a:solidFill>
              <a:srgbClr val="66FF88"/>
            </a:solidFill>
            <a:prstDash val="solid"/>
          </a:ln>
        </p:spPr>
      </p:sp>
      <p:sp>
        <p:nvSpPr>
          <p:cNvPr id="37" name="Text 35"/>
          <p:cNvSpPr/>
          <p:nvPr/>
        </p:nvSpPr>
        <p:spPr>
          <a:xfrm>
            <a:off x="4910328" y="331012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Receive instant QR ticket after payment</a:t>
            </a:r>
            <a:endParaRPr lang="en-US" sz="900" dirty="0"/>
          </a:p>
        </p:txBody>
      </p:sp>
      <p:sp>
        <p:nvSpPr>
          <p:cNvPr id="38" name="Shape 36"/>
          <p:cNvSpPr/>
          <p:nvPr/>
        </p:nvSpPr>
        <p:spPr>
          <a:xfrm>
            <a:off x="6766560" y="1005840"/>
            <a:ext cx="1965960" cy="3474720"/>
          </a:xfrm>
          <a:prstGeom prst="rect">
            <a:avLst/>
          </a:prstGeom>
          <a:solidFill>
            <a:srgbClr val="2A2A2A"/>
          </a:solidFill>
          <a:ln w="6350">
            <a:solidFill>
              <a:srgbClr val="404040"/>
            </a:solidFill>
            <a:prstDash val="solid"/>
          </a:ln>
        </p:spPr>
      </p:sp>
      <p:sp>
        <p:nvSpPr>
          <p:cNvPr id="39" name="Shape 37"/>
          <p:cNvSpPr/>
          <p:nvPr/>
        </p:nvSpPr>
        <p:spPr>
          <a:xfrm>
            <a:off x="6766560" y="1005840"/>
            <a:ext cx="1965960" cy="457200"/>
          </a:xfrm>
          <a:prstGeom prst="rect">
            <a:avLst/>
          </a:prstGeom>
          <a:solidFill>
            <a:srgbClr val="1A1A1A"/>
          </a:solidFill>
          <a:ln w="6350">
            <a:solidFill>
              <a:srgbClr val="404040"/>
            </a:solidFill>
            <a:prstDash val="solid"/>
          </a:ln>
        </p:spPr>
      </p:sp>
      <p:sp>
        <p:nvSpPr>
          <p:cNvPr id="40" name="Shape 38"/>
          <p:cNvSpPr/>
          <p:nvPr/>
        </p:nvSpPr>
        <p:spPr>
          <a:xfrm>
            <a:off x="6766560" y="1005840"/>
            <a:ext cx="1965960" cy="36576"/>
          </a:xfrm>
          <a:prstGeom prst="rect">
            <a:avLst/>
          </a:prstGeom>
          <a:solidFill>
            <a:srgbClr val="FF9966"/>
          </a:solidFill>
          <a:ln w="12700">
            <a:solidFill>
              <a:srgbClr val="FF9966"/>
            </a:solidFill>
            <a:prstDash val="solid"/>
          </a:ln>
        </p:spPr>
      </p:sp>
      <p:sp>
        <p:nvSpPr>
          <p:cNvPr id="41" name="Text 39"/>
          <p:cNvSpPr/>
          <p:nvPr/>
        </p:nvSpPr>
        <p:spPr>
          <a:xfrm>
            <a:off x="6766560" y="1024128"/>
            <a:ext cx="45720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2" name="Text 40"/>
          <p:cNvSpPr/>
          <p:nvPr/>
        </p:nvSpPr>
        <p:spPr>
          <a:xfrm>
            <a:off x="7223760" y="1097280"/>
            <a:ext cx="1463040" cy="320040"/>
          </a:xfrm>
          <a:prstGeom prst="rect">
            <a:avLst/>
          </a:prstGeom>
          <a:noFill/>
          <a:ln/>
        </p:spPr>
        <p:txBody>
          <a:bodyPr wrap="square" lIns="0" tIns="0" rIns="0" bIns="0" rtlCol="0" anchor="ctr"/>
          <a:lstStyle/>
          <a:p>
            <a:pPr indent="0" marL="0">
              <a:buNone/>
            </a:pPr>
            <a:r>
              <a:rPr lang="en-US" sz="1050" b="1" dirty="0">
                <a:solidFill>
                  <a:srgbClr val="FF9966"/>
                </a:solidFill>
                <a:latin typeface="Calibri" pitchFamily="34" charset="0"/>
                <a:ea typeface="Calibri" pitchFamily="34" charset="-122"/>
                <a:cs typeface="Calibri" pitchFamily="34" charset="-120"/>
              </a:rPr>
              <a:t>Cinema Operators</a:t>
            </a:r>
            <a:endParaRPr lang="en-US" sz="1050" dirty="0"/>
          </a:p>
        </p:txBody>
      </p:sp>
      <p:sp>
        <p:nvSpPr>
          <p:cNvPr id="43" name="Shape 41"/>
          <p:cNvSpPr/>
          <p:nvPr/>
        </p:nvSpPr>
        <p:spPr>
          <a:xfrm>
            <a:off x="6885432" y="1645920"/>
            <a:ext cx="109728" cy="109728"/>
          </a:xfrm>
          <a:prstGeom prst="ellipse">
            <a:avLst/>
          </a:prstGeom>
          <a:solidFill>
            <a:srgbClr val="FF9966"/>
          </a:solidFill>
          <a:ln w="12700">
            <a:solidFill>
              <a:srgbClr val="FF9966"/>
            </a:solidFill>
            <a:prstDash val="solid"/>
          </a:ln>
        </p:spPr>
      </p:sp>
      <p:sp>
        <p:nvSpPr>
          <p:cNvPr id="44" name="Text 42"/>
          <p:cNvSpPr/>
          <p:nvPr/>
        </p:nvSpPr>
        <p:spPr>
          <a:xfrm>
            <a:off x="7059168" y="157276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Digitised seat booking reduces queue pressure</a:t>
            </a:r>
            <a:endParaRPr lang="en-US" sz="900" dirty="0"/>
          </a:p>
        </p:txBody>
      </p:sp>
      <p:sp>
        <p:nvSpPr>
          <p:cNvPr id="45" name="Shape 43"/>
          <p:cNvSpPr/>
          <p:nvPr/>
        </p:nvSpPr>
        <p:spPr>
          <a:xfrm>
            <a:off x="6885432" y="2514600"/>
            <a:ext cx="109728" cy="109728"/>
          </a:xfrm>
          <a:prstGeom prst="ellipse">
            <a:avLst/>
          </a:prstGeom>
          <a:solidFill>
            <a:srgbClr val="FF9966"/>
          </a:solidFill>
          <a:ln w="12700">
            <a:solidFill>
              <a:srgbClr val="FF9966"/>
            </a:solidFill>
            <a:prstDash val="solid"/>
          </a:ln>
        </p:spPr>
      </p:sp>
      <p:sp>
        <p:nvSpPr>
          <p:cNvPr id="46" name="Text 44"/>
          <p:cNvSpPr/>
          <p:nvPr/>
        </p:nvSpPr>
        <p:spPr>
          <a:xfrm>
            <a:off x="7059168" y="244144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Admin dashboard gives real-time booking overview</a:t>
            </a:r>
            <a:endParaRPr lang="en-US" sz="900" dirty="0"/>
          </a:p>
        </p:txBody>
      </p:sp>
      <p:sp>
        <p:nvSpPr>
          <p:cNvPr id="47" name="Shape 45"/>
          <p:cNvSpPr/>
          <p:nvPr/>
        </p:nvSpPr>
        <p:spPr>
          <a:xfrm>
            <a:off x="6885432" y="3383280"/>
            <a:ext cx="109728" cy="109728"/>
          </a:xfrm>
          <a:prstGeom prst="ellipse">
            <a:avLst/>
          </a:prstGeom>
          <a:solidFill>
            <a:srgbClr val="FF9966"/>
          </a:solidFill>
          <a:ln w="12700">
            <a:solidFill>
              <a:srgbClr val="FF9966"/>
            </a:solidFill>
            <a:prstDash val="solid"/>
          </a:ln>
        </p:spPr>
      </p:sp>
      <p:sp>
        <p:nvSpPr>
          <p:cNvPr id="48" name="Text 46"/>
          <p:cNvSpPr/>
          <p:nvPr/>
        </p:nvSpPr>
        <p:spPr>
          <a:xfrm>
            <a:off x="7059168" y="3310128"/>
            <a:ext cx="1600200" cy="256032"/>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Filter and export booking data by date/movie/status</a:t>
            </a:r>
            <a:endParaRPr lang="en-US" sz="900" dirty="0"/>
          </a:p>
        </p:txBody>
      </p:sp>
      <p:sp>
        <p:nvSpPr>
          <p:cNvPr id="49" name="Shape 47"/>
          <p:cNvSpPr/>
          <p:nvPr/>
        </p:nvSpPr>
        <p:spPr>
          <a:xfrm>
            <a:off x="0" y="4846320"/>
            <a:ext cx="9144000" cy="297180"/>
          </a:xfrm>
          <a:prstGeom prst="rect">
            <a:avLst/>
          </a:prstGeom>
          <a:solidFill>
            <a:srgbClr val="1A1A1A"/>
          </a:solidFill>
          <a:ln w="12700">
            <a:solidFill>
              <a:srgbClr val="1A1A1A"/>
            </a:solidFill>
            <a:prstDash val="solid"/>
          </a:ln>
        </p:spPr>
      </p:sp>
      <p:sp>
        <p:nvSpPr>
          <p:cNvPr id="50" name="Shape 48"/>
          <p:cNvSpPr/>
          <p:nvPr/>
        </p:nvSpPr>
        <p:spPr>
          <a:xfrm>
            <a:off x="0" y="4846320"/>
            <a:ext cx="9144000" cy="18288"/>
          </a:xfrm>
          <a:prstGeom prst="rect">
            <a:avLst/>
          </a:prstGeom>
          <a:solidFill>
            <a:srgbClr val="D4AF37"/>
          </a:solidFill>
          <a:ln w="12700">
            <a:solidFill>
              <a:srgbClr val="D4AF37"/>
            </a:solidFill>
            <a:prstDash val="solid"/>
          </a:ln>
        </p:spPr>
      </p:sp>
      <p:sp>
        <p:nvSpPr>
          <p:cNvPr id="51" name="Text 4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52" name="Shape 50"/>
          <p:cNvSpPr/>
          <p:nvPr/>
        </p:nvSpPr>
        <p:spPr>
          <a:xfrm>
            <a:off x="8686800" y="91440"/>
            <a:ext cx="320040" cy="320040"/>
          </a:xfrm>
          <a:prstGeom prst="ellipse">
            <a:avLst/>
          </a:prstGeom>
          <a:solidFill>
            <a:srgbClr val="D4AF37"/>
          </a:solidFill>
          <a:ln w="12700">
            <a:solidFill>
              <a:srgbClr val="D4AF37"/>
            </a:solidFill>
            <a:prstDash val="solid"/>
          </a:ln>
        </p:spPr>
      </p:sp>
      <p:sp>
        <p:nvSpPr>
          <p:cNvPr id="53" name="Text 5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Programming Languages, Tools &amp; Software</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Full-stack technology choices with clear rationale</a:t>
            </a:r>
            <a:endParaRPr lang="en-US" sz="1100" dirty="0"/>
          </a:p>
        </p:txBody>
      </p:sp>
      <p:sp>
        <p:nvSpPr>
          <p:cNvPr id="5" name="Shape 3"/>
          <p:cNvSpPr/>
          <p:nvPr/>
        </p:nvSpPr>
        <p:spPr>
          <a:xfrm>
            <a:off x="320040" y="1005840"/>
            <a:ext cx="2697480" cy="1097280"/>
          </a:xfrm>
          <a:prstGeom prst="rect">
            <a:avLst/>
          </a:prstGeom>
          <a:solidFill>
            <a:srgbClr val="2A2A2A"/>
          </a:solidFill>
          <a:ln w="6350">
            <a:solidFill>
              <a:srgbClr val="404040"/>
            </a:solidFill>
            <a:prstDash val="solid"/>
          </a:ln>
        </p:spPr>
      </p:sp>
      <p:sp>
        <p:nvSpPr>
          <p:cNvPr id="6" name="Shape 4"/>
          <p:cNvSpPr/>
          <p:nvPr/>
        </p:nvSpPr>
        <p:spPr>
          <a:xfrm>
            <a:off x="320040" y="1005840"/>
            <a:ext cx="54864" cy="1097280"/>
          </a:xfrm>
          <a:prstGeom prst="rect">
            <a:avLst/>
          </a:prstGeom>
          <a:solidFill>
            <a:srgbClr val="E34F26"/>
          </a:solidFill>
          <a:ln w="12700">
            <a:solidFill>
              <a:srgbClr val="E34F26"/>
            </a:solidFill>
            <a:prstDash val="solid"/>
          </a:ln>
        </p:spPr>
      </p:sp>
      <p:sp>
        <p:nvSpPr>
          <p:cNvPr id="7" name="Text 5"/>
          <p:cNvSpPr/>
          <p:nvPr/>
        </p:nvSpPr>
        <p:spPr>
          <a:xfrm>
            <a:off x="429768" y="106070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886968" y="1078992"/>
            <a:ext cx="2011680" cy="256032"/>
          </a:xfrm>
          <a:prstGeom prst="rect">
            <a:avLst/>
          </a:prstGeom>
          <a:noFill/>
          <a:ln/>
        </p:spPr>
        <p:txBody>
          <a:bodyPr wrap="square" lIns="0" tIns="0" rIns="0" bIns="0" rtlCol="0" anchor="ctr"/>
          <a:lstStyle/>
          <a:p>
            <a:pPr indent="0" marL="0">
              <a:buNone/>
            </a:pPr>
            <a:r>
              <a:rPr lang="en-US" sz="1200" b="1" dirty="0">
                <a:solidFill>
                  <a:srgbClr val="E34F26"/>
                </a:solidFill>
                <a:latin typeface="Calibri" pitchFamily="34" charset="0"/>
                <a:ea typeface="Calibri" pitchFamily="34" charset="-122"/>
                <a:cs typeface="Calibri" pitchFamily="34" charset="-120"/>
              </a:rPr>
              <a:t>HTML5</a:t>
            </a:r>
            <a:endParaRPr lang="en-US" sz="1200" dirty="0"/>
          </a:p>
        </p:txBody>
      </p:sp>
      <p:sp>
        <p:nvSpPr>
          <p:cNvPr id="9" name="Text 7"/>
          <p:cNvSpPr/>
          <p:nvPr/>
        </p:nvSpPr>
        <p:spPr>
          <a:xfrm>
            <a:off x="886968" y="132588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Frontend</a:t>
            </a:r>
            <a:endParaRPr lang="en-US" sz="800" dirty="0"/>
          </a:p>
        </p:txBody>
      </p:sp>
      <p:sp>
        <p:nvSpPr>
          <p:cNvPr id="10" name="Text 8"/>
          <p:cNvSpPr/>
          <p:nvPr/>
        </p:nvSpPr>
        <p:spPr>
          <a:xfrm>
            <a:off x="429768" y="157276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Semantic structure, forms, canvas for QR code generation</a:t>
            </a:r>
            <a:endParaRPr lang="en-US" sz="900" dirty="0"/>
          </a:p>
        </p:txBody>
      </p:sp>
      <p:sp>
        <p:nvSpPr>
          <p:cNvPr id="11" name="Shape 9"/>
          <p:cNvSpPr/>
          <p:nvPr/>
        </p:nvSpPr>
        <p:spPr>
          <a:xfrm>
            <a:off x="3200400" y="1005840"/>
            <a:ext cx="2697480" cy="1097280"/>
          </a:xfrm>
          <a:prstGeom prst="rect">
            <a:avLst/>
          </a:prstGeom>
          <a:solidFill>
            <a:srgbClr val="2A2A2A"/>
          </a:solidFill>
          <a:ln w="6350">
            <a:solidFill>
              <a:srgbClr val="404040"/>
            </a:solidFill>
            <a:prstDash val="solid"/>
          </a:ln>
        </p:spPr>
      </p:sp>
      <p:sp>
        <p:nvSpPr>
          <p:cNvPr id="12" name="Shape 10"/>
          <p:cNvSpPr/>
          <p:nvPr/>
        </p:nvSpPr>
        <p:spPr>
          <a:xfrm>
            <a:off x="3200400" y="1005840"/>
            <a:ext cx="54864" cy="1097280"/>
          </a:xfrm>
          <a:prstGeom prst="rect">
            <a:avLst/>
          </a:prstGeom>
          <a:solidFill>
            <a:srgbClr val="1572B6"/>
          </a:solidFill>
          <a:ln w="12700">
            <a:solidFill>
              <a:srgbClr val="1572B6"/>
            </a:solidFill>
            <a:prstDash val="solid"/>
          </a:ln>
        </p:spPr>
      </p:sp>
      <p:sp>
        <p:nvSpPr>
          <p:cNvPr id="13" name="Text 11"/>
          <p:cNvSpPr/>
          <p:nvPr/>
        </p:nvSpPr>
        <p:spPr>
          <a:xfrm>
            <a:off x="3310128" y="106070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4" name="Text 12"/>
          <p:cNvSpPr/>
          <p:nvPr/>
        </p:nvSpPr>
        <p:spPr>
          <a:xfrm>
            <a:off x="3767328" y="1078992"/>
            <a:ext cx="2011680" cy="256032"/>
          </a:xfrm>
          <a:prstGeom prst="rect">
            <a:avLst/>
          </a:prstGeom>
          <a:noFill/>
          <a:ln/>
        </p:spPr>
        <p:txBody>
          <a:bodyPr wrap="square" lIns="0" tIns="0" rIns="0" bIns="0" rtlCol="0" anchor="ctr"/>
          <a:lstStyle/>
          <a:p>
            <a:pPr indent="0" marL="0">
              <a:buNone/>
            </a:pPr>
            <a:r>
              <a:rPr lang="en-US" sz="1200" b="1" dirty="0">
                <a:solidFill>
                  <a:srgbClr val="1572B6"/>
                </a:solidFill>
                <a:latin typeface="Calibri" pitchFamily="34" charset="0"/>
                <a:ea typeface="Calibri" pitchFamily="34" charset="-122"/>
                <a:cs typeface="Calibri" pitchFamily="34" charset="-120"/>
              </a:rPr>
              <a:t>CSS3</a:t>
            </a:r>
            <a:endParaRPr lang="en-US" sz="1200" dirty="0"/>
          </a:p>
        </p:txBody>
      </p:sp>
      <p:sp>
        <p:nvSpPr>
          <p:cNvPr id="15" name="Text 13"/>
          <p:cNvSpPr/>
          <p:nvPr/>
        </p:nvSpPr>
        <p:spPr>
          <a:xfrm>
            <a:off x="3767328" y="132588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Frontend</a:t>
            </a:r>
            <a:endParaRPr lang="en-US" sz="800" dirty="0"/>
          </a:p>
        </p:txBody>
      </p:sp>
      <p:sp>
        <p:nvSpPr>
          <p:cNvPr id="16" name="Text 14"/>
          <p:cNvSpPr/>
          <p:nvPr/>
        </p:nvSpPr>
        <p:spPr>
          <a:xfrm>
            <a:off x="3310128" y="157276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Flexbox/Grid, animations, dark/light theme system</a:t>
            </a:r>
            <a:endParaRPr lang="en-US" sz="900" dirty="0"/>
          </a:p>
        </p:txBody>
      </p:sp>
      <p:sp>
        <p:nvSpPr>
          <p:cNvPr id="17" name="Shape 15"/>
          <p:cNvSpPr/>
          <p:nvPr/>
        </p:nvSpPr>
        <p:spPr>
          <a:xfrm>
            <a:off x="6080760" y="1005840"/>
            <a:ext cx="2697480" cy="1097280"/>
          </a:xfrm>
          <a:prstGeom prst="rect">
            <a:avLst/>
          </a:prstGeom>
          <a:solidFill>
            <a:srgbClr val="2A2A2A"/>
          </a:solidFill>
          <a:ln w="6350">
            <a:solidFill>
              <a:srgbClr val="404040"/>
            </a:solidFill>
            <a:prstDash val="solid"/>
          </a:ln>
        </p:spPr>
      </p:sp>
      <p:sp>
        <p:nvSpPr>
          <p:cNvPr id="18" name="Shape 16"/>
          <p:cNvSpPr/>
          <p:nvPr/>
        </p:nvSpPr>
        <p:spPr>
          <a:xfrm>
            <a:off x="6080760" y="1005840"/>
            <a:ext cx="54864" cy="1097280"/>
          </a:xfrm>
          <a:prstGeom prst="rect">
            <a:avLst/>
          </a:prstGeom>
          <a:solidFill>
            <a:srgbClr val="F7DF1E"/>
          </a:solidFill>
          <a:ln w="12700">
            <a:solidFill>
              <a:srgbClr val="F7DF1E"/>
            </a:solidFill>
            <a:prstDash val="solid"/>
          </a:ln>
        </p:spPr>
      </p:sp>
      <p:sp>
        <p:nvSpPr>
          <p:cNvPr id="19" name="Text 17"/>
          <p:cNvSpPr/>
          <p:nvPr/>
        </p:nvSpPr>
        <p:spPr>
          <a:xfrm>
            <a:off x="6190488" y="106070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6647688" y="1078992"/>
            <a:ext cx="2011680" cy="256032"/>
          </a:xfrm>
          <a:prstGeom prst="rect">
            <a:avLst/>
          </a:prstGeom>
          <a:noFill/>
          <a:ln/>
        </p:spPr>
        <p:txBody>
          <a:bodyPr wrap="square" lIns="0" tIns="0" rIns="0" bIns="0" rtlCol="0" anchor="ctr"/>
          <a:lstStyle/>
          <a:p>
            <a:pPr indent="0" marL="0">
              <a:buNone/>
            </a:pPr>
            <a:r>
              <a:rPr lang="en-US" sz="1200" b="1" dirty="0">
                <a:solidFill>
                  <a:srgbClr val="F7DF1E"/>
                </a:solidFill>
                <a:latin typeface="Calibri" pitchFamily="34" charset="0"/>
                <a:ea typeface="Calibri" pitchFamily="34" charset="-122"/>
                <a:cs typeface="Calibri" pitchFamily="34" charset="-120"/>
              </a:rPr>
              <a:t>JavaScript ES6+</a:t>
            </a:r>
            <a:endParaRPr lang="en-US" sz="1200" dirty="0"/>
          </a:p>
        </p:txBody>
      </p:sp>
      <p:sp>
        <p:nvSpPr>
          <p:cNvPr id="21" name="Text 19"/>
          <p:cNvSpPr/>
          <p:nvPr/>
        </p:nvSpPr>
        <p:spPr>
          <a:xfrm>
            <a:off x="6647688" y="132588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Frontend</a:t>
            </a:r>
            <a:endParaRPr lang="en-US" sz="800" dirty="0"/>
          </a:p>
        </p:txBody>
      </p:sp>
      <p:sp>
        <p:nvSpPr>
          <p:cNvPr id="22" name="Text 20"/>
          <p:cNvSpPr/>
          <p:nvPr/>
        </p:nvSpPr>
        <p:spPr>
          <a:xfrm>
            <a:off x="6190488" y="157276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Seat logic, API calls, booking flow, validation</a:t>
            </a:r>
            <a:endParaRPr lang="en-US" sz="900" dirty="0"/>
          </a:p>
        </p:txBody>
      </p:sp>
      <p:sp>
        <p:nvSpPr>
          <p:cNvPr id="23" name="Shape 21"/>
          <p:cNvSpPr/>
          <p:nvPr/>
        </p:nvSpPr>
        <p:spPr>
          <a:xfrm>
            <a:off x="320040" y="2240280"/>
            <a:ext cx="2697480" cy="1097280"/>
          </a:xfrm>
          <a:prstGeom prst="rect">
            <a:avLst/>
          </a:prstGeom>
          <a:solidFill>
            <a:srgbClr val="2A2A2A"/>
          </a:solidFill>
          <a:ln w="6350">
            <a:solidFill>
              <a:srgbClr val="404040"/>
            </a:solidFill>
            <a:prstDash val="solid"/>
          </a:ln>
        </p:spPr>
      </p:sp>
      <p:sp>
        <p:nvSpPr>
          <p:cNvPr id="24" name="Shape 22"/>
          <p:cNvSpPr/>
          <p:nvPr/>
        </p:nvSpPr>
        <p:spPr>
          <a:xfrm>
            <a:off x="320040" y="2240280"/>
            <a:ext cx="54864" cy="1097280"/>
          </a:xfrm>
          <a:prstGeom prst="rect">
            <a:avLst/>
          </a:prstGeom>
          <a:solidFill>
            <a:srgbClr val="339933"/>
          </a:solidFill>
          <a:ln w="12700">
            <a:solidFill>
              <a:srgbClr val="339933"/>
            </a:solidFill>
            <a:prstDash val="solid"/>
          </a:ln>
        </p:spPr>
      </p:sp>
      <p:sp>
        <p:nvSpPr>
          <p:cNvPr id="25" name="Text 23"/>
          <p:cNvSpPr/>
          <p:nvPr/>
        </p:nvSpPr>
        <p:spPr>
          <a:xfrm>
            <a:off x="429768" y="229514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6" name="Text 24"/>
          <p:cNvSpPr/>
          <p:nvPr/>
        </p:nvSpPr>
        <p:spPr>
          <a:xfrm>
            <a:off x="886968" y="2313432"/>
            <a:ext cx="2011680" cy="256032"/>
          </a:xfrm>
          <a:prstGeom prst="rect">
            <a:avLst/>
          </a:prstGeom>
          <a:noFill/>
          <a:ln/>
        </p:spPr>
        <p:txBody>
          <a:bodyPr wrap="square" lIns="0" tIns="0" rIns="0" bIns="0" rtlCol="0" anchor="ctr"/>
          <a:lstStyle/>
          <a:p>
            <a:pPr indent="0" marL="0">
              <a:buNone/>
            </a:pPr>
            <a:r>
              <a:rPr lang="en-US" sz="1200" b="1" dirty="0">
                <a:solidFill>
                  <a:srgbClr val="339933"/>
                </a:solidFill>
                <a:latin typeface="Calibri" pitchFamily="34" charset="0"/>
                <a:ea typeface="Calibri" pitchFamily="34" charset="-122"/>
                <a:cs typeface="Calibri" pitchFamily="34" charset="-120"/>
              </a:rPr>
              <a:t>Node.js + Express</a:t>
            </a:r>
            <a:endParaRPr lang="en-US" sz="1200" dirty="0"/>
          </a:p>
        </p:txBody>
      </p:sp>
      <p:sp>
        <p:nvSpPr>
          <p:cNvPr id="27" name="Text 25"/>
          <p:cNvSpPr/>
          <p:nvPr/>
        </p:nvSpPr>
        <p:spPr>
          <a:xfrm>
            <a:off x="886968" y="256032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Backend</a:t>
            </a:r>
            <a:endParaRPr lang="en-US" sz="800" dirty="0"/>
          </a:p>
        </p:txBody>
      </p:sp>
      <p:sp>
        <p:nvSpPr>
          <p:cNvPr id="28" name="Text 26"/>
          <p:cNvSpPr/>
          <p:nvPr/>
        </p:nvSpPr>
        <p:spPr>
          <a:xfrm>
            <a:off x="429768" y="280720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Backend server, REST API, JSON file storage, sessions</a:t>
            </a:r>
            <a:endParaRPr lang="en-US" sz="900" dirty="0"/>
          </a:p>
        </p:txBody>
      </p:sp>
      <p:sp>
        <p:nvSpPr>
          <p:cNvPr id="29" name="Shape 27"/>
          <p:cNvSpPr/>
          <p:nvPr/>
        </p:nvSpPr>
        <p:spPr>
          <a:xfrm>
            <a:off x="3200400" y="2240280"/>
            <a:ext cx="2697480" cy="1097280"/>
          </a:xfrm>
          <a:prstGeom prst="rect">
            <a:avLst/>
          </a:prstGeom>
          <a:solidFill>
            <a:srgbClr val="2A2A2A"/>
          </a:solidFill>
          <a:ln w="6350">
            <a:solidFill>
              <a:srgbClr val="404040"/>
            </a:solidFill>
            <a:prstDash val="solid"/>
          </a:ln>
        </p:spPr>
      </p:sp>
      <p:sp>
        <p:nvSpPr>
          <p:cNvPr id="30" name="Shape 28"/>
          <p:cNvSpPr/>
          <p:nvPr/>
        </p:nvSpPr>
        <p:spPr>
          <a:xfrm>
            <a:off x="3200400" y="2240280"/>
            <a:ext cx="54864" cy="1097280"/>
          </a:xfrm>
          <a:prstGeom prst="rect">
            <a:avLst/>
          </a:prstGeom>
          <a:solidFill>
            <a:srgbClr val="CC785C"/>
          </a:solidFill>
          <a:ln w="12700">
            <a:solidFill>
              <a:srgbClr val="CC785C"/>
            </a:solidFill>
            <a:prstDash val="solid"/>
          </a:ln>
        </p:spPr>
      </p:sp>
      <p:sp>
        <p:nvSpPr>
          <p:cNvPr id="31" name="Text 29"/>
          <p:cNvSpPr/>
          <p:nvPr/>
        </p:nvSpPr>
        <p:spPr>
          <a:xfrm>
            <a:off x="3310128" y="229514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2" name="Text 30"/>
          <p:cNvSpPr/>
          <p:nvPr/>
        </p:nvSpPr>
        <p:spPr>
          <a:xfrm>
            <a:off x="3767328" y="2313432"/>
            <a:ext cx="2011680" cy="256032"/>
          </a:xfrm>
          <a:prstGeom prst="rect">
            <a:avLst/>
          </a:prstGeom>
          <a:noFill/>
          <a:ln/>
        </p:spPr>
        <p:txBody>
          <a:bodyPr wrap="square" lIns="0" tIns="0" rIns="0" bIns="0" rtlCol="0" anchor="ctr"/>
          <a:lstStyle/>
          <a:p>
            <a:pPr indent="0" marL="0">
              <a:buNone/>
            </a:pPr>
            <a:r>
              <a:rPr lang="en-US" sz="1200" b="1" dirty="0">
                <a:solidFill>
                  <a:srgbClr val="CC785C"/>
                </a:solidFill>
                <a:latin typeface="Calibri" pitchFamily="34" charset="0"/>
                <a:ea typeface="Calibri" pitchFamily="34" charset="-122"/>
                <a:cs typeface="Calibri" pitchFamily="34" charset="-120"/>
              </a:rPr>
              <a:t>Claude AI</a:t>
            </a:r>
            <a:endParaRPr lang="en-US" sz="1200" dirty="0"/>
          </a:p>
        </p:txBody>
      </p:sp>
      <p:sp>
        <p:nvSpPr>
          <p:cNvPr id="33" name="Text 31"/>
          <p:cNvSpPr/>
          <p:nvPr/>
        </p:nvSpPr>
        <p:spPr>
          <a:xfrm>
            <a:off x="3767328" y="256032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AI Tool</a:t>
            </a:r>
            <a:endParaRPr lang="en-US" sz="800" dirty="0"/>
          </a:p>
        </p:txBody>
      </p:sp>
      <p:sp>
        <p:nvSpPr>
          <p:cNvPr id="34" name="Text 32"/>
          <p:cNvSpPr/>
          <p:nvPr/>
        </p:nvSpPr>
        <p:spPr>
          <a:xfrm>
            <a:off x="3310128" y="280720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All code generated via structured prompts — Anthropic</a:t>
            </a:r>
            <a:endParaRPr lang="en-US" sz="900" dirty="0"/>
          </a:p>
        </p:txBody>
      </p:sp>
      <p:sp>
        <p:nvSpPr>
          <p:cNvPr id="35" name="Shape 33"/>
          <p:cNvSpPr/>
          <p:nvPr/>
        </p:nvSpPr>
        <p:spPr>
          <a:xfrm>
            <a:off x="6080760" y="2240280"/>
            <a:ext cx="2697480" cy="1097280"/>
          </a:xfrm>
          <a:prstGeom prst="rect">
            <a:avLst/>
          </a:prstGeom>
          <a:solidFill>
            <a:srgbClr val="2A2A2A"/>
          </a:solidFill>
          <a:ln w="6350">
            <a:solidFill>
              <a:srgbClr val="404040"/>
            </a:solidFill>
            <a:prstDash val="solid"/>
          </a:ln>
        </p:spPr>
      </p:sp>
      <p:sp>
        <p:nvSpPr>
          <p:cNvPr id="36" name="Shape 34"/>
          <p:cNvSpPr/>
          <p:nvPr/>
        </p:nvSpPr>
        <p:spPr>
          <a:xfrm>
            <a:off x="6080760" y="2240280"/>
            <a:ext cx="54864" cy="1097280"/>
          </a:xfrm>
          <a:prstGeom prst="rect">
            <a:avLst/>
          </a:prstGeom>
          <a:solidFill>
            <a:srgbClr val="007ACC"/>
          </a:solidFill>
          <a:ln w="12700">
            <a:solidFill>
              <a:srgbClr val="007ACC"/>
            </a:solidFill>
            <a:prstDash val="solid"/>
          </a:ln>
        </p:spPr>
      </p:sp>
      <p:sp>
        <p:nvSpPr>
          <p:cNvPr id="37" name="Text 35"/>
          <p:cNvSpPr/>
          <p:nvPr/>
        </p:nvSpPr>
        <p:spPr>
          <a:xfrm>
            <a:off x="6190488" y="229514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38" name="Text 36"/>
          <p:cNvSpPr/>
          <p:nvPr/>
        </p:nvSpPr>
        <p:spPr>
          <a:xfrm>
            <a:off x="6647688" y="2313432"/>
            <a:ext cx="2011680" cy="256032"/>
          </a:xfrm>
          <a:prstGeom prst="rect">
            <a:avLst/>
          </a:prstGeom>
          <a:noFill/>
          <a:ln/>
        </p:spPr>
        <p:txBody>
          <a:bodyPr wrap="square" lIns="0" tIns="0" rIns="0" bIns="0" rtlCol="0" anchor="ctr"/>
          <a:lstStyle/>
          <a:p>
            <a:pPr indent="0" marL="0">
              <a:buNone/>
            </a:pPr>
            <a:r>
              <a:rPr lang="en-US" sz="1200" b="1" dirty="0">
                <a:solidFill>
                  <a:srgbClr val="007ACC"/>
                </a:solidFill>
                <a:latin typeface="Calibri" pitchFamily="34" charset="0"/>
                <a:ea typeface="Calibri" pitchFamily="34" charset="-122"/>
                <a:cs typeface="Calibri" pitchFamily="34" charset="-120"/>
              </a:rPr>
              <a:t>VS Code</a:t>
            </a:r>
            <a:endParaRPr lang="en-US" sz="1200" dirty="0"/>
          </a:p>
        </p:txBody>
      </p:sp>
      <p:sp>
        <p:nvSpPr>
          <p:cNvPr id="39" name="Text 37"/>
          <p:cNvSpPr/>
          <p:nvPr/>
        </p:nvSpPr>
        <p:spPr>
          <a:xfrm>
            <a:off x="6647688" y="256032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Dev Tool</a:t>
            </a:r>
            <a:endParaRPr lang="en-US" sz="800" dirty="0"/>
          </a:p>
        </p:txBody>
      </p:sp>
      <p:sp>
        <p:nvSpPr>
          <p:cNvPr id="40" name="Text 38"/>
          <p:cNvSpPr/>
          <p:nvPr/>
        </p:nvSpPr>
        <p:spPr>
          <a:xfrm>
            <a:off x="6190488" y="280720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Primary IDE with Live Server &amp; GitHub extensions</a:t>
            </a:r>
            <a:endParaRPr lang="en-US" sz="900" dirty="0"/>
          </a:p>
        </p:txBody>
      </p:sp>
      <p:sp>
        <p:nvSpPr>
          <p:cNvPr id="41" name="Shape 39"/>
          <p:cNvSpPr/>
          <p:nvPr/>
        </p:nvSpPr>
        <p:spPr>
          <a:xfrm>
            <a:off x="320040" y="3474720"/>
            <a:ext cx="2697480" cy="1097280"/>
          </a:xfrm>
          <a:prstGeom prst="rect">
            <a:avLst/>
          </a:prstGeom>
          <a:solidFill>
            <a:srgbClr val="2A2A2A"/>
          </a:solidFill>
          <a:ln w="6350">
            <a:solidFill>
              <a:srgbClr val="404040"/>
            </a:solidFill>
            <a:prstDash val="solid"/>
          </a:ln>
        </p:spPr>
      </p:sp>
      <p:sp>
        <p:nvSpPr>
          <p:cNvPr id="42" name="Shape 40"/>
          <p:cNvSpPr/>
          <p:nvPr/>
        </p:nvSpPr>
        <p:spPr>
          <a:xfrm>
            <a:off x="320040" y="3474720"/>
            <a:ext cx="54864" cy="1097280"/>
          </a:xfrm>
          <a:prstGeom prst="rect">
            <a:avLst/>
          </a:prstGeom>
          <a:solidFill>
            <a:srgbClr val="F05032"/>
          </a:solidFill>
          <a:ln w="12700">
            <a:solidFill>
              <a:srgbClr val="F05032"/>
            </a:solidFill>
            <a:prstDash val="solid"/>
          </a:ln>
        </p:spPr>
      </p:sp>
      <p:sp>
        <p:nvSpPr>
          <p:cNvPr id="43" name="Text 41"/>
          <p:cNvSpPr/>
          <p:nvPr/>
        </p:nvSpPr>
        <p:spPr>
          <a:xfrm>
            <a:off x="429768" y="352958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44" name="Text 42"/>
          <p:cNvSpPr/>
          <p:nvPr/>
        </p:nvSpPr>
        <p:spPr>
          <a:xfrm>
            <a:off x="886968" y="3547872"/>
            <a:ext cx="2011680" cy="256032"/>
          </a:xfrm>
          <a:prstGeom prst="rect">
            <a:avLst/>
          </a:prstGeom>
          <a:noFill/>
          <a:ln/>
        </p:spPr>
        <p:txBody>
          <a:bodyPr wrap="square" lIns="0" tIns="0" rIns="0" bIns="0" rtlCol="0" anchor="ctr"/>
          <a:lstStyle/>
          <a:p>
            <a:pPr indent="0" marL="0">
              <a:buNone/>
            </a:pPr>
            <a:r>
              <a:rPr lang="en-US" sz="1200" b="1" dirty="0">
                <a:solidFill>
                  <a:srgbClr val="F05032"/>
                </a:solidFill>
                <a:latin typeface="Calibri" pitchFamily="34" charset="0"/>
                <a:ea typeface="Calibri" pitchFamily="34" charset="-122"/>
                <a:cs typeface="Calibri" pitchFamily="34" charset="-120"/>
              </a:rPr>
              <a:t>Git / GitHub</a:t>
            </a:r>
            <a:endParaRPr lang="en-US" sz="1200" dirty="0"/>
          </a:p>
        </p:txBody>
      </p:sp>
      <p:sp>
        <p:nvSpPr>
          <p:cNvPr id="45" name="Text 43"/>
          <p:cNvSpPr/>
          <p:nvPr/>
        </p:nvSpPr>
        <p:spPr>
          <a:xfrm>
            <a:off x="886968" y="379476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Dev Tool</a:t>
            </a:r>
            <a:endParaRPr lang="en-US" sz="800" dirty="0"/>
          </a:p>
        </p:txBody>
      </p:sp>
      <p:sp>
        <p:nvSpPr>
          <p:cNvPr id="46" name="Text 44"/>
          <p:cNvSpPr/>
          <p:nvPr/>
        </p:nvSpPr>
        <p:spPr>
          <a:xfrm>
            <a:off x="429768" y="404164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Version control &amp; source code repository</a:t>
            </a:r>
            <a:endParaRPr lang="en-US" sz="900" dirty="0"/>
          </a:p>
        </p:txBody>
      </p:sp>
      <p:sp>
        <p:nvSpPr>
          <p:cNvPr id="47" name="Shape 45"/>
          <p:cNvSpPr/>
          <p:nvPr/>
        </p:nvSpPr>
        <p:spPr>
          <a:xfrm>
            <a:off x="3200400" y="3474720"/>
            <a:ext cx="2697480" cy="1097280"/>
          </a:xfrm>
          <a:prstGeom prst="rect">
            <a:avLst/>
          </a:prstGeom>
          <a:solidFill>
            <a:srgbClr val="2A2A2A"/>
          </a:solidFill>
          <a:ln w="6350">
            <a:solidFill>
              <a:srgbClr val="404040"/>
            </a:solidFill>
            <a:prstDash val="solid"/>
          </a:ln>
        </p:spPr>
      </p:sp>
      <p:sp>
        <p:nvSpPr>
          <p:cNvPr id="48" name="Shape 46"/>
          <p:cNvSpPr/>
          <p:nvPr/>
        </p:nvSpPr>
        <p:spPr>
          <a:xfrm>
            <a:off x="3200400" y="3474720"/>
            <a:ext cx="54864" cy="1097280"/>
          </a:xfrm>
          <a:prstGeom prst="rect">
            <a:avLst/>
          </a:prstGeom>
          <a:solidFill>
            <a:srgbClr val="01B4E4"/>
          </a:solidFill>
          <a:ln w="12700">
            <a:solidFill>
              <a:srgbClr val="01B4E4"/>
            </a:solidFill>
            <a:prstDash val="solid"/>
          </a:ln>
        </p:spPr>
      </p:sp>
      <p:sp>
        <p:nvSpPr>
          <p:cNvPr id="49" name="Text 47"/>
          <p:cNvSpPr/>
          <p:nvPr/>
        </p:nvSpPr>
        <p:spPr>
          <a:xfrm>
            <a:off x="3310128" y="352958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50" name="Text 48"/>
          <p:cNvSpPr/>
          <p:nvPr/>
        </p:nvSpPr>
        <p:spPr>
          <a:xfrm>
            <a:off x="3767328" y="3547872"/>
            <a:ext cx="2011680" cy="256032"/>
          </a:xfrm>
          <a:prstGeom prst="rect">
            <a:avLst/>
          </a:prstGeom>
          <a:noFill/>
          <a:ln/>
        </p:spPr>
        <p:txBody>
          <a:bodyPr wrap="square" lIns="0" tIns="0" rIns="0" bIns="0" rtlCol="0" anchor="ctr"/>
          <a:lstStyle/>
          <a:p>
            <a:pPr indent="0" marL="0">
              <a:buNone/>
            </a:pPr>
            <a:r>
              <a:rPr lang="en-US" sz="1200" b="1" dirty="0">
                <a:solidFill>
                  <a:srgbClr val="01B4E4"/>
                </a:solidFill>
                <a:latin typeface="Calibri" pitchFamily="34" charset="0"/>
                <a:ea typeface="Calibri" pitchFamily="34" charset="-122"/>
                <a:cs typeface="Calibri" pitchFamily="34" charset="-120"/>
              </a:rPr>
              <a:t>TMDB / YouTube</a:t>
            </a:r>
            <a:endParaRPr lang="en-US" sz="1200" dirty="0"/>
          </a:p>
        </p:txBody>
      </p:sp>
      <p:sp>
        <p:nvSpPr>
          <p:cNvPr id="51" name="Text 49"/>
          <p:cNvSpPr/>
          <p:nvPr/>
        </p:nvSpPr>
        <p:spPr>
          <a:xfrm>
            <a:off x="3767328" y="379476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Data Source</a:t>
            </a:r>
            <a:endParaRPr lang="en-US" sz="800" dirty="0"/>
          </a:p>
        </p:txBody>
      </p:sp>
      <p:sp>
        <p:nvSpPr>
          <p:cNvPr id="52" name="Text 50"/>
          <p:cNvSpPr/>
          <p:nvPr/>
        </p:nvSpPr>
        <p:spPr>
          <a:xfrm>
            <a:off x="3310128" y="404164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Movie poster images &amp; trailer search links</a:t>
            </a:r>
            <a:endParaRPr lang="en-US" sz="900" dirty="0"/>
          </a:p>
        </p:txBody>
      </p:sp>
      <p:sp>
        <p:nvSpPr>
          <p:cNvPr id="53" name="Shape 51"/>
          <p:cNvSpPr/>
          <p:nvPr/>
        </p:nvSpPr>
        <p:spPr>
          <a:xfrm>
            <a:off x="6080760" y="3474720"/>
            <a:ext cx="2697480" cy="1097280"/>
          </a:xfrm>
          <a:prstGeom prst="rect">
            <a:avLst/>
          </a:prstGeom>
          <a:solidFill>
            <a:srgbClr val="2A2A2A"/>
          </a:solidFill>
          <a:ln w="6350">
            <a:solidFill>
              <a:srgbClr val="404040"/>
            </a:solidFill>
            <a:prstDash val="solid"/>
          </a:ln>
        </p:spPr>
      </p:sp>
      <p:sp>
        <p:nvSpPr>
          <p:cNvPr id="54" name="Shape 52"/>
          <p:cNvSpPr/>
          <p:nvPr/>
        </p:nvSpPr>
        <p:spPr>
          <a:xfrm>
            <a:off x="6080760" y="3474720"/>
            <a:ext cx="54864" cy="1097280"/>
          </a:xfrm>
          <a:prstGeom prst="rect">
            <a:avLst/>
          </a:prstGeom>
          <a:solidFill>
            <a:srgbClr val="00AD9F"/>
          </a:solidFill>
          <a:ln w="12700">
            <a:solidFill>
              <a:srgbClr val="00AD9F"/>
            </a:solidFill>
            <a:prstDash val="solid"/>
          </a:ln>
        </p:spPr>
      </p:sp>
      <p:sp>
        <p:nvSpPr>
          <p:cNvPr id="55" name="Text 53"/>
          <p:cNvSpPr/>
          <p:nvPr/>
        </p:nvSpPr>
        <p:spPr>
          <a:xfrm>
            <a:off x="6190488" y="3529584"/>
            <a:ext cx="411480" cy="41148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56" name="Text 54"/>
          <p:cNvSpPr/>
          <p:nvPr/>
        </p:nvSpPr>
        <p:spPr>
          <a:xfrm>
            <a:off x="6647688" y="3547872"/>
            <a:ext cx="2011680" cy="256032"/>
          </a:xfrm>
          <a:prstGeom prst="rect">
            <a:avLst/>
          </a:prstGeom>
          <a:noFill/>
          <a:ln/>
        </p:spPr>
        <p:txBody>
          <a:bodyPr wrap="square" lIns="0" tIns="0" rIns="0" bIns="0" rtlCol="0" anchor="ctr"/>
          <a:lstStyle/>
          <a:p>
            <a:pPr indent="0" marL="0">
              <a:buNone/>
            </a:pPr>
            <a:r>
              <a:rPr lang="en-US" sz="1200" b="1" dirty="0">
                <a:solidFill>
                  <a:srgbClr val="00AD9F"/>
                </a:solidFill>
                <a:latin typeface="Calibri" pitchFamily="34" charset="0"/>
                <a:ea typeface="Calibri" pitchFamily="34" charset="-122"/>
                <a:cs typeface="Calibri" pitchFamily="34" charset="-120"/>
              </a:rPr>
              <a:t>Netlify / Render</a:t>
            </a:r>
            <a:endParaRPr lang="en-US" sz="1200" dirty="0"/>
          </a:p>
        </p:txBody>
      </p:sp>
      <p:sp>
        <p:nvSpPr>
          <p:cNvPr id="57" name="Text 55"/>
          <p:cNvSpPr/>
          <p:nvPr/>
        </p:nvSpPr>
        <p:spPr>
          <a:xfrm>
            <a:off x="6647688" y="3794760"/>
            <a:ext cx="2011680" cy="164592"/>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Hosting</a:t>
            </a:r>
            <a:endParaRPr lang="en-US" sz="800" dirty="0"/>
          </a:p>
        </p:txBody>
      </p:sp>
      <p:sp>
        <p:nvSpPr>
          <p:cNvPr id="58" name="Text 56"/>
          <p:cNvSpPr/>
          <p:nvPr/>
        </p:nvSpPr>
        <p:spPr>
          <a:xfrm>
            <a:off x="6190488" y="4041648"/>
            <a:ext cx="2514600" cy="457200"/>
          </a:xfrm>
          <a:prstGeom prst="rect">
            <a:avLst/>
          </a:prstGeom>
          <a:noFill/>
          <a:ln/>
        </p:spPr>
        <p:txBody>
          <a:bodyPr wrap="square" rtlCol="0" anchor="ctr"/>
          <a:lstStyle/>
          <a:p>
            <a:pPr indent="0" marL="0">
              <a:buNone/>
            </a:pPr>
            <a:r>
              <a:rPr lang="en-US" sz="900" dirty="0">
                <a:solidFill>
                  <a:srgbClr val="F5F5F5"/>
                </a:solidFill>
                <a:latin typeface="Calibri" pitchFamily="34" charset="0"/>
                <a:ea typeface="Calibri" pitchFamily="34" charset="-122"/>
                <a:cs typeface="Calibri" pitchFamily="34" charset="-120"/>
              </a:rPr>
              <a:t>Free hosting for frontend &amp; backend deployment</a:t>
            </a:r>
            <a:endParaRPr lang="en-US" sz="900" dirty="0"/>
          </a:p>
        </p:txBody>
      </p:sp>
      <p:sp>
        <p:nvSpPr>
          <p:cNvPr id="59" name="Shape 57"/>
          <p:cNvSpPr/>
          <p:nvPr/>
        </p:nvSpPr>
        <p:spPr>
          <a:xfrm>
            <a:off x="0" y="4846320"/>
            <a:ext cx="9144000" cy="297180"/>
          </a:xfrm>
          <a:prstGeom prst="rect">
            <a:avLst/>
          </a:prstGeom>
          <a:solidFill>
            <a:srgbClr val="1A1A1A"/>
          </a:solidFill>
          <a:ln w="12700">
            <a:solidFill>
              <a:srgbClr val="1A1A1A"/>
            </a:solidFill>
            <a:prstDash val="solid"/>
          </a:ln>
        </p:spPr>
      </p:sp>
      <p:sp>
        <p:nvSpPr>
          <p:cNvPr id="60" name="Shape 58"/>
          <p:cNvSpPr/>
          <p:nvPr/>
        </p:nvSpPr>
        <p:spPr>
          <a:xfrm>
            <a:off x="0" y="4846320"/>
            <a:ext cx="9144000" cy="18288"/>
          </a:xfrm>
          <a:prstGeom prst="rect">
            <a:avLst/>
          </a:prstGeom>
          <a:solidFill>
            <a:srgbClr val="D4AF37"/>
          </a:solidFill>
          <a:ln w="12700">
            <a:solidFill>
              <a:srgbClr val="D4AF37"/>
            </a:solidFill>
            <a:prstDash val="solid"/>
          </a:ln>
        </p:spPr>
      </p:sp>
      <p:sp>
        <p:nvSpPr>
          <p:cNvPr id="61" name="Text 5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62" name="Shape 60"/>
          <p:cNvSpPr/>
          <p:nvPr/>
        </p:nvSpPr>
        <p:spPr>
          <a:xfrm>
            <a:off x="8686800" y="91440"/>
            <a:ext cx="320040" cy="320040"/>
          </a:xfrm>
          <a:prstGeom prst="ellipse">
            <a:avLst/>
          </a:prstGeom>
          <a:solidFill>
            <a:srgbClr val="D4AF37"/>
          </a:solidFill>
          <a:ln w="12700">
            <a:solidFill>
              <a:srgbClr val="D4AF37"/>
            </a:solidFill>
            <a:prstDash val="solid"/>
          </a:ln>
        </p:spPr>
      </p:sp>
      <p:sp>
        <p:nvSpPr>
          <p:cNvPr id="63" name="Text 6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AI Prompts Used — Part 1 of 3</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All prompts submitted to Claude AI (Anthropic) during development</a:t>
            </a:r>
            <a:endParaRPr lang="en-US" sz="1100" dirty="0"/>
          </a:p>
        </p:txBody>
      </p:sp>
      <p:sp>
        <p:nvSpPr>
          <p:cNvPr id="5" name="Shape 3"/>
          <p:cNvSpPr/>
          <p:nvPr/>
        </p:nvSpPr>
        <p:spPr>
          <a:xfrm>
            <a:off x="365760" y="1005840"/>
            <a:ext cx="8412480" cy="868680"/>
          </a:xfrm>
          <a:prstGeom prst="rect">
            <a:avLst/>
          </a:prstGeom>
          <a:solidFill>
            <a:srgbClr val="2A2A2A"/>
          </a:solidFill>
          <a:ln w="6350">
            <a:solidFill>
              <a:srgbClr val="404040"/>
            </a:solidFill>
            <a:prstDash val="solid"/>
          </a:ln>
        </p:spPr>
      </p:sp>
      <p:sp>
        <p:nvSpPr>
          <p:cNvPr id="6" name="Shape 4"/>
          <p:cNvSpPr/>
          <p:nvPr/>
        </p:nvSpPr>
        <p:spPr>
          <a:xfrm>
            <a:off x="365760" y="1005840"/>
            <a:ext cx="54864" cy="868680"/>
          </a:xfrm>
          <a:prstGeom prst="rect">
            <a:avLst/>
          </a:prstGeom>
          <a:solidFill>
            <a:srgbClr val="D4AF37"/>
          </a:solidFill>
          <a:ln w="12700">
            <a:solidFill>
              <a:srgbClr val="D4AF37"/>
            </a:solidFill>
            <a:prstDash val="solid"/>
          </a:ln>
        </p:spPr>
      </p:sp>
      <p:sp>
        <p:nvSpPr>
          <p:cNvPr id="7" name="Shape 5"/>
          <p:cNvSpPr/>
          <p:nvPr/>
        </p:nvSpPr>
        <p:spPr>
          <a:xfrm>
            <a:off x="420624" y="1078992"/>
            <a:ext cx="502920" cy="502920"/>
          </a:xfrm>
          <a:prstGeom prst="rect">
            <a:avLst/>
          </a:prstGeom>
          <a:solidFill>
            <a:srgbClr val="0A0A0A"/>
          </a:solidFill>
          <a:ln w="12700">
            <a:solidFill>
              <a:srgbClr val="D4AF37"/>
            </a:solidFill>
            <a:prstDash val="solid"/>
          </a:ln>
        </p:spPr>
      </p:sp>
      <p:sp>
        <p:nvSpPr>
          <p:cNvPr id="8" name="Text 6"/>
          <p:cNvSpPr/>
          <p:nvPr/>
        </p:nvSpPr>
        <p:spPr>
          <a:xfrm>
            <a:off x="420624" y="107899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01</a:t>
            </a:r>
            <a:endParaRPr lang="en-US" sz="1400" dirty="0"/>
          </a:p>
        </p:txBody>
      </p:sp>
      <p:sp>
        <p:nvSpPr>
          <p:cNvPr id="9" name="Text 7"/>
          <p:cNvSpPr/>
          <p:nvPr/>
        </p:nvSpPr>
        <p:spPr>
          <a:xfrm>
            <a:off x="1005840" y="106984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01 — Page Structure &amp; Layout</a:t>
            </a:r>
            <a:endParaRPr lang="en-US" sz="1150" dirty="0"/>
          </a:p>
        </p:txBody>
      </p:sp>
      <p:sp>
        <p:nvSpPr>
          <p:cNvPr id="10" name="Text 8"/>
          <p:cNvSpPr/>
          <p:nvPr/>
        </p:nvSpPr>
        <p:spPr>
          <a:xfrm>
            <a:off x="1005840" y="134416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"Create an HTML and CSS layout for a movie booking homepage with a navigation bar, hero section with a featured movie banner, and a responsive grid of movie cards showing title, genre, rating, and a Book Now button."</a:t>
            </a:r>
            <a:endParaRPr lang="en-US" sz="950" dirty="0"/>
          </a:p>
        </p:txBody>
      </p:sp>
      <p:sp>
        <p:nvSpPr>
          <p:cNvPr id="11" name="Shape 9"/>
          <p:cNvSpPr/>
          <p:nvPr/>
        </p:nvSpPr>
        <p:spPr>
          <a:xfrm>
            <a:off x="365760" y="1965960"/>
            <a:ext cx="8412480" cy="868680"/>
          </a:xfrm>
          <a:prstGeom prst="rect">
            <a:avLst/>
          </a:prstGeom>
          <a:solidFill>
            <a:srgbClr val="2A2A2A"/>
          </a:solidFill>
          <a:ln w="6350">
            <a:solidFill>
              <a:srgbClr val="404040"/>
            </a:solidFill>
            <a:prstDash val="solid"/>
          </a:ln>
        </p:spPr>
      </p:sp>
      <p:sp>
        <p:nvSpPr>
          <p:cNvPr id="12" name="Shape 10"/>
          <p:cNvSpPr/>
          <p:nvPr/>
        </p:nvSpPr>
        <p:spPr>
          <a:xfrm>
            <a:off x="365760" y="1965960"/>
            <a:ext cx="54864" cy="868680"/>
          </a:xfrm>
          <a:prstGeom prst="rect">
            <a:avLst/>
          </a:prstGeom>
          <a:solidFill>
            <a:srgbClr val="D4AF37"/>
          </a:solidFill>
          <a:ln w="12700">
            <a:solidFill>
              <a:srgbClr val="D4AF37"/>
            </a:solidFill>
            <a:prstDash val="solid"/>
          </a:ln>
        </p:spPr>
      </p:sp>
      <p:sp>
        <p:nvSpPr>
          <p:cNvPr id="13" name="Shape 11"/>
          <p:cNvSpPr/>
          <p:nvPr/>
        </p:nvSpPr>
        <p:spPr>
          <a:xfrm>
            <a:off x="420624" y="2039112"/>
            <a:ext cx="502920" cy="502920"/>
          </a:xfrm>
          <a:prstGeom prst="rect">
            <a:avLst/>
          </a:prstGeom>
          <a:solidFill>
            <a:srgbClr val="0A0A0A"/>
          </a:solidFill>
          <a:ln w="12700">
            <a:solidFill>
              <a:srgbClr val="D4AF37"/>
            </a:solidFill>
            <a:prstDash val="solid"/>
          </a:ln>
        </p:spPr>
      </p:sp>
      <p:sp>
        <p:nvSpPr>
          <p:cNvPr id="14" name="Text 12"/>
          <p:cNvSpPr/>
          <p:nvPr/>
        </p:nvSpPr>
        <p:spPr>
          <a:xfrm>
            <a:off x="420624" y="203911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02</a:t>
            </a:r>
            <a:endParaRPr lang="en-US" sz="1400" dirty="0"/>
          </a:p>
        </p:txBody>
      </p:sp>
      <p:sp>
        <p:nvSpPr>
          <p:cNvPr id="15" name="Text 13"/>
          <p:cNvSpPr/>
          <p:nvPr/>
        </p:nvSpPr>
        <p:spPr>
          <a:xfrm>
            <a:off x="1005840" y="202996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02 — Seat Selection Interface</a:t>
            </a:r>
            <a:endParaRPr lang="en-US" sz="1150" dirty="0"/>
          </a:p>
        </p:txBody>
      </p:sp>
      <p:sp>
        <p:nvSpPr>
          <p:cNvPr id="16" name="Text 14"/>
          <p:cNvSpPr/>
          <p:nvPr/>
        </p:nvSpPr>
        <p:spPr>
          <a:xfrm>
            <a:off x="1005840" y="230428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"Generate a movie booking interface with seat selection grid, showing available and booked seats with different color coding. Seats should toggle between available, selected, and booked states. Show total price based on selected seats."</a:t>
            </a:r>
            <a:endParaRPr lang="en-US" sz="950" dirty="0"/>
          </a:p>
        </p:txBody>
      </p:sp>
      <p:sp>
        <p:nvSpPr>
          <p:cNvPr id="17" name="Shape 15"/>
          <p:cNvSpPr/>
          <p:nvPr/>
        </p:nvSpPr>
        <p:spPr>
          <a:xfrm>
            <a:off x="365760" y="2926080"/>
            <a:ext cx="8412480" cy="868680"/>
          </a:xfrm>
          <a:prstGeom prst="rect">
            <a:avLst/>
          </a:prstGeom>
          <a:solidFill>
            <a:srgbClr val="2A2A2A"/>
          </a:solidFill>
          <a:ln w="6350">
            <a:solidFill>
              <a:srgbClr val="404040"/>
            </a:solidFill>
            <a:prstDash val="solid"/>
          </a:ln>
        </p:spPr>
      </p:sp>
      <p:sp>
        <p:nvSpPr>
          <p:cNvPr id="18" name="Shape 16"/>
          <p:cNvSpPr/>
          <p:nvPr/>
        </p:nvSpPr>
        <p:spPr>
          <a:xfrm>
            <a:off x="365760" y="2926080"/>
            <a:ext cx="54864" cy="868680"/>
          </a:xfrm>
          <a:prstGeom prst="rect">
            <a:avLst/>
          </a:prstGeom>
          <a:solidFill>
            <a:srgbClr val="D4AF37"/>
          </a:solidFill>
          <a:ln w="12700">
            <a:solidFill>
              <a:srgbClr val="D4AF37"/>
            </a:solidFill>
            <a:prstDash val="solid"/>
          </a:ln>
        </p:spPr>
      </p:sp>
      <p:sp>
        <p:nvSpPr>
          <p:cNvPr id="19" name="Shape 17"/>
          <p:cNvSpPr/>
          <p:nvPr/>
        </p:nvSpPr>
        <p:spPr>
          <a:xfrm>
            <a:off x="420624" y="2999232"/>
            <a:ext cx="502920" cy="502920"/>
          </a:xfrm>
          <a:prstGeom prst="rect">
            <a:avLst/>
          </a:prstGeom>
          <a:solidFill>
            <a:srgbClr val="0A0A0A"/>
          </a:solidFill>
          <a:ln w="12700">
            <a:solidFill>
              <a:srgbClr val="D4AF37"/>
            </a:solidFill>
            <a:prstDash val="solid"/>
          </a:ln>
        </p:spPr>
      </p:sp>
      <p:sp>
        <p:nvSpPr>
          <p:cNvPr id="20" name="Text 18"/>
          <p:cNvSpPr/>
          <p:nvPr/>
        </p:nvSpPr>
        <p:spPr>
          <a:xfrm>
            <a:off x="420624" y="299923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03</a:t>
            </a:r>
            <a:endParaRPr lang="en-US" sz="1400" dirty="0"/>
          </a:p>
        </p:txBody>
      </p:sp>
      <p:sp>
        <p:nvSpPr>
          <p:cNvPr id="21" name="Text 19"/>
          <p:cNvSpPr/>
          <p:nvPr/>
        </p:nvSpPr>
        <p:spPr>
          <a:xfrm>
            <a:off x="1005840" y="299008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03 — Booking Confirmation Modal</a:t>
            </a:r>
            <a:endParaRPr lang="en-US" sz="1150" dirty="0"/>
          </a:p>
        </p:txBody>
      </p:sp>
      <p:sp>
        <p:nvSpPr>
          <p:cNvPr id="22" name="Text 20"/>
          <p:cNvSpPr/>
          <p:nvPr/>
        </p:nvSpPr>
        <p:spPr>
          <a:xfrm>
            <a:off x="1005840" y="326440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"Generate a booking confirmation modal in HTML/CSS/JS that displays the movie title, selected seats, showtime, and total amount. Include a Confirm Booking button, a QR code canvas, and a download ticket option."</a:t>
            </a:r>
            <a:endParaRPr lang="en-US" sz="950" dirty="0"/>
          </a:p>
        </p:txBody>
      </p:sp>
      <p:sp>
        <p:nvSpPr>
          <p:cNvPr id="23" name="Shape 21"/>
          <p:cNvSpPr/>
          <p:nvPr/>
        </p:nvSpPr>
        <p:spPr>
          <a:xfrm>
            <a:off x="365760" y="3886200"/>
            <a:ext cx="8412480" cy="868680"/>
          </a:xfrm>
          <a:prstGeom prst="rect">
            <a:avLst/>
          </a:prstGeom>
          <a:solidFill>
            <a:srgbClr val="2A2A2A"/>
          </a:solidFill>
          <a:ln w="6350">
            <a:solidFill>
              <a:srgbClr val="404040"/>
            </a:solidFill>
            <a:prstDash val="solid"/>
          </a:ln>
        </p:spPr>
      </p:sp>
      <p:sp>
        <p:nvSpPr>
          <p:cNvPr id="24" name="Shape 22"/>
          <p:cNvSpPr/>
          <p:nvPr/>
        </p:nvSpPr>
        <p:spPr>
          <a:xfrm>
            <a:off x="365760" y="3886200"/>
            <a:ext cx="54864" cy="868680"/>
          </a:xfrm>
          <a:prstGeom prst="rect">
            <a:avLst/>
          </a:prstGeom>
          <a:solidFill>
            <a:srgbClr val="D4AF37"/>
          </a:solidFill>
          <a:ln w="12700">
            <a:solidFill>
              <a:srgbClr val="D4AF37"/>
            </a:solidFill>
            <a:prstDash val="solid"/>
          </a:ln>
        </p:spPr>
      </p:sp>
      <p:sp>
        <p:nvSpPr>
          <p:cNvPr id="25" name="Shape 23"/>
          <p:cNvSpPr/>
          <p:nvPr/>
        </p:nvSpPr>
        <p:spPr>
          <a:xfrm>
            <a:off x="420624" y="3959352"/>
            <a:ext cx="502920" cy="502920"/>
          </a:xfrm>
          <a:prstGeom prst="rect">
            <a:avLst/>
          </a:prstGeom>
          <a:solidFill>
            <a:srgbClr val="0A0A0A"/>
          </a:solidFill>
          <a:ln w="12700">
            <a:solidFill>
              <a:srgbClr val="D4AF37"/>
            </a:solidFill>
            <a:prstDash val="solid"/>
          </a:ln>
        </p:spPr>
      </p:sp>
      <p:sp>
        <p:nvSpPr>
          <p:cNvPr id="26" name="Text 24"/>
          <p:cNvSpPr/>
          <p:nvPr/>
        </p:nvSpPr>
        <p:spPr>
          <a:xfrm>
            <a:off x="420624" y="395935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04</a:t>
            </a:r>
            <a:endParaRPr lang="en-US" sz="1400" dirty="0"/>
          </a:p>
        </p:txBody>
      </p:sp>
      <p:sp>
        <p:nvSpPr>
          <p:cNvPr id="27" name="Text 25"/>
          <p:cNvSpPr/>
          <p:nvPr/>
        </p:nvSpPr>
        <p:spPr>
          <a:xfrm>
            <a:off x="1005840" y="395020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04 — Responsive Design (Mobile-First)</a:t>
            </a:r>
            <a:endParaRPr lang="en-US" sz="1150" dirty="0"/>
          </a:p>
        </p:txBody>
      </p:sp>
      <p:sp>
        <p:nvSpPr>
          <p:cNvPr id="28" name="Text 26"/>
          <p:cNvSpPr/>
          <p:nvPr/>
        </p:nvSpPr>
        <p:spPr>
          <a:xfrm>
            <a:off x="1005840" y="422452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"Refactor the existing CSS to make the movie booking site fully responsive using media queries. Ensure it works on mobile (375px), tablet (768px), and desktop (1440px) breakpoints with proper font scaling."</a:t>
            </a:r>
            <a:endParaRPr lang="en-US" sz="950" dirty="0"/>
          </a:p>
        </p:txBody>
      </p:sp>
      <p:sp>
        <p:nvSpPr>
          <p:cNvPr id="29" name="Shape 27"/>
          <p:cNvSpPr/>
          <p:nvPr/>
        </p:nvSpPr>
        <p:spPr>
          <a:xfrm>
            <a:off x="0" y="4846320"/>
            <a:ext cx="9144000" cy="297180"/>
          </a:xfrm>
          <a:prstGeom prst="rect">
            <a:avLst/>
          </a:prstGeom>
          <a:solidFill>
            <a:srgbClr val="1A1A1A"/>
          </a:solidFill>
          <a:ln w="12700">
            <a:solidFill>
              <a:srgbClr val="1A1A1A"/>
            </a:solidFill>
            <a:prstDash val="solid"/>
          </a:ln>
        </p:spPr>
      </p:sp>
      <p:sp>
        <p:nvSpPr>
          <p:cNvPr id="30" name="Shape 28"/>
          <p:cNvSpPr/>
          <p:nvPr/>
        </p:nvSpPr>
        <p:spPr>
          <a:xfrm>
            <a:off x="0" y="4846320"/>
            <a:ext cx="9144000" cy="18288"/>
          </a:xfrm>
          <a:prstGeom prst="rect">
            <a:avLst/>
          </a:prstGeom>
          <a:solidFill>
            <a:srgbClr val="D4AF37"/>
          </a:solidFill>
          <a:ln w="12700">
            <a:solidFill>
              <a:srgbClr val="D4AF37"/>
            </a:solidFill>
            <a:prstDash val="solid"/>
          </a:ln>
        </p:spPr>
      </p:sp>
      <p:sp>
        <p:nvSpPr>
          <p:cNvPr id="31" name="Text 2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32" name="Shape 30"/>
          <p:cNvSpPr/>
          <p:nvPr/>
        </p:nvSpPr>
        <p:spPr>
          <a:xfrm>
            <a:off x="8686800" y="91440"/>
            <a:ext cx="320040" cy="320040"/>
          </a:xfrm>
          <a:prstGeom prst="ellipse">
            <a:avLst/>
          </a:prstGeom>
          <a:solidFill>
            <a:srgbClr val="D4AF37"/>
          </a:solidFill>
          <a:ln w="12700">
            <a:solidFill>
              <a:srgbClr val="D4AF37"/>
            </a:solidFill>
            <a:prstDash val="solid"/>
          </a:ln>
        </p:spPr>
      </p:sp>
      <p:sp>
        <p:nvSpPr>
          <p:cNvPr id="33" name="Text 3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AI Prompts Used — Part 2 of 3</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Continued documentation of all structured AI prompts used in development</a:t>
            </a:r>
            <a:endParaRPr lang="en-US" sz="1100" dirty="0"/>
          </a:p>
        </p:txBody>
      </p:sp>
      <p:sp>
        <p:nvSpPr>
          <p:cNvPr id="5" name="Shape 3"/>
          <p:cNvSpPr/>
          <p:nvPr/>
        </p:nvSpPr>
        <p:spPr>
          <a:xfrm>
            <a:off x="365760" y="1005840"/>
            <a:ext cx="8412480" cy="868680"/>
          </a:xfrm>
          <a:prstGeom prst="rect">
            <a:avLst/>
          </a:prstGeom>
          <a:solidFill>
            <a:srgbClr val="2A2A2A"/>
          </a:solidFill>
          <a:ln w="6350">
            <a:solidFill>
              <a:srgbClr val="404040"/>
            </a:solidFill>
            <a:prstDash val="solid"/>
          </a:ln>
        </p:spPr>
      </p:sp>
      <p:sp>
        <p:nvSpPr>
          <p:cNvPr id="6" name="Shape 4"/>
          <p:cNvSpPr/>
          <p:nvPr/>
        </p:nvSpPr>
        <p:spPr>
          <a:xfrm>
            <a:off x="365760" y="1005840"/>
            <a:ext cx="54864" cy="868680"/>
          </a:xfrm>
          <a:prstGeom prst="rect">
            <a:avLst/>
          </a:prstGeom>
          <a:solidFill>
            <a:srgbClr val="D4AF37"/>
          </a:solidFill>
          <a:ln w="12700">
            <a:solidFill>
              <a:srgbClr val="D4AF37"/>
            </a:solidFill>
            <a:prstDash val="solid"/>
          </a:ln>
        </p:spPr>
      </p:sp>
      <p:sp>
        <p:nvSpPr>
          <p:cNvPr id="7" name="Shape 5"/>
          <p:cNvSpPr/>
          <p:nvPr/>
        </p:nvSpPr>
        <p:spPr>
          <a:xfrm>
            <a:off x="420624" y="1078992"/>
            <a:ext cx="502920" cy="502920"/>
          </a:xfrm>
          <a:prstGeom prst="rect">
            <a:avLst/>
          </a:prstGeom>
          <a:solidFill>
            <a:srgbClr val="0A0A0A"/>
          </a:solidFill>
          <a:ln w="12700">
            <a:solidFill>
              <a:srgbClr val="D4AF37"/>
            </a:solidFill>
            <a:prstDash val="solid"/>
          </a:ln>
        </p:spPr>
      </p:sp>
      <p:sp>
        <p:nvSpPr>
          <p:cNvPr id="8" name="Text 6"/>
          <p:cNvSpPr/>
          <p:nvPr/>
        </p:nvSpPr>
        <p:spPr>
          <a:xfrm>
            <a:off x="420624" y="107899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05</a:t>
            </a:r>
            <a:endParaRPr lang="en-US" sz="1400" dirty="0"/>
          </a:p>
        </p:txBody>
      </p:sp>
      <p:sp>
        <p:nvSpPr>
          <p:cNvPr id="9" name="Text 7"/>
          <p:cNvSpPr/>
          <p:nvPr/>
        </p:nvSpPr>
        <p:spPr>
          <a:xfrm>
            <a:off x="1005840" y="106984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05 — Backend API — Node.js + Express</a:t>
            </a:r>
            <a:endParaRPr lang="en-US" sz="1150" dirty="0"/>
          </a:p>
        </p:txBody>
      </p:sp>
      <p:sp>
        <p:nvSpPr>
          <p:cNvPr id="10" name="Text 8"/>
          <p:cNvSpPr/>
          <p:nvPr/>
        </p:nvSpPr>
        <p:spPr>
          <a:xfrm>
            <a:off x="1005840" y="134416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"Build backend authentication API endpoints for user registration, login, session management, and logout using Node.js and Express. Store data in JSON files — no MongoDB. Include CORS headers."</a:t>
            </a:r>
            <a:endParaRPr lang="en-US" sz="950" dirty="0"/>
          </a:p>
        </p:txBody>
      </p:sp>
      <p:sp>
        <p:nvSpPr>
          <p:cNvPr id="11" name="Shape 9"/>
          <p:cNvSpPr/>
          <p:nvPr/>
        </p:nvSpPr>
        <p:spPr>
          <a:xfrm>
            <a:off x="365760" y="1965960"/>
            <a:ext cx="8412480" cy="868680"/>
          </a:xfrm>
          <a:prstGeom prst="rect">
            <a:avLst/>
          </a:prstGeom>
          <a:solidFill>
            <a:srgbClr val="2A2A2A"/>
          </a:solidFill>
          <a:ln w="6350">
            <a:solidFill>
              <a:srgbClr val="404040"/>
            </a:solidFill>
            <a:prstDash val="solid"/>
          </a:ln>
        </p:spPr>
      </p:sp>
      <p:sp>
        <p:nvSpPr>
          <p:cNvPr id="12" name="Shape 10"/>
          <p:cNvSpPr/>
          <p:nvPr/>
        </p:nvSpPr>
        <p:spPr>
          <a:xfrm>
            <a:off x="365760" y="1965960"/>
            <a:ext cx="54864" cy="868680"/>
          </a:xfrm>
          <a:prstGeom prst="rect">
            <a:avLst/>
          </a:prstGeom>
          <a:solidFill>
            <a:srgbClr val="D4AF37"/>
          </a:solidFill>
          <a:ln w="12700">
            <a:solidFill>
              <a:srgbClr val="D4AF37"/>
            </a:solidFill>
            <a:prstDash val="solid"/>
          </a:ln>
        </p:spPr>
      </p:sp>
      <p:sp>
        <p:nvSpPr>
          <p:cNvPr id="13" name="Shape 11"/>
          <p:cNvSpPr/>
          <p:nvPr/>
        </p:nvSpPr>
        <p:spPr>
          <a:xfrm>
            <a:off x="420624" y="2039112"/>
            <a:ext cx="502920" cy="502920"/>
          </a:xfrm>
          <a:prstGeom prst="rect">
            <a:avLst/>
          </a:prstGeom>
          <a:solidFill>
            <a:srgbClr val="0A0A0A"/>
          </a:solidFill>
          <a:ln w="12700">
            <a:solidFill>
              <a:srgbClr val="D4AF37"/>
            </a:solidFill>
            <a:prstDash val="solid"/>
          </a:ln>
        </p:spPr>
      </p:sp>
      <p:sp>
        <p:nvSpPr>
          <p:cNvPr id="14" name="Text 12"/>
          <p:cNvSpPr/>
          <p:nvPr/>
        </p:nvSpPr>
        <p:spPr>
          <a:xfrm>
            <a:off x="420624" y="203911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06</a:t>
            </a:r>
            <a:endParaRPr lang="en-US" sz="1400" dirty="0"/>
          </a:p>
        </p:txBody>
      </p:sp>
      <p:sp>
        <p:nvSpPr>
          <p:cNvPr id="15" name="Text 13"/>
          <p:cNvSpPr/>
          <p:nvPr/>
        </p:nvSpPr>
        <p:spPr>
          <a:xfrm>
            <a:off x="1005840" y="202996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06 — Admin Dashboard</a:t>
            </a:r>
            <a:endParaRPr lang="en-US" sz="1150" dirty="0"/>
          </a:p>
        </p:txBody>
      </p:sp>
      <p:sp>
        <p:nvSpPr>
          <p:cNvPr id="16" name="Text 14"/>
          <p:cNvSpPr/>
          <p:nvPr/>
        </p:nvSpPr>
        <p:spPr>
          <a:xfrm>
            <a:off x="1005840" y="230428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"Create admin dashboard displaying all bookings with filters for date, movie, and status, ensuring no duplicate entries. Use a Map keyed on bookingId to guarantee uniqueness before rendering the table."</a:t>
            </a:r>
            <a:endParaRPr lang="en-US" sz="950" dirty="0"/>
          </a:p>
        </p:txBody>
      </p:sp>
      <p:sp>
        <p:nvSpPr>
          <p:cNvPr id="17" name="Shape 15"/>
          <p:cNvSpPr/>
          <p:nvPr/>
        </p:nvSpPr>
        <p:spPr>
          <a:xfrm>
            <a:off x="365760" y="2926080"/>
            <a:ext cx="8412480" cy="868680"/>
          </a:xfrm>
          <a:prstGeom prst="rect">
            <a:avLst/>
          </a:prstGeom>
          <a:solidFill>
            <a:srgbClr val="2A2A2A"/>
          </a:solidFill>
          <a:ln w="6350">
            <a:solidFill>
              <a:srgbClr val="404040"/>
            </a:solidFill>
            <a:prstDash val="solid"/>
          </a:ln>
        </p:spPr>
      </p:sp>
      <p:sp>
        <p:nvSpPr>
          <p:cNvPr id="18" name="Shape 16"/>
          <p:cNvSpPr/>
          <p:nvPr/>
        </p:nvSpPr>
        <p:spPr>
          <a:xfrm>
            <a:off x="365760" y="2926080"/>
            <a:ext cx="54864" cy="868680"/>
          </a:xfrm>
          <a:prstGeom prst="rect">
            <a:avLst/>
          </a:prstGeom>
          <a:solidFill>
            <a:srgbClr val="D4AF37"/>
          </a:solidFill>
          <a:ln w="12700">
            <a:solidFill>
              <a:srgbClr val="D4AF37"/>
            </a:solidFill>
            <a:prstDash val="solid"/>
          </a:ln>
        </p:spPr>
      </p:sp>
      <p:sp>
        <p:nvSpPr>
          <p:cNvPr id="19" name="Shape 17"/>
          <p:cNvSpPr/>
          <p:nvPr/>
        </p:nvSpPr>
        <p:spPr>
          <a:xfrm>
            <a:off x="420624" y="2999232"/>
            <a:ext cx="502920" cy="502920"/>
          </a:xfrm>
          <a:prstGeom prst="rect">
            <a:avLst/>
          </a:prstGeom>
          <a:solidFill>
            <a:srgbClr val="0A0A0A"/>
          </a:solidFill>
          <a:ln w="12700">
            <a:solidFill>
              <a:srgbClr val="D4AF37"/>
            </a:solidFill>
            <a:prstDash val="solid"/>
          </a:ln>
        </p:spPr>
      </p:sp>
      <p:sp>
        <p:nvSpPr>
          <p:cNvPr id="20" name="Text 18"/>
          <p:cNvSpPr/>
          <p:nvPr/>
        </p:nvSpPr>
        <p:spPr>
          <a:xfrm>
            <a:off x="420624" y="299923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07</a:t>
            </a:r>
            <a:endParaRPr lang="en-US" sz="1400" dirty="0"/>
          </a:p>
        </p:txBody>
      </p:sp>
      <p:sp>
        <p:nvSpPr>
          <p:cNvPr id="21" name="Text 19"/>
          <p:cNvSpPr/>
          <p:nvPr/>
        </p:nvSpPr>
        <p:spPr>
          <a:xfrm>
            <a:off x="1005840" y="299008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07 — Regional Language Filter</a:t>
            </a:r>
            <a:endParaRPr lang="en-US" sz="1150" dirty="0"/>
          </a:p>
        </p:txBody>
      </p:sp>
      <p:sp>
        <p:nvSpPr>
          <p:cNvPr id="22" name="Text 20"/>
          <p:cNvSpPr/>
          <p:nvPr/>
        </p:nvSpPr>
        <p:spPr>
          <a:xfrm>
            <a:off x="1005840" y="326440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"Build regional content filter allowing users to select language preference (including Telugu) and display filtered movie list. Telugu movies must appear first for Telangana users."</a:t>
            </a:r>
            <a:endParaRPr lang="en-US" sz="950" dirty="0"/>
          </a:p>
        </p:txBody>
      </p:sp>
      <p:sp>
        <p:nvSpPr>
          <p:cNvPr id="23" name="Shape 21"/>
          <p:cNvSpPr/>
          <p:nvPr/>
        </p:nvSpPr>
        <p:spPr>
          <a:xfrm>
            <a:off x="365760" y="3886200"/>
            <a:ext cx="8412480" cy="868680"/>
          </a:xfrm>
          <a:prstGeom prst="rect">
            <a:avLst/>
          </a:prstGeom>
          <a:solidFill>
            <a:srgbClr val="2A2A2A"/>
          </a:solidFill>
          <a:ln w="6350">
            <a:solidFill>
              <a:srgbClr val="404040"/>
            </a:solidFill>
            <a:prstDash val="solid"/>
          </a:ln>
        </p:spPr>
      </p:sp>
      <p:sp>
        <p:nvSpPr>
          <p:cNvPr id="24" name="Shape 22"/>
          <p:cNvSpPr/>
          <p:nvPr/>
        </p:nvSpPr>
        <p:spPr>
          <a:xfrm>
            <a:off x="365760" y="3886200"/>
            <a:ext cx="54864" cy="868680"/>
          </a:xfrm>
          <a:prstGeom prst="rect">
            <a:avLst/>
          </a:prstGeom>
          <a:solidFill>
            <a:srgbClr val="D4AF37"/>
          </a:solidFill>
          <a:ln w="12700">
            <a:solidFill>
              <a:srgbClr val="D4AF37"/>
            </a:solidFill>
            <a:prstDash val="solid"/>
          </a:ln>
        </p:spPr>
      </p:sp>
      <p:sp>
        <p:nvSpPr>
          <p:cNvPr id="25" name="Shape 23"/>
          <p:cNvSpPr/>
          <p:nvPr/>
        </p:nvSpPr>
        <p:spPr>
          <a:xfrm>
            <a:off x="420624" y="3959352"/>
            <a:ext cx="502920" cy="502920"/>
          </a:xfrm>
          <a:prstGeom prst="rect">
            <a:avLst/>
          </a:prstGeom>
          <a:solidFill>
            <a:srgbClr val="0A0A0A"/>
          </a:solidFill>
          <a:ln w="12700">
            <a:solidFill>
              <a:srgbClr val="D4AF37"/>
            </a:solidFill>
            <a:prstDash val="solid"/>
          </a:ln>
        </p:spPr>
      </p:sp>
      <p:sp>
        <p:nvSpPr>
          <p:cNvPr id="26" name="Text 24"/>
          <p:cNvSpPr/>
          <p:nvPr/>
        </p:nvSpPr>
        <p:spPr>
          <a:xfrm>
            <a:off x="420624" y="395935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08</a:t>
            </a:r>
            <a:endParaRPr lang="en-US" sz="1400" dirty="0"/>
          </a:p>
        </p:txBody>
      </p:sp>
      <p:sp>
        <p:nvSpPr>
          <p:cNvPr id="27" name="Text 25"/>
          <p:cNvSpPr/>
          <p:nvPr/>
        </p:nvSpPr>
        <p:spPr>
          <a:xfrm>
            <a:off x="1005840" y="395020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08 — Multilingual Database Schema</a:t>
            </a:r>
            <a:endParaRPr lang="en-US" sz="1150" dirty="0"/>
          </a:p>
        </p:txBody>
      </p:sp>
      <p:sp>
        <p:nvSpPr>
          <p:cNvPr id="28" name="Text 26"/>
          <p:cNvSpPr/>
          <p:nvPr/>
        </p:nvSpPr>
        <p:spPr>
          <a:xfrm>
            <a:off x="1005840" y="422452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"Create database schema with language and region fields to support multilingual content, prioritising Telugu movies for Telangana users. Include posterUrl, trailerUrl, cast, director, and genre fields."</a:t>
            </a:r>
            <a:endParaRPr lang="en-US" sz="950" dirty="0"/>
          </a:p>
        </p:txBody>
      </p:sp>
      <p:sp>
        <p:nvSpPr>
          <p:cNvPr id="29" name="Shape 27"/>
          <p:cNvSpPr/>
          <p:nvPr/>
        </p:nvSpPr>
        <p:spPr>
          <a:xfrm>
            <a:off x="0" y="4846320"/>
            <a:ext cx="9144000" cy="297180"/>
          </a:xfrm>
          <a:prstGeom prst="rect">
            <a:avLst/>
          </a:prstGeom>
          <a:solidFill>
            <a:srgbClr val="1A1A1A"/>
          </a:solidFill>
          <a:ln w="12700">
            <a:solidFill>
              <a:srgbClr val="1A1A1A"/>
            </a:solidFill>
            <a:prstDash val="solid"/>
          </a:ln>
        </p:spPr>
      </p:sp>
      <p:sp>
        <p:nvSpPr>
          <p:cNvPr id="30" name="Shape 28"/>
          <p:cNvSpPr/>
          <p:nvPr/>
        </p:nvSpPr>
        <p:spPr>
          <a:xfrm>
            <a:off x="0" y="4846320"/>
            <a:ext cx="9144000" cy="18288"/>
          </a:xfrm>
          <a:prstGeom prst="rect">
            <a:avLst/>
          </a:prstGeom>
          <a:solidFill>
            <a:srgbClr val="D4AF37"/>
          </a:solidFill>
          <a:ln w="12700">
            <a:solidFill>
              <a:srgbClr val="D4AF37"/>
            </a:solidFill>
            <a:prstDash val="solid"/>
          </a:ln>
        </p:spPr>
      </p:sp>
      <p:sp>
        <p:nvSpPr>
          <p:cNvPr id="31" name="Text 2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32" name="Shape 30"/>
          <p:cNvSpPr/>
          <p:nvPr/>
        </p:nvSpPr>
        <p:spPr>
          <a:xfrm>
            <a:off x="8686800" y="91440"/>
            <a:ext cx="320040" cy="320040"/>
          </a:xfrm>
          <a:prstGeom prst="ellipse">
            <a:avLst/>
          </a:prstGeom>
          <a:solidFill>
            <a:srgbClr val="D4AF37"/>
          </a:solidFill>
          <a:ln w="12700">
            <a:solidFill>
              <a:srgbClr val="D4AF37"/>
            </a:solidFill>
            <a:prstDash val="solid"/>
          </a:ln>
        </p:spPr>
      </p:sp>
      <p:sp>
        <p:nvSpPr>
          <p:cNvPr id="33" name="Text 3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AI Prompts Used — Part 3 of 3</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Final prompts covering payment, validation and QR code generation</a:t>
            </a:r>
            <a:endParaRPr lang="en-US" sz="1100" dirty="0"/>
          </a:p>
        </p:txBody>
      </p:sp>
      <p:sp>
        <p:nvSpPr>
          <p:cNvPr id="5" name="Shape 3"/>
          <p:cNvSpPr/>
          <p:nvPr/>
        </p:nvSpPr>
        <p:spPr>
          <a:xfrm>
            <a:off x="365760" y="1005840"/>
            <a:ext cx="8412480" cy="868680"/>
          </a:xfrm>
          <a:prstGeom prst="rect">
            <a:avLst/>
          </a:prstGeom>
          <a:solidFill>
            <a:srgbClr val="2A2A2A"/>
          </a:solidFill>
          <a:ln w="6350">
            <a:solidFill>
              <a:srgbClr val="404040"/>
            </a:solidFill>
            <a:prstDash val="solid"/>
          </a:ln>
        </p:spPr>
      </p:sp>
      <p:sp>
        <p:nvSpPr>
          <p:cNvPr id="6" name="Shape 4"/>
          <p:cNvSpPr/>
          <p:nvPr/>
        </p:nvSpPr>
        <p:spPr>
          <a:xfrm>
            <a:off x="365760" y="1005840"/>
            <a:ext cx="54864" cy="868680"/>
          </a:xfrm>
          <a:prstGeom prst="rect">
            <a:avLst/>
          </a:prstGeom>
          <a:solidFill>
            <a:srgbClr val="D4AF37"/>
          </a:solidFill>
          <a:ln w="12700">
            <a:solidFill>
              <a:srgbClr val="D4AF37"/>
            </a:solidFill>
            <a:prstDash val="solid"/>
          </a:ln>
        </p:spPr>
      </p:sp>
      <p:sp>
        <p:nvSpPr>
          <p:cNvPr id="7" name="Shape 5"/>
          <p:cNvSpPr/>
          <p:nvPr/>
        </p:nvSpPr>
        <p:spPr>
          <a:xfrm>
            <a:off x="420624" y="1078992"/>
            <a:ext cx="502920" cy="502920"/>
          </a:xfrm>
          <a:prstGeom prst="rect">
            <a:avLst/>
          </a:prstGeom>
          <a:solidFill>
            <a:srgbClr val="0A0A0A"/>
          </a:solidFill>
          <a:ln w="12700">
            <a:solidFill>
              <a:srgbClr val="D4AF37"/>
            </a:solidFill>
            <a:prstDash val="solid"/>
          </a:ln>
        </p:spPr>
      </p:sp>
      <p:sp>
        <p:nvSpPr>
          <p:cNvPr id="8" name="Text 6"/>
          <p:cNvSpPr/>
          <p:nvPr/>
        </p:nvSpPr>
        <p:spPr>
          <a:xfrm>
            <a:off x="420624" y="107899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09</a:t>
            </a:r>
            <a:endParaRPr lang="en-US" sz="1400" dirty="0"/>
          </a:p>
        </p:txBody>
      </p:sp>
      <p:sp>
        <p:nvSpPr>
          <p:cNvPr id="9" name="Text 7"/>
          <p:cNvSpPr/>
          <p:nvPr/>
        </p:nvSpPr>
        <p:spPr>
          <a:xfrm>
            <a:off x="1005840" y="106984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09 — Language Selection Component</a:t>
            </a:r>
            <a:endParaRPr lang="en-US" sz="1150" dirty="0"/>
          </a:p>
        </p:txBody>
      </p:sp>
      <p:sp>
        <p:nvSpPr>
          <p:cNvPr id="10" name="Text 8"/>
          <p:cNvSpPr/>
          <p:nvPr/>
        </p:nvSpPr>
        <p:spPr>
          <a:xfrm>
            <a:off x="1005840" y="134416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"Generate frontend component for language selection with Telugu, Hindi, English, Tamil, Kannada, Marathi, Malayalam, and Bengali options. Store user preference in localStorage and apply on every page load."</a:t>
            </a:r>
            <a:endParaRPr lang="en-US" sz="950" dirty="0"/>
          </a:p>
        </p:txBody>
      </p:sp>
      <p:sp>
        <p:nvSpPr>
          <p:cNvPr id="11" name="Shape 9"/>
          <p:cNvSpPr/>
          <p:nvPr/>
        </p:nvSpPr>
        <p:spPr>
          <a:xfrm>
            <a:off x="365760" y="1965960"/>
            <a:ext cx="8412480" cy="868680"/>
          </a:xfrm>
          <a:prstGeom prst="rect">
            <a:avLst/>
          </a:prstGeom>
          <a:solidFill>
            <a:srgbClr val="2A2A2A"/>
          </a:solidFill>
          <a:ln w="6350">
            <a:solidFill>
              <a:srgbClr val="404040"/>
            </a:solidFill>
            <a:prstDash val="solid"/>
          </a:ln>
        </p:spPr>
      </p:sp>
      <p:sp>
        <p:nvSpPr>
          <p:cNvPr id="12" name="Shape 10"/>
          <p:cNvSpPr/>
          <p:nvPr/>
        </p:nvSpPr>
        <p:spPr>
          <a:xfrm>
            <a:off x="365760" y="1965960"/>
            <a:ext cx="54864" cy="868680"/>
          </a:xfrm>
          <a:prstGeom prst="rect">
            <a:avLst/>
          </a:prstGeom>
          <a:solidFill>
            <a:srgbClr val="D4AF37"/>
          </a:solidFill>
          <a:ln w="12700">
            <a:solidFill>
              <a:srgbClr val="D4AF37"/>
            </a:solidFill>
            <a:prstDash val="solid"/>
          </a:ln>
        </p:spPr>
      </p:sp>
      <p:sp>
        <p:nvSpPr>
          <p:cNvPr id="13" name="Shape 11"/>
          <p:cNvSpPr/>
          <p:nvPr/>
        </p:nvSpPr>
        <p:spPr>
          <a:xfrm>
            <a:off x="420624" y="2039112"/>
            <a:ext cx="502920" cy="502920"/>
          </a:xfrm>
          <a:prstGeom prst="rect">
            <a:avLst/>
          </a:prstGeom>
          <a:solidFill>
            <a:srgbClr val="0A0A0A"/>
          </a:solidFill>
          <a:ln w="12700">
            <a:solidFill>
              <a:srgbClr val="D4AF37"/>
            </a:solidFill>
            <a:prstDash val="solid"/>
          </a:ln>
        </p:spPr>
      </p:sp>
      <p:sp>
        <p:nvSpPr>
          <p:cNvPr id="14" name="Text 12"/>
          <p:cNvSpPr/>
          <p:nvPr/>
        </p:nvSpPr>
        <p:spPr>
          <a:xfrm>
            <a:off x="420624" y="203911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10</a:t>
            </a:r>
            <a:endParaRPr lang="en-US" sz="1400" dirty="0"/>
          </a:p>
        </p:txBody>
      </p:sp>
      <p:sp>
        <p:nvSpPr>
          <p:cNvPr id="15" name="Text 13"/>
          <p:cNvSpPr/>
          <p:nvPr/>
        </p:nvSpPr>
        <p:spPr>
          <a:xfrm>
            <a:off x="1005840" y="202996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10 — UPI Payment Validation</a:t>
            </a:r>
            <a:endParaRPr lang="en-US" sz="1150" dirty="0"/>
          </a:p>
        </p:txBody>
      </p:sp>
      <p:sp>
        <p:nvSpPr>
          <p:cNvPr id="16" name="Text 14"/>
          <p:cNvSpPr/>
          <p:nvPr/>
        </p:nvSpPr>
        <p:spPr>
          <a:xfrm>
            <a:off x="1005840" y="230428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"Implement UPI ID validation — format must be prefix@handle where prefix is at least 3 chars and handle is a valid UPI provider (paytm, gpay, phonepe, oksbi, etc.). Block booking if UPI is empty or invalid."</a:t>
            </a:r>
            <a:endParaRPr lang="en-US" sz="950" dirty="0"/>
          </a:p>
        </p:txBody>
      </p:sp>
      <p:sp>
        <p:nvSpPr>
          <p:cNvPr id="17" name="Shape 15"/>
          <p:cNvSpPr/>
          <p:nvPr/>
        </p:nvSpPr>
        <p:spPr>
          <a:xfrm>
            <a:off x="365760" y="2926080"/>
            <a:ext cx="8412480" cy="868680"/>
          </a:xfrm>
          <a:prstGeom prst="rect">
            <a:avLst/>
          </a:prstGeom>
          <a:solidFill>
            <a:srgbClr val="2A2A2A"/>
          </a:solidFill>
          <a:ln w="6350">
            <a:solidFill>
              <a:srgbClr val="404040"/>
            </a:solidFill>
            <a:prstDash val="solid"/>
          </a:ln>
        </p:spPr>
      </p:sp>
      <p:sp>
        <p:nvSpPr>
          <p:cNvPr id="18" name="Shape 16"/>
          <p:cNvSpPr/>
          <p:nvPr/>
        </p:nvSpPr>
        <p:spPr>
          <a:xfrm>
            <a:off x="365760" y="2926080"/>
            <a:ext cx="54864" cy="868680"/>
          </a:xfrm>
          <a:prstGeom prst="rect">
            <a:avLst/>
          </a:prstGeom>
          <a:solidFill>
            <a:srgbClr val="D4AF37"/>
          </a:solidFill>
          <a:ln w="12700">
            <a:solidFill>
              <a:srgbClr val="D4AF37"/>
            </a:solidFill>
            <a:prstDash val="solid"/>
          </a:ln>
        </p:spPr>
      </p:sp>
      <p:sp>
        <p:nvSpPr>
          <p:cNvPr id="19" name="Shape 17"/>
          <p:cNvSpPr/>
          <p:nvPr/>
        </p:nvSpPr>
        <p:spPr>
          <a:xfrm>
            <a:off x="420624" y="2999232"/>
            <a:ext cx="502920" cy="502920"/>
          </a:xfrm>
          <a:prstGeom prst="rect">
            <a:avLst/>
          </a:prstGeom>
          <a:solidFill>
            <a:srgbClr val="0A0A0A"/>
          </a:solidFill>
          <a:ln w="12700">
            <a:solidFill>
              <a:srgbClr val="D4AF37"/>
            </a:solidFill>
            <a:prstDash val="solid"/>
          </a:ln>
        </p:spPr>
      </p:sp>
      <p:sp>
        <p:nvSpPr>
          <p:cNvPr id="20" name="Text 18"/>
          <p:cNvSpPr/>
          <p:nvPr/>
        </p:nvSpPr>
        <p:spPr>
          <a:xfrm>
            <a:off x="420624" y="299923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11</a:t>
            </a:r>
            <a:endParaRPr lang="en-US" sz="1400" dirty="0"/>
          </a:p>
        </p:txBody>
      </p:sp>
      <p:sp>
        <p:nvSpPr>
          <p:cNvPr id="21" name="Text 19"/>
          <p:cNvSpPr/>
          <p:nvPr/>
        </p:nvSpPr>
        <p:spPr>
          <a:xfrm>
            <a:off x="1005840" y="299008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11 — QR Code Ticket Generator</a:t>
            </a:r>
            <a:endParaRPr lang="en-US" sz="1150" dirty="0"/>
          </a:p>
        </p:txBody>
      </p:sp>
      <p:sp>
        <p:nvSpPr>
          <p:cNvPr id="22" name="Text 20"/>
          <p:cNvSpPr/>
          <p:nvPr/>
        </p:nvSpPr>
        <p:spPr>
          <a:xfrm>
            <a:off x="1005840" y="326440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"Generate a QR code on HTML canvas element for booking confirmation. Encode booking ID, movie name, seats, showtime and date. Add a download as PNG button and display booking details next to the QR code."</a:t>
            </a:r>
            <a:endParaRPr lang="en-US" sz="950" dirty="0"/>
          </a:p>
        </p:txBody>
      </p:sp>
      <p:sp>
        <p:nvSpPr>
          <p:cNvPr id="23" name="Shape 21"/>
          <p:cNvSpPr/>
          <p:nvPr/>
        </p:nvSpPr>
        <p:spPr>
          <a:xfrm>
            <a:off x="365760" y="3886200"/>
            <a:ext cx="8412480" cy="868680"/>
          </a:xfrm>
          <a:prstGeom prst="rect">
            <a:avLst/>
          </a:prstGeom>
          <a:solidFill>
            <a:srgbClr val="2A2A2A"/>
          </a:solidFill>
          <a:ln w="6350">
            <a:solidFill>
              <a:srgbClr val="404040"/>
            </a:solidFill>
            <a:prstDash val="solid"/>
          </a:ln>
        </p:spPr>
      </p:sp>
      <p:sp>
        <p:nvSpPr>
          <p:cNvPr id="24" name="Shape 22"/>
          <p:cNvSpPr/>
          <p:nvPr/>
        </p:nvSpPr>
        <p:spPr>
          <a:xfrm>
            <a:off x="365760" y="3886200"/>
            <a:ext cx="54864" cy="868680"/>
          </a:xfrm>
          <a:prstGeom prst="rect">
            <a:avLst/>
          </a:prstGeom>
          <a:solidFill>
            <a:srgbClr val="D4AF37"/>
          </a:solidFill>
          <a:ln w="12700">
            <a:solidFill>
              <a:srgbClr val="D4AF37"/>
            </a:solidFill>
            <a:prstDash val="solid"/>
          </a:ln>
        </p:spPr>
      </p:sp>
      <p:sp>
        <p:nvSpPr>
          <p:cNvPr id="25" name="Shape 23"/>
          <p:cNvSpPr/>
          <p:nvPr/>
        </p:nvSpPr>
        <p:spPr>
          <a:xfrm>
            <a:off x="420624" y="3959352"/>
            <a:ext cx="502920" cy="502920"/>
          </a:xfrm>
          <a:prstGeom prst="rect">
            <a:avLst/>
          </a:prstGeom>
          <a:solidFill>
            <a:srgbClr val="0A0A0A"/>
          </a:solidFill>
          <a:ln w="12700">
            <a:solidFill>
              <a:srgbClr val="D4AF37"/>
            </a:solidFill>
            <a:prstDash val="solid"/>
          </a:ln>
        </p:spPr>
      </p:sp>
      <p:sp>
        <p:nvSpPr>
          <p:cNvPr id="26" name="Text 24"/>
          <p:cNvSpPr/>
          <p:nvPr/>
        </p:nvSpPr>
        <p:spPr>
          <a:xfrm>
            <a:off x="420624" y="3959352"/>
            <a:ext cx="502920" cy="502920"/>
          </a:xfrm>
          <a:prstGeom prst="rect">
            <a:avLst/>
          </a:prstGeom>
          <a:noFill/>
          <a:ln/>
        </p:spPr>
        <p:txBody>
          <a:bodyPr wrap="square" rtlCol="0" anchor="ctr"/>
          <a:lstStyle/>
          <a:p>
            <a:pPr algn="ctr" indent="0" marL="0">
              <a:buNone/>
            </a:pPr>
            <a:r>
              <a:rPr lang="en-US" sz="1400" b="1" dirty="0">
                <a:solidFill>
                  <a:srgbClr val="D4AF37"/>
                </a:solidFill>
                <a:latin typeface="Arial Black" pitchFamily="34" charset="0"/>
                <a:ea typeface="Arial Black" pitchFamily="34" charset="-122"/>
                <a:cs typeface="Arial Black" pitchFamily="34" charset="-120"/>
              </a:rPr>
              <a:t>12</a:t>
            </a:r>
            <a:endParaRPr lang="en-US" sz="1400" dirty="0"/>
          </a:p>
        </p:txBody>
      </p:sp>
      <p:sp>
        <p:nvSpPr>
          <p:cNvPr id="27" name="Text 25"/>
          <p:cNvSpPr/>
          <p:nvPr/>
        </p:nvSpPr>
        <p:spPr>
          <a:xfrm>
            <a:off x="1005840" y="3950208"/>
            <a:ext cx="4572000" cy="256032"/>
          </a:xfrm>
          <a:prstGeom prst="rect">
            <a:avLst/>
          </a:prstGeom>
          <a:noFill/>
          <a:ln/>
        </p:spPr>
        <p:txBody>
          <a:bodyPr wrap="square" lIns="0" tIns="0" rIns="0" bIns="0" rtlCol="0" anchor="ctr"/>
          <a:lstStyle/>
          <a:p>
            <a:pPr indent="0" marL="0">
              <a:buNone/>
            </a:pPr>
            <a:r>
              <a:rPr lang="en-US" sz="1150" b="1" dirty="0">
                <a:solidFill>
                  <a:srgbClr val="D4AF37"/>
                </a:solidFill>
                <a:latin typeface="Calibri" pitchFamily="34" charset="0"/>
                <a:ea typeface="Calibri" pitchFamily="34" charset="-122"/>
                <a:cs typeface="Calibri" pitchFamily="34" charset="-120"/>
              </a:rPr>
              <a:t>Prompt 12 — Weak Password Detection</a:t>
            </a:r>
            <a:endParaRPr lang="en-US" sz="1150" dirty="0"/>
          </a:p>
        </p:txBody>
      </p:sp>
      <p:sp>
        <p:nvSpPr>
          <p:cNvPr id="28" name="Text 26"/>
          <p:cNvSpPr/>
          <p:nvPr/>
        </p:nvSpPr>
        <p:spPr>
          <a:xfrm>
            <a:off x="1005840" y="4224528"/>
            <a:ext cx="7589520" cy="457200"/>
          </a:xfrm>
          <a:prstGeom prst="rect">
            <a:avLst/>
          </a:prstGeom>
          <a:noFill/>
          <a:ln/>
        </p:spPr>
        <p:txBody>
          <a:bodyPr wrap="square" rtlCol="0" anchor="ctr"/>
          <a:lstStyle/>
          <a:p>
            <a:pPr indent="0" marL="0">
              <a:buNone/>
            </a:pPr>
            <a:r>
              <a:rPr lang="en-US" sz="950" i="1" dirty="0">
                <a:solidFill>
                  <a:srgbClr val="F5F5F5"/>
                </a:solidFill>
                <a:latin typeface="Calibri" pitchFamily="34" charset="0"/>
                <a:ea typeface="Calibri" pitchFamily="34" charset="-122"/>
                <a:cs typeface="Calibri" pitchFamily="34" charset="-120"/>
              </a:rPr>
              <a:t>"Add real-time password strength indicator during registration. Check for minimum 8 characters, uppercase, lowercase, number and special character. Show strength meter with colors: red = weak, yellow = medium, green = strong."</a:t>
            </a:r>
            <a:endParaRPr lang="en-US" sz="950" dirty="0"/>
          </a:p>
        </p:txBody>
      </p:sp>
      <p:sp>
        <p:nvSpPr>
          <p:cNvPr id="29" name="Shape 27"/>
          <p:cNvSpPr/>
          <p:nvPr/>
        </p:nvSpPr>
        <p:spPr>
          <a:xfrm>
            <a:off x="0" y="4846320"/>
            <a:ext cx="9144000" cy="297180"/>
          </a:xfrm>
          <a:prstGeom prst="rect">
            <a:avLst/>
          </a:prstGeom>
          <a:solidFill>
            <a:srgbClr val="1A1A1A"/>
          </a:solidFill>
          <a:ln w="12700">
            <a:solidFill>
              <a:srgbClr val="1A1A1A"/>
            </a:solidFill>
            <a:prstDash val="solid"/>
          </a:ln>
        </p:spPr>
      </p:sp>
      <p:sp>
        <p:nvSpPr>
          <p:cNvPr id="30" name="Shape 28"/>
          <p:cNvSpPr/>
          <p:nvPr/>
        </p:nvSpPr>
        <p:spPr>
          <a:xfrm>
            <a:off x="0" y="4846320"/>
            <a:ext cx="9144000" cy="18288"/>
          </a:xfrm>
          <a:prstGeom prst="rect">
            <a:avLst/>
          </a:prstGeom>
          <a:solidFill>
            <a:srgbClr val="D4AF37"/>
          </a:solidFill>
          <a:ln w="12700">
            <a:solidFill>
              <a:srgbClr val="D4AF37"/>
            </a:solidFill>
            <a:prstDash val="solid"/>
          </a:ln>
        </p:spPr>
      </p:sp>
      <p:sp>
        <p:nvSpPr>
          <p:cNvPr id="31" name="Text 2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32" name="Shape 30"/>
          <p:cNvSpPr/>
          <p:nvPr/>
        </p:nvSpPr>
        <p:spPr>
          <a:xfrm>
            <a:off x="8686800" y="91440"/>
            <a:ext cx="320040" cy="320040"/>
          </a:xfrm>
          <a:prstGeom prst="ellipse">
            <a:avLst/>
          </a:prstGeom>
          <a:solidFill>
            <a:srgbClr val="D4AF37"/>
          </a:solidFill>
          <a:ln w="12700">
            <a:solidFill>
              <a:srgbClr val="D4AF37"/>
            </a:solidFill>
            <a:prstDash val="solid"/>
          </a:ln>
        </p:spPr>
      </p:sp>
      <p:sp>
        <p:nvSpPr>
          <p:cNvPr id="33" name="Text 3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Application Workflow Flowchart</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Complete user journey from sign-up to ticket confirmation</a:t>
            </a:r>
            <a:endParaRPr lang="en-US" sz="1100" dirty="0"/>
          </a:p>
        </p:txBody>
      </p:sp>
      <p:sp>
        <p:nvSpPr>
          <p:cNvPr id="5" name="Shape 3"/>
          <p:cNvSpPr/>
          <p:nvPr/>
        </p:nvSpPr>
        <p:spPr>
          <a:xfrm>
            <a:off x="274320" y="1005840"/>
            <a:ext cx="1600200" cy="640080"/>
          </a:xfrm>
          <a:prstGeom prst="rect">
            <a:avLst/>
          </a:prstGeom>
          <a:solidFill>
            <a:srgbClr val="A88B2E"/>
          </a:solidFill>
          <a:ln w="12700">
            <a:solidFill>
              <a:srgbClr val="D4AF37"/>
            </a:solidFill>
            <a:prstDash val="solid"/>
          </a:ln>
        </p:spPr>
      </p:sp>
      <p:sp>
        <p:nvSpPr>
          <p:cNvPr id="6" name="Text 4"/>
          <p:cNvSpPr/>
          <p:nvPr/>
        </p:nvSpPr>
        <p:spPr>
          <a:xfrm>
            <a:off x="274320" y="1042416"/>
            <a:ext cx="1600200" cy="274320"/>
          </a:xfrm>
          <a:prstGeom prst="rect">
            <a:avLst/>
          </a:prstGeom>
          <a:noFill/>
          <a:ln/>
        </p:spPr>
        <p:txBody>
          <a:bodyPr wrap="square" rtlCol="0" anchor="ctr"/>
          <a:lstStyle/>
          <a:p>
            <a:pPr algn="ctr" indent="0" marL="0">
              <a:buNone/>
            </a:pPr>
            <a:r>
              <a:rPr lang="en-US" sz="900" b="1" dirty="0">
                <a:solidFill>
                  <a:srgbClr val="0A0A0A"/>
                </a:solidFill>
                <a:latin typeface="Calibri" pitchFamily="34" charset="0"/>
                <a:ea typeface="Calibri" pitchFamily="34" charset="-122"/>
                <a:cs typeface="Calibri" pitchFamily="34" charset="-120"/>
              </a:rPr>
              <a:t>Sign Up / Login</a:t>
            </a:r>
            <a:endParaRPr lang="en-US" sz="900" dirty="0"/>
          </a:p>
        </p:txBody>
      </p:sp>
      <p:sp>
        <p:nvSpPr>
          <p:cNvPr id="7" name="Text 5"/>
          <p:cNvSpPr/>
          <p:nvPr/>
        </p:nvSpPr>
        <p:spPr>
          <a:xfrm>
            <a:off x="274320" y="1335024"/>
            <a:ext cx="1600200" cy="274320"/>
          </a:xfrm>
          <a:prstGeom prst="rect">
            <a:avLst/>
          </a:prstGeom>
          <a:noFill/>
          <a:ln/>
        </p:spPr>
        <p:txBody>
          <a:bodyPr wrap="square"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Email + Password</a:t>
            </a:r>
            <a:endParaRPr lang="en-US" sz="750" dirty="0"/>
          </a:p>
          <a:p>
            <a:pPr algn="ctr" indent="0" marL="0">
              <a:buNone/>
            </a:pPr>
            <a:r>
              <a:rPr lang="en-US" sz="750" dirty="0">
                <a:solidFill>
                  <a:srgbClr val="222222"/>
                </a:solidFill>
                <a:latin typeface="Calibri" pitchFamily="34" charset="0"/>
                <a:ea typeface="Calibri" pitchFamily="34" charset="-122"/>
                <a:cs typeface="Calibri" pitchFamily="34" charset="-120"/>
              </a:rPr>
              <a:t>Weak password check</a:t>
            </a:r>
            <a:endParaRPr lang="en-US" sz="750" dirty="0"/>
          </a:p>
        </p:txBody>
      </p:sp>
      <p:sp>
        <p:nvSpPr>
          <p:cNvPr id="8" name="Shape 6"/>
          <p:cNvSpPr/>
          <p:nvPr/>
        </p:nvSpPr>
        <p:spPr>
          <a:xfrm>
            <a:off x="1965960" y="1005840"/>
            <a:ext cx="1600200" cy="640080"/>
          </a:xfrm>
          <a:prstGeom prst="rect">
            <a:avLst/>
          </a:prstGeom>
          <a:solidFill>
            <a:srgbClr val="2A2A2A"/>
          </a:solidFill>
          <a:ln w="12700">
            <a:solidFill>
              <a:srgbClr val="D4AF37"/>
            </a:solidFill>
            <a:prstDash val="solid"/>
          </a:ln>
        </p:spPr>
      </p:sp>
      <p:sp>
        <p:nvSpPr>
          <p:cNvPr id="9" name="Text 7"/>
          <p:cNvSpPr/>
          <p:nvPr/>
        </p:nvSpPr>
        <p:spPr>
          <a:xfrm>
            <a:off x="1965960" y="104241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Language Preference</a:t>
            </a:r>
            <a:endParaRPr lang="en-US" sz="900" dirty="0"/>
          </a:p>
        </p:txBody>
      </p:sp>
      <p:sp>
        <p:nvSpPr>
          <p:cNvPr id="10" name="Text 8"/>
          <p:cNvSpPr/>
          <p:nvPr/>
        </p:nvSpPr>
        <p:spPr>
          <a:xfrm>
            <a:off x="1965960" y="133502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8 Indian languages</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Telugu priority</a:t>
            </a:r>
            <a:endParaRPr lang="en-US" sz="750" dirty="0"/>
          </a:p>
        </p:txBody>
      </p:sp>
      <p:sp>
        <p:nvSpPr>
          <p:cNvPr id="11" name="Shape 9"/>
          <p:cNvSpPr/>
          <p:nvPr/>
        </p:nvSpPr>
        <p:spPr>
          <a:xfrm>
            <a:off x="3657600" y="1005840"/>
            <a:ext cx="1600200" cy="640080"/>
          </a:xfrm>
          <a:prstGeom prst="rect">
            <a:avLst/>
          </a:prstGeom>
          <a:solidFill>
            <a:srgbClr val="2A2A2A"/>
          </a:solidFill>
          <a:ln w="12700">
            <a:solidFill>
              <a:srgbClr val="D4AF37"/>
            </a:solidFill>
            <a:prstDash val="solid"/>
          </a:ln>
        </p:spPr>
      </p:sp>
      <p:sp>
        <p:nvSpPr>
          <p:cNvPr id="12" name="Text 10"/>
          <p:cNvSpPr/>
          <p:nvPr/>
        </p:nvSpPr>
        <p:spPr>
          <a:xfrm>
            <a:off x="3657600" y="104241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Browse Movies</a:t>
            </a:r>
            <a:endParaRPr lang="en-US" sz="900" dirty="0"/>
          </a:p>
        </p:txBody>
      </p:sp>
      <p:sp>
        <p:nvSpPr>
          <p:cNvPr id="13" name="Text 11"/>
          <p:cNvSpPr/>
          <p:nvPr/>
        </p:nvSpPr>
        <p:spPr>
          <a:xfrm>
            <a:off x="3657600" y="133502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Filter by language</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Genre/Search</a:t>
            </a:r>
            <a:endParaRPr lang="en-US" sz="750" dirty="0"/>
          </a:p>
        </p:txBody>
      </p:sp>
      <p:sp>
        <p:nvSpPr>
          <p:cNvPr id="14" name="Shape 12"/>
          <p:cNvSpPr/>
          <p:nvPr/>
        </p:nvSpPr>
        <p:spPr>
          <a:xfrm>
            <a:off x="5349240" y="1005840"/>
            <a:ext cx="1600200" cy="640080"/>
          </a:xfrm>
          <a:prstGeom prst="rect">
            <a:avLst/>
          </a:prstGeom>
          <a:solidFill>
            <a:srgbClr val="2A2A2A"/>
          </a:solidFill>
          <a:ln w="12700">
            <a:solidFill>
              <a:srgbClr val="D4AF37"/>
            </a:solidFill>
            <a:prstDash val="solid"/>
          </a:ln>
        </p:spPr>
      </p:sp>
      <p:sp>
        <p:nvSpPr>
          <p:cNvPr id="15" name="Text 13"/>
          <p:cNvSpPr/>
          <p:nvPr/>
        </p:nvSpPr>
        <p:spPr>
          <a:xfrm>
            <a:off x="5349240" y="104241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Watch Trailer</a:t>
            </a:r>
            <a:endParaRPr lang="en-US" sz="900" dirty="0"/>
          </a:p>
        </p:txBody>
      </p:sp>
      <p:sp>
        <p:nvSpPr>
          <p:cNvPr id="16" name="Text 14"/>
          <p:cNvSpPr/>
          <p:nvPr/>
        </p:nvSpPr>
        <p:spPr>
          <a:xfrm>
            <a:off x="5349240" y="133502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YouTube search</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Movie details</a:t>
            </a:r>
            <a:endParaRPr lang="en-US" sz="750" dirty="0"/>
          </a:p>
        </p:txBody>
      </p:sp>
      <p:sp>
        <p:nvSpPr>
          <p:cNvPr id="17" name="Shape 15"/>
          <p:cNvSpPr/>
          <p:nvPr/>
        </p:nvSpPr>
        <p:spPr>
          <a:xfrm>
            <a:off x="7040880" y="1005840"/>
            <a:ext cx="1600200" cy="640080"/>
          </a:xfrm>
          <a:prstGeom prst="rect">
            <a:avLst/>
          </a:prstGeom>
          <a:solidFill>
            <a:srgbClr val="2A2A2A"/>
          </a:solidFill>
          <a:ln w="12700">
            <a:solidFill>
              <a:srgbClr val="D4AF37"/>
            </a:solidFill>
            <a:prstDash val="solid"/>
          </a:ln>
        </p:spPr>
      </p:sp>
      <p:sp>
        <p:nvSpPr>
          <p:cNvPr id="18" name="Text 16"/>
          <p:cNvSpPr/>
          <p:nvPr/>
        </p:nvSpPr>
        <p:spPr>
          <a:xfrm>
            <a:off x="7040880" y="104241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Book Movie</a:t>
            </a:r>
            <a:endParaRPr lang="en-US" sz="900" dirty="0"/>
          </a:p>
        </p:txBody>
      </p:sp>
      <p:sp>
        <p:nvSpPr>
          <p:cNvPr id="19" name="Text 17"/>
          <p:cNvSpPr/>
          <p:nvPr/>
        </p:nvSpPr>
        <p:spPr>
          <a:xfrm>
            <a:off x="7040880" y="133502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Select showtime</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Movie details page</a:t>
            </a:r>
            <a:endParaRPr lang="en-US" sz="750" dirty="0"/>
          </a:p>
        </p:txBody>
      </p:sp>
      <p:sp>
        <p:nvSpPr>
          <p:cNvPr id="20" name="Shape 18"/>
          <p:cNvSpPr/>
          <p:nvPr/>
        </p:nvSpPr>
        <p:spPr>
          <a:xfrm>
            <a:off x="777240" y="2514600"/>
            <a:ext cx="1600200" cy="640080"/>
          </a:xfrm>
          <a:prstGeom prst="rect">
            <a:avLst/>
          </a:prstGeom>
          <a:solidFill>
            <a:srgbClr val="2A2A2A"/>
          </a:solidFill>
          <a:ln w="12700">
            <a:solidFill>
              <a:srgbClr val="D4AF37"/>
            </a:solidFill>
            <a:prstDash val="solid"/>
          </a:ln>
        </p:spPr>
      </p:sp>
      <p:sp>
        <p:nvSpPr>
          <p:cNvPr id="21" name="Text 19"/>
          <p:cNvSpPr/>
          <p:nvPr/>
        </p:nvSpPr>
        <p:spPr>
          <a:xfrm>
            <a:off x="777240" y="255117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Select Seats</a:t>
            </a:r>
            <a:endParaRPr lang="en-US" sz="900" dirty="0"/>
          </a:p>
        </p:txBody>
      </p:sp>
      <p:sp>
        <p:nvSpPr>
          <p:cNvPr id="22" name="Text 20"/>
          <p:cNvSpPr/>
          <p:nvPr/>
        </p:nvSpPr>
        <p:spPr>
          <a:xfrm>
            <a:off x="777240" y="284378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Recliner/Prime/Classic</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Color-coded grid</a:t>
            </a:r>
            <a:endParaRPr lang="en-US" sz="750" dirty="0"/>
          </a:p>
        </p:txBody>
      </p:sp>
      <p:sp>
        <p:nvSpPr>
          <p:cNvPr id="23" name="Shape 21"/>
          <p:cNvSpPr/>
          <p:nvPr/>
        </p:nvSpPr>
        <p:spPr>
          <a:xfrm>
            <a:off x="2468880" y="2514600"/>
            <a:ext cx="1600200" cy="640080"/>
          </a:xfrm>
          <a:prstGeom prst="rect">
            <a:avLst/>
          </a:prstGeom>
          <a:solidFill>
            <a:srgbClr val="2A2A2A"/>
          </a:solidFill>
          <a:ln w="12700">
            <a:solidFill>
              <a:srgbClr val="D4AF37"/>
            </a:solidFill>
            <a:prstDash val="solid"/>
          </a:ln>
        </p:spPr>
      </p:sp>
      <p:sp>
        <p:nvSpPr>
          <p:cNvPr id="24" name="Text 22"/>
          <p:cNvSpPr/>
          <p:nvPr/>
        </p:nvSpPr>
        <p:spPr>
          <a:xfrm>
            <a:off x="2468880" y="255117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Choose Payment</a:t>
            </a:r>
            <a:endParaRPr lang="en-US" sz="900" dirty="0"/>
          </a:p>
        </p:txBody>
      </p:sp>
      <p:sp>
        <p:nvSpPr>
          <p:cNvPr id="25" name="Text 23"/>
          <p:cNvSpPr/>
          <p:nvPr/>
        </p:nvSpPr>
        <p:spPr>
          <a:xfrm>
            <a:off x="2468880" y="284378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UPI/Card/Net Banking</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/Wallet</a:t>
            </a:r>
            <a:endParaRPr lang="en-US" sz="750" dirty="0"/>
          </a:p>
        </p:txBody>
      </p:sp>
      <p:sp>
        <p:nvSpPr>
          <p:cNvPr id="26" name="Shape 24"/>
          <p:cNvSpPr/>
          <p:nvPr/>
        </p:nvSpPr>
        <p:spPr>
          <a:xfrm>
            <a:off x="4160520" y="2514600"/>
            <a:ext cx="1600200" cy="640080"/>
          </a:xfrm>
          <a:prstGeom prst="rect">
            <a:avLst/>
          </a:prstGeom>
          <a:solidFill>
            <a:srgbClr val="2A2A2A"/>
          </a:solidFill>
          <a:ln w="12700">
            <a:solidFill>
              <a:srgbClr val="D4AF37"/>
            </a:solidFill>
            <a:prstDash val="solid"/>
          </a:ln>
        </p:spPr>
      </p:sp>
      <p:sp>
        <p:nvSpPr>
          <p:cNvPr id="27" name="Text 25"/>
          <p:cNvSpPr/>
          <p:nvPr/>
        </p:nvSpPr>
        <p:spPr>
          <a:xfrm>
            <a:off x="4160520" y="2551176"/>
            <a:ext cx="1600200" cy="27432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Payment Confirmed</a:t>
            </a:r>
            <a:endParaRPr lang="en-US" sz="900" dirty="0"/>
          </a:p>
        </p:txBody>
      </p:sp>
      <p:sp>
        <p:nvSpPr>
          <p:cNvPr id="28" name="Text 26"/>
          <p:cNvSpPr/>
          <p:nvPr/>
        </p:nvSpPr>
        <p:spPr>
          <a:xfrm>
            <a:off x="4160520" y="2843784"/>
            <a:ext cx="1600200" cy="274320"/>
          </a:xfrm>
          <a:prstGeom prst="rect">
            <a:avLst/>
          </a:prstGeom>
          <a:noFill/>
          <a:ln/>
        </p:spPr>
        <p:txBody>
          <a:bodyPr wrap="square" rtlCol="0" anchor="ctr"/>
          <a:lstStyle/>
          <a:p>
            <a:pPr algn="ctr" indent="0" marL="0">
              <a:buNone/>
            </a:pPr>
            <a:r>
              <a:rPr lang="en-US" sz="750" dirty="0">
                <a:solidFill>
                  <a:srgbClr val="888888"/>
                </a:solidFill>
                <a:latin typeface="Calibri" pitchFamily="34" charset="0"/>
                <a:ea typeface="Calibri" pitchFamily="34" charset="-122"/>
                <a:cs typeface="Calibri" pitchFamily="34" charset="-120"/>
              </a:rPr>
              <a:t>Simulated payment</a:t>
            </a:r>
            <a:endParaRPr lang="en-US" sz="750" dirty="0"/>
          </a:p>
          <a:p>
            <a:pPr algn="ctr" indent="0" marL="0">
              <a:buNone/>
            </a:pPr>
            <a:r>
              <a:rPr lang="en-US" sz="750" dirty="0">
                <a:solidFill>
                  <a:srgbClr val="888888"/>
                </a:solidFill>
                <a:latin typeface="Calibri" pitchFamily="34" charset="0"/>
                <a:ea typeface="Calibri" pitchFamily="34" charset="-122"/>
                <a:cs typeface="Calibri" pitchFamily="34" charset="-120"/>
              </a:rPr>
              <a:t>2s processing</a:t>
            </a:r>
            <a:endParaRPr lang="en-US" sz="750" dirty="0"/>
          </a:p>
        </p:txBody>
      </p:sp>
      <p:sp>
        <p:nvSpPr>
          <p:cNvPr id="29" name="Shape 27"/>
          <p:cNvSpPr/>
          <p:nvPr/>
        </p:nvSpPr>
        <p:spPr>
          <a:xfrm>
            <a:off x="5852160" y="2514600"/>
            <a:ext cx="1600200" cy="640080"/>
          </a:xfrm>
          <a:prstGeom prst="rect">
            <a:avLst/>
          </a:prstGeom>
          <a:solidFill>
            <a:srgbClr val="A88B2E"/>
          </a:solidFill>
          <a:ln w="12700">
            <a:solidFill>
              <a:srgbClr val="D4AF37"/>
            </a:solidFill>
            <a:prstDash val="solid"/>
          </a:ln>
        </p:spPr>
      </p:sp>
      <p:sp>
        <p:nvSpPr>
          <p:cNvPr id="30" name="Text 28"/>
          <p:cNvSpPr/>
          <p:nvPr/>
        </p:nvSpPr>
        <p:spPr>
          <a:xfrm>
            <a:off x="5852160" y="2551176"/>
            <a:ext cx="1600200" cy="274320"/>
          </a:xfrm>
          <a:prstGeom prst="rect">
            <a:avLst/>
          </a:prstGeom>
          <a:noFill/>
          <a:ln/>
        </p:spPr>
        <p:txBody>
          <a:bodyPr wrap="square" rtlCol="0" anchor="ctr"/>
          <a:lstStyle/>
          <a:p>
            <a:pPr algn="ctr" indent="0" marL="0">
              <a:buNone/>
            </a:pPr>
            <a:r>
              <a:rPr lang="en-US" sz="900" b="1" dirty="0">
                <a:solidFill>
                  <a:srgbClr val="0A0A0A"/>
                </a:solidFill>
                <a:latin typeface="Calibri" pitchFamily="34" charset="0"/>
                <a:ea typeface="Calibri" pitchFamily="34" charset="-122"/>
                <a:cs typeface="Calibri" pitchFamily="34" charset="-120"/>
              </a:rPr>
              <a:t>QR Ticket</a:t>
            </a:r>
            <a:endParaRPr lang="en-US" sz="900" dirty="0"/>
          </a:p>
        </p:txBody>
      </p:sp>
      <p:sp>
        <p:nvSpPr>
          <p:cNvPr id="31" name="Text 29"/>
          <p:cNvSpPr/>
          <p:nvPr/>
        </p:nvSpPr>
        <p:spPr>
          <a:xfrm>
            <a:off x="5852160" y="2843784"/>
            <a:ext cx="1600200" cy="274320"/>
          </a:xfrm>
          <a:prstGeom prst="rect">
            <a:avLst/>
          </a:prstGeom>
          <a:noFill/>
          <a:ln/>
        </p:spPr>
        <p:txBody>
          <a:bodyPr wrap="square"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Download PNG</a:t>
            </a:r>
            <a:endParaRPr lang="en-US" sz="750" dirty="0"/>
          </a:p>
          <a:p>
            <a:pPr algn="ctr" indent="0" marL="0">
              <a:buNone/>
            </a:pPr>
            <a:r>
              <a:rPr lang="en-US" sz="750" dirty="0">
                <a:solidFill>
                  <a:srgbClr val="222222"/>
                </a:solidFill>
                <a:latin typeface="Calibri" pitchFamily="34" charset="0"/>
                <a:ea typeface="Calibri" pitchFamily="34" charset="-122"/>
                <a:cs typeface="Calibri" pitchFamily="34" charset="-120"/>
              </a:rPr>
              <a:t>Scan at theatre</a:t>
            </a:r>
            <a:endParaRPr lang="en-US" sz="750" dirty="0"/>
          </a:p>
        </p:txBody>
      </p:sp>
      <p:sp>
        <p:nvSpPr>
          <p:cNvPr id="32" name="Shape 30"/>
          <p:cNvSpPr/>
          <p:nvPr/>
        </p:nvSpPr>
        <p:spPr>
          <a:xfrm>
            <a:off x="7543800" y="2514600"/>
            <a:ext cx="1600200" cy="640080"/>
          </a:xfrm>
          <a:prstGeom prst="rect">
            <a:avLst/>
          </a:prstGeom>
          <a:solidFill>
            <a:srgbClr val="A88B2E"/>
          </a:solidFill>
          <a:ln w="12700">
            <a:solidFill>
              <a:srgbClr val="D4AF37"/>
            </a:solidFill>
            <a:prstDash val="solid"/>
          </a:ln>
        </p:spPr>
      </p:sp>
      <p:sp>
        <p:nvSpPr>
          <p:cNvPr id="33" name="Text 31"/>
          <p:cNvSpPr/>
          <p:nvPr/>
        </p:nvSpPr>
        <p:spPr>
          <a:xfrm>
            <a:off x="7543800" y="2551176"/>
            <a:ext cx="1600200" cy="274320"/>
          </a:xfrm>
          <a:prstGeom prst="rect">
            <a:avLst/>
          </a:prstGeom>
          <a:noFill/>
          <a:ln/>
        </p:spPr>
        <p:txBody>
          <a:bodyPr wrap="square" rtlCol="0" anchor="ctr"/>
          <a:lstStyle/>
          <a:p>
            <a:pPr algn="ctr" indent="0" marL="0">
              <a:buNone/>
            </a:pPr>
            <a:r>
              <a:rPr lang="en-US" sz="900" b="1" dirty="0">
                <a:solidFill>
                  <a:srgbClr val="0A0A0A"/>
                </a:solidFill>
                <a:latin typeface="Calibri" pitchFamily="34" charset="0"/>
                <a:ea typeface="Calibri" pitchFamily="34" charset="-122"/>
                <a:cs typeface="Calibri" pitchFamily="34" charset="-120"/>
              </a:rPr>
              <a:t>My Tickets</a:t>
            </a:r>
            <a:endParaRPr lang="en-US" sz="900" dirty="0"/>
          </a:p>
        </p:txBody>
      </p:sp>
      <p:sp>
        <p:nvSpPr>
          <p:cNvPr id="34" name="Text 32"/>
          <p:cNvSpPr/>
          <p:nvPr/>
        </p:nvSpPr>
        <p:spPr>
          <a:xfrm>
            <a:off x="7543800" y="2843784"/>
            <a:ext cx="1600200" cy="274320"/>
          </a:xfrm>
          <a:prstGeom prst="rect">
            <a:avLst/>
          </a:prstGeom>
          <a:noFill/>
          <a:ln/>
        </p:spPr>
        <p:txBody>
          <a:bodyPr wrap="square" rtlCol="0" anchor="ctr"/>
          <a:lstStyle/>
          <a:p>
            <a:pPr algn="ctr" indent="0" marL="0">
              <a:buNone/>
            </a:pPr>
            <a:r>
              <a:rPr lang="en-US" sz="750" dirty="0">
                <a:solidFill>
                  <a:srgbClr val="222222"/>
                </a:solidFill>
                <a:latin typeface="Calibri" pitchFamily="34" charset="0"/>
                <a:ea typeface="Calibri" pitchFamily="34" charset="-122"/>
                <a:cs typeface="Calibri" pitchFamily="34" charset="-120"/>
              </a:rPr>
              <a:t>View all bookings</a:t>
            </a:r>
            <a:endParaRPr lang="en-US" sz="750" dirty="0"/>
          </a:p>
          <a:p>
            <a:pPr algn="ctr" indent="0" marL="0">
              <a:buNone/>
            </a:pPr>
            <a:r>
              <a:rPr lang="en-US" sz="750" dirty="0">
                <a:solidFill>
                  <a:srgbClr val="222222"/>
                </a:solidFill>
                <a:latin typeface="Calibri" pitchFamily="34" charset="0"/>
                <a:ea typeface="Calibri" pitchFamily="34" charset="-122"/>
                <a:cs typeface="Calibri" pitchFamily="34" charset="-120"/>
              </a:rPr>
              <a:t>Booked movies list</a:t>
            </a:r>
            <a:endParaRPr lang="en-US" sz="750" dirty="0"/>
          </a:p>
        </p:txBody>
      </p:sp>
      <p:sp>
        <p:nvSpPr>
          <p:cNvPr id="35" name="Shape 33"/>
          <p:cNvSpPr/>
          <p:nvPr/>
        </p:nvSpPr>
        <p:spPr>
          <a:xfrm>
            <a:off x="1901952" y="1298448"/>
            <a:ext cx="64008" cy="82296"/>
          </a:xfrm>
          <a:prstGeom prst="rect">
            <a:avLst/>
          </a:prstGeom>
          <a:solidFill>
            <a:srgbClr val="D4AF37"/>
          </a:solidFill>
          <a:ln w="12700">
            <a:solidFill>
              <a:srgbClr val="D4AF37"/>
            </a:solidFill>
            <a:prstDash val="solid"/>
          </a:ln>
        </p:spPr>
      </p:sp>
      <p:sp>
        <p:nvSpPr>
          <p:cNvPr id="36" name="Text 34"/>
          <p:cNvSpPr/>
          <p:nvPr/>
        </p:nvSpPr>
        <p:spPr>
          <a:xfrm>
            <a:off x="1901952" y="1261872"/>
            <a:ext cx="91440" cy="164592"/>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37" name="Shape 35"/>
          <p:cNvSpPr/>
          <p:nvPr/>
        </p:nvSpPr>
        <p:spPr>
          <a:xfrm>
            <a:off x="3593592" y="1298448"/>
            <a:ext cx="64008" cy="82296"/>
          </a:xfrm>
          <a:prstGeom prst="rect">
            <a:avLst/>
          </a:prstGeom>
          <a:solidFill>
            <a:srgbClr val="D4AF37"/>
          </a:solidFill>
          <a:ln w="12700">
            <a:solidFill>
              <a:srgbClr val="D4AF37"/>
            </a:solidFill>
            <a:prstDash val="solid"/>
          </a:ln>
        </p:spPr>
      </p:sp>
      <p:sp>
        <p:nvSpPr>
          <p:cNvPr id="38" name="Text 36"/>
          <p:cNvSpPr/>
          <p:nvPr/>
        </p:nvSpPr>
        <p:spPr>
          <a:xfrm>
            <a:off x="3593592" y="1261872"/>
            <a:ext cx="91440" cy="164592"/>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39" name="Shape 37"/>
          <p:cNvSpPr/>
          <p:nvPr/>
        </p:nvSpPr>
        <p:spPr>
          <a:xfrm>
            <a:off x="5285232" y="1298448"/>
            <a:ext cx="64008" cy="82296"/>
          </a:xfrm>
          <a:prstGeom prst="rect">
            <a:avLst/>
          </a:prstGeom>
          <a:solidFill>
            <a:srgbClr val="D4AF37"/>
          </a:solidFill>
          <a:ln w="12700">
            <a:solidFill>
              <a:srgbClr val="D4AF37"/>
            </a:solidFill>
            <a:prstDash val="solid"/>
          </a:ln>
        </p:spPr>
      </p:sp>
      <p:sp>
        <p:nvSpPr>
          <p:cNvPr id="40" name="Text 38"/>
          <p:cNvSpPr/>
          <p:nvPr/>
        </p:nvSpPr>
        <p:spPr>
          <a:xfrm>
            <a:off x="5285232" y="1261872"/>
            <a:ext cx="91440" cy="164592"/>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1" name="Shape 39"/>
          <p:cNvSpPr/>
          <p:nvPr/>
        </p:nvSpPr>
        <p:spPr>
          <a:xfrm>
            <a:off x="6976872" y="1298448"/>
            <a:ext cx="64008" cy="82296"/>
          </a:xfrm>
          <a:prstGeom prst="rect">
            <a:avLst/>
          </a:prstGeom>
          <a:solidFill>
            <a:srgbClr val="D4AF37"/>
          </a:solidFill>
          <a:ln w="12700">
            <a:solidFill>
              <a:srgbClr val="D4AF37"/>
            </a:solidFill>
            <a:prstDash val="solid"/>
          </a:ln>
        </p:spPr>
      </p:sp>
      <p:sp>
        <p:nvSpPr>
          <p:cNvPr id="42" name="Text 40"/>
          <p:cNvSpPr/>
          <p:nvPr/>
        </p:nvSpPr>
        <p:spPr>
          <a:xfrm>
            <a:off x="6976872" y="1261872"/>
            <a:ext cx="91440" cy="164592"/>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3" name="Shape 41"/>
          <p:cNvSpPr/>
          <p:nvPr/>
        </p:nvSpPr>
        <p:spPr>
          <a:xfrm>
            <a:off x="7818120" y="1691640"/>
            <a:ext cx="36576" cy="594360"/>
          </a:xfrm>
          <a:prstGeom prst="rect">
            <a:avLst/>
          </a:prstGeom>
          <a:solidFill>
            <a:srgbClr val="D4AF37"/>
          </a:solidFill>
          <a:ln w="12700">
            <a:solidFill>
              <a:srgbClr val="D4AF37"/>
            </a:solidFill>
            <a:prstDash val="solid"/>
          </a:ln>
        </p:spPr>
      </p:sp>
      <p:sp>
        <p:nvSpPr>
          <p:cNvPr id="44" name="Text 42"/>
          <p:cNvSpPr/>
          <p:nvPr/>
        </p:nvSpPr>
        <p:spPr>
          <a:xfrm>
            <a:off x="7680960" y="2286000"/>
            <a:ext cx="274320" cy="182880"/>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5" name="Text 43"/>
          <p:cNvSpPr/>
          <p:nvPr/>
        </p:nvSpPr>
        <p:spPr>
          <a:xfrm>
            <a:off x="7479792" y="2788920"/>
            <a:ext cx="91440" cy="137160"/>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6" name="Text 44"/>
          <p:cNvSpPr/>
          <p:nvPr/>
        </p:nvSpPr>
        <p:spPr>
          <a:xfrm>
            <a:off x="5788152" y="2788920"/>
            <a:ext cx="91440" cy="137160"/>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7" name="Text 45"/>
          <p:cNvSpPr/>
          <p:nvPr/>
        </p:nvSpPr>
        <p:spPr>
          <a:xfrm>
            <a:off x="4096512" y="2788920"/>
            <a:ext cx="91440" cy="137160"/>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8" name="Text 46"/>
          <p:cNvSpPr/>
          <p:nvPr/>
        </p:nvSpPr>
        <p:spPr>
          <a:xfrm>
            <a:off x="2404872" y="2788920"/>
            <a:ext cx="91440" cy="137160"/>
          </a:xfrm>
          <a:prstGeom prst="rect">
            <a:avLst/>
          </a:prstGeom>
          <a:noFill/>
          <a:ln/>
        </p:spPr>
        <p:txBody>
          <a:bodyPr wrap="square" rtlCol="0" anchor="ctr"/>
          <a:lstStyle/>
          <a:p>
            <a:pPr algn="ctr" indent="0" marL="0">
              <a:buNone/>
            </a:pPr>
            <a:r>
              <a:rPr lang="en-US" sz="900" dirty="0">
                <a:solidFill>
                  <a:srgbClr val="D4AF37"/>
                </a:solidFill>
              </a:rPr>
              <a:t>◀</a:t>
            </a:r>
            <a:endParaRPr lang="en-US" sz="900" dirty="0"/>
          </a:p>
        </p:txBody>
      </p:sp>
      <p:sp>
        <p:nvSpPr>
          <p:cNvPr id="49" name="Shape 47"/>
          <p:cNvSpPr/>
          <p:nvPr/>
        </p:nvSpPr>
        <p:spPr>
          <a:xfrm>
            <a:off x="274320" y="3840480"/>
            <a:ext cx="3200400" cy="640080"/>
          </a:xfrm>
          <a:prstGeom prst="rect">
            <a:avLst/>
          </a:prstGeom>
          <a:solidFill>
            <a:srgbClr val="1A1A00"/>
          </a:solidFill>
          <a:ln w="19050">
            <a:solidFill>
              <a:srgbClr val="D4AF37"/>
            </a:solidFill>
            <a:prstDash val="solid"/>
          </a:ln>
        </p:spPr>
      </p:sp>
      <p:sp>
        <p:nvSpPr>
          <p:cNvPr id="50" name="Text 48"/>
          <p:cNvSpPr/>
          <p:nvPr/>
        </p:nvSpPr>
        <p:spPr>
          <a:xfrm>
            <a:off x="274320" y="3840480"/>
            <a:ext cx="3200400" cy="640080"/>
          </a:xfrm>
          <a:prstGeom prst="rect">
            <a:avLst/>
          </a:prstGeom>
          <a:noFill/>
          <a:ln/>
        </p:spPr>
        <p:txBody>
          <a:bodyPr wrap="square" rtlCol="0" anchor="ctr"/>
          <a:lstStyle/>
          <a:p>
            <a:pPr algn="ctr" indent="0" marL="0">
              <a:buNone/>
            </a:pPr>
            <a:r>
              <a:rPr lang="en-US" sz="900" dirty="0">
                <a:solidFill>
                  <a:srgbClr val="D4AF37"/>
                </a:solidFill>
                <a:latin typeface="Calibri" pitchFamily="34" charset="0"/>
                <a:ea typeface="Calibri" pitchFamily="34" charset="-122"/>
                <a:cs typeface="Calibri" pitchFamily="34" charset="-120"/>
              </a:rPr>
              <a:t>👑  ADMIN FLOW: Admin Login → View Dashboard → Manage Bookings → Export CSV → Logout</a:t>
            </a:r>
            <a:endParaRPr lang="en-US" sz="900" dirty="0"/>
          </a:p>
        </p:txBody>
      </p:sp>
      <p:sp>
        <p:nvSpPr>
          <p:cNvPr id="51" name="Shape 49"/>
          <p:cNvSpPr/>
          <p:nvPr/>
        </p:nvSpPr>
        <p:spPr>
          <a:xfrm>
            <a:off x="3657600" y="3840480"/>
            <a:ext cx="5212080" cy="640080"/>
          </a:xfrm>
          <a:prstGeom prst="rect">
            <a:avLst/>
          </a:prstGeom>
          <a:solidFill>
            <a:srgbClr val="2A2A2A"/>
          </a:solidFill>
          <a:ln w="6350">
            <a:solidFill>
              <a:srgbClr val="404040"/>
            </a:solidFill>
            <a:prstDash val="solid"/>
          </a:ln>
        </p:spPr>
      </p:sp>
      <p:sp>
        <p:nvSpPr>
          <p:cNvPr id="52" name="Text 50"/>
          <p:cNvSpPr/>
          <p:nvPr/>
        </p:nvSpPr>
        <p:spPr>
          <a:xfrm>
            <a:off x="3657600" y="3840480"/>
            <a:ext cx="5212080" cy="64008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  Sign-in validates: email format · password strength (weak/medium/strong) · existing account check  |  🌐  Language saved in localStorage &amp; applied on every page load</a:t>
            </a:r>
            <a:endParaRPr lang="en-US" sz="900" dirty="0"/>
          </a:p>
        </p:txBody>
      </p:sp>
      <p:sp>
        <p:nvSpPr>
          <p:cNvPr id="53" name="Shape 51"/>
          <p:cNvSpPr/>
          <p:nvPr/>
        </p:nvSpPr>
        <p:spPr>
          <a:xfrm>
            <a:off x="0" y="4846320"/>
            <a:ext cx="9144000" cy="297180"/>
          </a:xfrm>
          <a:prstGeom prst="rect">
            <a:avLst/>
          </a:prstGeom>
          <a:solidFill>
            <a:srgbClr val="1A1A1A"/>
          </a:solidFill>
          <a:ln w="12700">
            <a:solidFill>
              <a:srgbClr val="1A1A1A"/>
            </a:solidFill>
            <a:prstDash val="solid"/>
          </a:ln>
        </p:spPr>
      </p:sp>
      <p:sp>
        <p:nvSpPr>
          <p:cNvPr id="54" name="Shape 52"/>
          <p:cNvSpPr/>
          <p:nvPr/>
        </p:nvSpPr>
        <p:spPr>
          <a:xfrm>
            <a:off x="0" y="4846320"/>
            <a:ext cx="9144000" cy="18288"/>
          </a:xfrm>
          <a:prstGeom prst="rect">
            <a:avLst/>
          </a:prstGeom>
          <a:solidFill>
            <a:srgbClr val="D4AF37"/>
          </a:solidFill>
          <a:ln w="12700">
            <a:solidFill>
              <a:srgbClr val="D4AF37"/>
            </a:solidFill>
            <a:prstDash val="solid"/>
          </a:ln>
        </p:spPr>
      </p:sp>
      <p:sp>
        <p:nvSpPr>
          <p:cNvPr id="55" name="Text 53"/>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56" name="Shape 54"/>
          <p:cNvSpPr/>
          <p:nvPr/>
        </p:nvSpPr>
        <p:spPr>
          <a:xfrm>
            <a:off x="8686800" y="91440"/>
            <a:ext cx="320040" cy="320040"/>
          </a:xfrm>
          <a:prstGeom prst="ellipse">
            <a:avLst/>
          </a:prstGeom>
          <a:solidFill>
            <a:srgbClr val="D4AF37"/>
          </a:solidFill>
          <a:ln w="12700">
            <a:solidFill>
              <a:srgbClr val="D4AF37"/>
            </a:solidFill>
            <a:prstDash val="solid"/>
          </a:ln>
        </p:spPr>
      </p:sp>
      <p:sp>
        <p:nvSpPr>
          <p:cNvPr id="57" name="Text 55"/>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Sign In &amp; Language Preference</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1 &amp; 2: User authentication with weak password detection + language selection</a:t>
            </a:r>
            <a:endParaRPr lang="en-US" sz="1100" dirty="0"/>
          </a:p>
        </p:txBody>
      </p:sp>
      <p:sp>
        <p:nvSpPr>
          <p:cNvPr id="5" name="Shape 3"/>
          <p:cNvSpPr/>
          <p:nvPr/>
        </p:nvSpPr>
        <p:spPr>
          <a:xfrm>
            <a:off x="274320" y="960120"/>
            <a:ext cx="4114800" cy="329184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3200400"/>
          </a:xfrm>
          <a:prstGeom prst="rect">
            <a:avLst/>
          </a:prstGeom>
        </p:spPr>
      </p:pic>
      <p:sp>
        <p:nvSpPr>
          <p:cNvPr id="7" name="Text 4"/>
          <p:cNvSpPr/>
          <p:nvPr/>
        </p:nvSpPr>
        <p:spPr>
          <a:xfrm>
            <a:off x="274320" y="4279392"/>
            <a:ext cx="411480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Step 1: Create Account — Password strength meter (Weak / Medium / Very Strong 🔒)</a:t>
            </a:r>
            <a:endParaRPr lang="en-US" sz="900" dirty="0"/>
          </a:p>
        </p:txBody>
      </p:sp>
      <p:sp>
        <p:nvSpPr>
          <p:cNvPr id="8" name="Shape 5"/>
          <p:cNvSpPr/>
          <p:nvPr/>
        </p:nvSpPr>
        <p:spPr>
          <a:xfrm>
            <a:off x="4754880" y="960120"/>
            <a:ext cx="4114800" cy="329184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800600" y="1005840"/>
            <a:ext cx="4023360" cy="3200400"/>
          </a:xfrm>
          <a:prstGeom prst="rect">
            <a:avLst/>
          </a:prstGeom>
        </p:spPr>
      </p:pic>
      <p:sp>
        <p:nvSpPr>
          <p:cNvPr id="10" name="Text 6"/>
          <p:cNvSpPr/>
          <p:nvPr/>
        </p:nvSpPr>
        <p:spPr>
          <a:xfrm>
            <a:off x="4754880" y="4279392"/>
            <a:ext cx="411480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Step 2: Homepage — 'BOOK YOUR CINEMA EXPERIENCE' | Language tabs | 41 Movies · 8 Languages</a:t>
            </a:r>
            <a:endParaRPr lang="en-US" sz="900" dirty="0"/>
          </a:p>
        </p:txBody>
      </p:sp>
      <p:sp>
        <p:nvSpPr>
          <p:cNvPr id="11" name="Text 7"/>
          <p:cNvSpPr/>
          <p:nvPr/>
        </p:nvSpPr>
        <p:spPr>
          <a:xfrm>
            <a:off x="4434840" y="2377440"/>
            <a:ext cx="274320" cy="365760"/>
          </a:xfrm>
          <a:prstGeom prst="rect">
            <a:avLst/>
          </a:prstGeom>
          <a:noFill/>
          <a:ln/>
        </p:spPr>
        <p:txBody>
          <a:bodyPr wrap="square" rtlCol="0" anchor="ctr"/>
          <a:lstStyle/>
          <a:p>
            <a:pPr algn="ctr" indent="0" marL="0">
              <a:buNone/>
            </a:pPr>
            <a:r>
              <a:rPr lang="en-US" sz="2200" dirty="0">
                <a:solidFill>
                  <a:srgbClr val="D4AF37"/>
                </a:solidFill>
              </a:rPr>
              <a:t>→</a:t>
            </a:r>
            <a:endParaRPr lang="en-US" sz="2200" dirty="0"/>
          </a:p>
        </p:txBody>
      </p:sp>
      <p:sp>
        <p:nvSpPr>
          <p:cNvPr id="12" name="Shape 8"/>
          <p:cNvSpPr/>
          <p:nvPr/>
        </p:nvSpPr>
        <p:spPr>
          <a:xfrm>
            <a:off x="0" y="4846320"/>
            <a:ext cx="9144000" cy="297180"/>
          </a:xfrm>
          <a:prstGeom prst="rect">
            <a:avLst/>
          </a:prstGeom>
          <a:solidFill>
            <a:srgbClr val="1A1A1A"/>
          </a:solidFill>
          <a:ln w="12700">
            <a:solidFill>
              <a:srgbClr val="1A1A1A"/>
            </a:solidFill>
            <a:prstDash val="solid"/>
          </a:ln>
        </p:spPr>
      </p:sp>
      <p:sp>
        <p:nvSpPr>
          <p:cNvPr id="13" name="Shape 9"/>
          <p:cNvSpPr/>
          <p:nvPr/>
        </p:nvSpPr>
        <p:spPr>
          <a:xfrm>
            <a:off x="0" y="4846320"/>
            <a:ext cx="9144000" cy="18288"/>
          </a:xfrm>
          <a:prstGeom prst="rect">
            <a:avLst/>
          </a:prstGeom>
          <a:solidFill>
            <a:srgbClr val="D4AF37"/>
          </a:solidFill>
          <a:ln w="12700">
            <a:solidFill>
              <a:srgbClr val="D4AF37"/>
            </a:solidFill>
            <a:prstDash val="solid"/>
          </a:ln>
        </p:spPr>
      </p:sp>
      <p:sp>
        <p:nvSpPr>
          <p:cNvPr id="14" name="Text 10"/>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5" name="Shape 11"/>
          <p:cNvSpPr/>
          <p:nvPr/>
        </p:nvSpPr>
        <p:spPr>
          <a:xfrm>
            <a:off x="8686800" y="91440"/>
            <a:ext cx="320040" cy="320040"/>
          </a:xfrm>
          <a:prstGeom prst="ellipse">
            <a:avLst/>
          </a:prstGeom>
          <a:solidFill>
            <a:srgbClr val="D4AF37"/>
          </a:solidFill>
          <a:ln w="12700">
            <a:solidFill>
              <a:srgbClr val="D4AF37"/>
            </a:solidFill>
            <a:prstDash val="solid"/>
          </a:ln>
        </p:spPr>
      </p:sp>
      <p:sp>
        <p:nvSpPr>
          <p:cNvPr id="16" name="Text 12"/>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Movies &amp; Genre Filtering</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3: Browse movies by language, genre (Action, Drama, Comedy, Sci-Fi, Thriller...)</a:t>
            </a:r>
            <a:endParaRPr lang="en-US" sz="1100" dirty="0"/>
          </a:p>
        </p:txBody>
      </p:sp>
      <p:sp>
        <p:nvSpPr>
          <p:cNvPr id="5" name="Shape 3"/>
          <p:cNvSpPr/>
          <p:nvPr/>
        </p:nvSpPr>
        <p:spPr>
          <a:xfrm>
            <a:off x="274320" y="960120"/>
            <a:ext cx="5212080" cy="329184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5120640" cy="3200400"/>
          </a:xfrm>
          <a:prstGeom prst="rect">
            <a:avLst/>
          </a:prstGeom>
        </p:spPr>
      </p:pic>
      <p:sp>
        <p:nvSpPr>
          <p:cNvPr id="7" name="Text 4"/>
          <p:cNvSpPr/>
          <p:nvPr/>
        </p:nvSpPr>
        <p:spPr>
          <a:xfrm>
            <a:off x="274320" y="4279392"/>
            <a:ext cx="521208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Now Showing — 41 Movies, Multilingual, Sorted by Regional Priority</a:t>
            </a:r>
            <a:endParaRPr lang="en-US" sz="900" dirty="0"/>
          </a:p>
        </p:txBody>
      </p:sp>
      <p:sp>
        <p:nvSpPr>
          <p:cNvPr id="8" name="Shape 5"/>
          <p:cNvSpPr/>
          <p:nvPr/>
        </p:nvSpPr>
        <p:spPr>
          <a:xfrm>
            <a:off x="5669280" y="960120"/>
            <a:ext cx="3200400" cy="329184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5715000" y="1005840"/>
            <a:ext cx="3108960" cy="3200400"/>
          </a:xfrm>
          <a:prstGeom prst="rect">
            <a:avLst/>
          </a:prstGeom>
        </p:spPr>
      </p:pic>
      <p:sp>
        <p:nvSpPr>
          <p:cNvPr id="10" name="Text 6"/>
          <p:cNvSpPr/>
          <p:nvPr/>
        </p:nvSpPr>
        <p:spPr>
          <a:xfrm>
            <a:off x="5669280" y="4279392"/>
            <a:ext cx="320040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Live Search — Type 'Akhanda' → instant filtered results | Genre pills: Action / Drama / Comedy...</a:t>
            </a:r>
            <a:endParaRPr lang="en-US" sz="900" dirty="0"/>
          </a:p>
        </p:txBody>
      </p:sp>
      <p:sp>
        <p:nvSpPr>
          <p:cNvPr id="11" name="Shape 7"/>
          <p:cNvSpPr/>
          <p:nvPr/>
        </p:nvSpPr>
        <p:spPr>
          <a:xfrm>
            <a:off x="0" y="4846320"/>
            <a:ext cx="9144000" cy="297180"/>
          </a:xfrm>
          <a:prstGeom prst="rect">
            <a:avLst/>
          </a:prstGeom>
          <a:solidFill>
            <a:srgbClr val="1A1A1A"/>
          </a:solidFill>
          <a:ln w="12700">
            <a:solidFill>
              <a:srgbClr val="1A1A1A"/>
            </a:solidFill>
            <a:prstDash val="solid"/>
          </a:ln>
        </p:spPr>
      </p:sp>
      <p:sp>
        <p:nvSpPr>
          <p:cNvPr id="12" name="Shape 8"/>
          <p:cNvSpPr/>
          <p:nvPr/>
        </p:nvSpPr>
        <p:spPr>
          <a:xfrm>
            <a:off x="0" y="4846320"/>
            <a:ext cx="9144000" cy="18288"/>
          </a:xfrm>
          <a:prstGeom prst="rect">
            <a:avLst/>
          </a:prstGeom>
          <a:solidFill>
            <a:srgbClr val="D4AF37"/>
          </a:solidFill>
          <a:ln w="12700">
            <a:solidFill>
              <a:srgbClr val="D4AF37"/>
            </a:solidFill>
            <a:prstDash val="solid"/>
          </a:ln>
        </p:spPr>
      </p:sp>
      <p:sp>
        <p:nvSpPr>
          <p:cNvPr id="13" name="Text 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4" name="Shape 10"/>
          <p:cNvSpPr/>
          <p:nvPr/>
        </p:nvSpPr>
        <p:spPr>
          <a:xfrm>
            <a:off x="8686800" y="91440"/>
            <a:ext cx="320040" cy="320040"/>
          </a:xfrm>
          <a:prstGeom prst="ellipse">
            <a:avLst/>
          </a:prstGeom>
          <a:solidFill>
            <a:srgbClr val="D4AF37"/>
          </a:solidFill>
          <a:ln w="12700">
            <a:solidFill>
              <a:srgbClr val="D4AF37"/>
            </a:solidFill>
            <a:prstDash val="solid"/>
          </a:ln>
        </p:spPr>
      </p:sp>
      <p:sp>
        <p:nvSpPr>
          <p:cNvPr id="15" name="Text 1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Select Movie &amp; Watch Trailer</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4: Hover to Book or watch Trailer on YouTube — 12th Fail example</a:t>
            </a:r>
            <a:endParaRPr lang="en-US" sz="1100" dirty="0"/>
          </a:p>
        </p:txBody>
      </p:sp>
      <p:sp>
        <p:nvSpPr>
          <p:cNvPr id="5" name="Shape 3"/>
          <p:cNvSpPr/>
          <p:nvPr/>
        </p:nvSpPr>
        <p:spPr>
          <a:xfrm>
            <a:off x="274320" y="960120"/>
            <a:ext cx="4114800" cy="329184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3200400"/>
          </a:xfrm>
          <a:prstGeom prst="rect">
            <a:avLst/>
          </a:prstGeom>
        </p:spPr>
      </p:pic>
      <p:sp>
        <p:nvSpPr>
          <p:cNvPr id="7" name="Text 4"/>
          <p:cNvSpPr/>
          <p:nvPr/>
        </p:nvSpPr>
        <p:spPr>
          <a:xfrm>
            <a:off x="274320" y="4279392"/>
            <a:ext cx="411480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Trailer → YouTube: 12th Fail (Vikrant Massey · Vidhu Vinod Chopra)</a:t>
            </a:r>
            <a:endParaRPr lang="en-US" sz="900" dirty="0"/>
          </a:p>
        </p:txBody>
      </p:sp>
      <p:sp>
        <p:nvSpPr>
          <p:cNvPr id="8" name="Shape 5"/>
          <p:cNvSpPr/>
          <p:nvPr/>
        </p:nvSpPr>
        <p:spPr>
          <a:xfrm>
            <a:off x="4754880" y="960120"/>
            <a:ext cx="4114800" cy="329184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800600" y="1005840"/>
            <a:ext cx="4023360" cy="3200400"/>
          </a:xfrm>
          <a:prstGeom prst="rect">
            <a:avLst/>
          </a:prstGeom>
        </p:spPr>
      </p:pic>
      <p:sp>
        <p:nvSpPr>
          <p:cNvPr id="10" name="Text 6"/>
          <p:cNvSpPr/>
          <p:nvPr/>
        </p:nvSpPr>
        <p:spPr>
          <a:xfrm>
            <a:off x="4754880" y="4279392"/>
            <a:ext cx="4114800" cy="228600"/>
          </a:xfrm>
          <a:prstGeom prst="rect">
            <a:avLst/>
          </a:prstGeom>
          <a:noFill/>
          <a:ln/>
        </p:spPr>
        <p:txBody>
          <a:bodyPr wrap="square" rtlCol="0" anchor="ctr"/>
          <a:lstStyle/>
          <a:p>
            <a:pPr algn="ctr" indent="0" marL="0">
              <a:buNone/>
            </a:pPr>
            <a:r>
              <a:rPr lang="en-US" sz="900" b="1" dirty="0">
                <a:solidFill>
                  <a:srgbClr val="D4AF37"/>
                </a:solidFill>
                <a:latin typeface="Calibri" pitchFamily="34" charset="0"/>
                <a:ea typeface="Calibri" pitchFamily="34" charset="-122"/>
                <a:cs typeface="Calibri" pitchFamily="34" charset="-120"/>
              </a:rPr>
              <a:t>Trailer → YouTube: Dune: Part Two (Timothée Chalamet · Denis Villeneuve)</a:t>
            </a:r>
            <a:endParaRPr lang="en-US" sz="900" dirty="0"/>
          </a:p>
        </p:txBody>
      </p:sp>
      <p:sp>
        <p:nvSpPr>
          <p:cNvPr id="11" name="Text 7"/>
          <p:cNvSpPr/>
          <p:nvPr/>
        </p:nvSpPr>
        <p:spPr>
          <a:xfrm>
            <a:off x="4407408" y="2286000"/>
            <a:ext cx="329184" cy="32918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Shape 8"/>
          <p:cNvSpPr/>
          <p:nvPr/>
        </p:nvSpPr>
        <p:spPr>
          <a:xfrm>
            <a:off x="0" y="4846320"/>
            <a:ext cx="9144000" cy="297180"/>
          </a:xfrm>
          <a:prstGeom prst="rect">
            <a:avLst/>
          </a:prstGeom>
          <a:solidFill>
            <a:srgbClr val="1A1A1A"/>
          </a:solidFill>
          <a:ln w="12700">
            <a:solidFill>
              <a:srgbClr val="1A1A1A"/>
            </a:solidFill>
            <a:prstDash val="solid"/>
          </a:ln>
        </p:spPr>
      </p:sp>
      <p:sp>
        <p:nvSpPr>
          <p:cNvPr id="13" name="Shape 9"/>
          <p:cNvSpPr/>
          <p:nvPr/>
        </p:nvSpPr>
        <p:spPr>
          <a:xfrm>
            <a:off x="0" y="4846320"/>
            <a:ext cx="9144000" cy="18288"/>
          </a:xfrm>
          <a:prstGeom prst="rect">
            <a:avLst/>
          </a:prstGeom>
          <a:solidFill>
            <a:srgbClr val="D4AF37"/>
          </a:solidFill>
          <a:ln w="12700">
            <a:solidFill>
              <a:srgbClr val="D4AF37"/>
            </a:solidFill>
            <a:prstDash val="solid"/>
          </a:ln>
        </p:spPr>
      </p:sp>
      <p:sp>
        <p:nvSpPr>
          <p:cNvPr id="14" name="Text 10"/>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5" name="Shape 11"/>
          <p:cNvSpPr/>
          <p:nvPr/>
        </p:nvSpPr>
        <p:spPr>
          <a:xfrm>
            <a:off x="8686800" y="91440"/>
            <a:ext cx="320040" cy="320040"/>
          </a:xfrm>
          <a:prstGeom prst="ellipse">
            <a:avLst/>
          </a:prstGeom>
          <a:solidFill>
            <a:srgbClr val="D4AF37"/>
          </a:solidFill>
          <a:ln w="12700">
            <a:solidFill>
              <a:srgbClr val="D4AF37"/>
            </a:solidFill>
            <a:prstDash val="solid"/>
          </a:ln>
        </p:spPr>
      </p:sp>
      <p:sp>
        <p:nvSpPr>
          <p:cNvPr id="16" name="Text 12"/>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Seat Selection Grid</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5: Theatre-style grid — Recliner ₹500 | Prime ₹350 | Classic ₹200</a:t>
            </a:r>
            <a:endParaRPr lang="en-US" sz="1100" dirty="0"/>
          </a:p>
        </p:txBody>
      </p:sp>
      <p:sp>
        <p:nvSpPr>
          <p:cNvPr id="5" name="Shape 3"/>
          <p:cNvSpPr/>
          <p:nvPr/>
        </p:nvSpPr>
        <p:spPr>
          <a:xfrm>
            <a:off x="274320" y="960120"/>
            <a:ext cx="4114800" cy="365760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3566160"/>
          </a:xfrm>
          <a:prstGeom prst="rect">
            <a:avLst/>
          </a:prstGeom>
        </p:spPr>
      </p:pic>
      <p:sp>
        <p:nvSpPr>
          <p:cNvPr id="7" name="Text 4"/>
          <p:cNvSpPr/>
          <p:nvPr/>
        </p:nvSpPr>
        <p:spPr>
          <a:xfrm>
            <a:off x="274320" y="4645152"/>
            <a:ext cx="411480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Seat grid: Green = Available  |  Gold = Selected  |  Red = Booked</a:t>
            </a:r>
            <a:endParaRPr lang="en-US" sz="850" dirty="0"/>
          </a:p>
        </p:txBody>
      </p:sp>
      <p:sp>
        <p:nvSpPr>
          <p:cNvPr id="8" name="Shape 5"/>
          <p:cNvSpPr/>
          <p:nvPr/>
        </p:nvSpPr>
        <p:spPr>
          <a:xfrm>
            <a:off x="4572000" y="960120"/>
            <a:ext cx="4297680" cy="365760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617720" y="1005840"/>
            <a:ext cx="4206240" cy="3566160"/>
          </a:xfrm>
          <a:prstGeom prst="rect">
            <a:avLst/>
          </a:prstGeom>
        </p:spPr>
      </p:pic>
      <p:sp>
        <p:nvSpPr>
          <p:cNvPr id="10" name="Text 6"/>
          <p:cNvSpPr/>
          <p:nvPr/>
        </p:nvSpPr>
        <p:spPr>
          <a:xfrm>
            <a:off x="4572000" y="4645152"/>
            <a:ext cx="429768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12th Fail Seat Selection — 5 showtimes: 10:30AM to 10:00PM</a:t>
            </a:r>
            <a:endParaRPr lang="en-US" sz="850" dirty="0"/>
          </a:p>
        </p:txBody>
      </p:sp>
      <p:sp>
        <p:nvSpPr>
          <p:cNvPr id="11" name="Shape 7"/>
          <p:cNvSpPr/>
          <p:nvPr/>
        </p:nvSpPr>
        <p:spPr>
          <a:xfrm>
            <a:off x="0" y="4846320"/>
            <a:ext cx="9144000" cy="297180"/>
          </a:xfrm>
          <a:prstGeom prst="rect">
            <a:avLst/>
          </a:prstGeom>
          <a:solidFill>
            <a:srgbClr val="1A1A1A"/>
          </a:solidFill>
          <a:ln w="12700">
            <a:solidFill>
              <a:srgbClr val="1A1A1A"/>
            </a:solidFill>
            <a:prstDash val="solid"/>
          </a:ln>
        </p:spPr>
      </p:sp>
      <p:sp>
        <p:nvSpPr>
          <p:cNvPr id="12" name="Shape 8"/>
          <p:cNvSpPr/>
          <p:nvPr/>
        </p:nvSpPr>
        <p:spPr>
          <a:xfrm>
            <a:off x="0" y="4846320"/>
            <a:ext cx="9144000" cy="18288"/>
          </a:xfrm>
          <a:prstGeom prst="rect">
            <a:avLst/>
          </a:prstGeom>
          <a:solidFill>
            <a:srgbClr val="D4AF37"/>
          </a:solidFill>
          <a:ln w="12700">
            <a:solidFill>
              <a:srgbClr val="D4AF37"/>
            </a:solidFill>
            <a:prstDash val="solid"/>
          </a:ln>
        </p:spPr>
      </p:sp>
      <p:sp>
        <p:nvSpPr>
          <p:cNvPr id="13" name="Text 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4" name="Shape 10"/>
          <p:cNvSpPr/>
          <p:nvPr/>
        </p:nvSpPr>
        <p:spPr>
          <a:xfrm>
            <a:off x="8686800" y="91440"/>
            <a:ext cx="320040" cy="320040"/>
          </a:xfrm>
          <a:prstGeom prst="ellipse">
            <a:avLst/>
          </a:prstGeom>
          <a:solidFill>
            <a:srgbClr val="D4AF37"/>
          </a:solidFill>
          <a:ln w="12700">
            <a:solidFill>
              <a:srgbClr val="D4AF37"/>
            </a:solidFill>
            <a:prstDash val="solid"/>
          </a:ln>
        </p:spPr>
      </p:sp>
      <p:sp>
        <p:nvSpPr>
          <p:cNvPr id="15" name="Text 1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Secure Payment Gateway</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6: UPI / Card / Net Banking / Wallet — Test Mode (No Real Charges)</a:t>
            </a:r>
            <a:endParaRPr lang="en-US" sz="1100" dirty="0"/>
          </a:p>
        </p:txBody>
      </p:sp>
      <p:sp>
        <p:nvSpPr>
          <p:cNvPr id="5" name="Shape 3"/>
          <p:cNvSpPr/>
          <p:nvPr/>
        </p:nvSpPr>
        <p:spPr>
          <a:xfrm>
            <a:off x="274320" y="960120"/>
            <a:ext cx="4114800" cy="365760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3566160"/>
          </a:xfrm>
          <a:prstGeom prst="rect">
            <a:avLst/>
          </a:prstGeom>
        </p:spPr>
      </p:pic>
      <p:sp>
        <p:nvSpPr>
          <p:cNvPr id="7" name="Text 4"/>
          <p:cNvSpPr/>
          <p:nvPr/>
        </p:nvSpPr>
        <p:spPr>
          <a:xfrm>
            <a:off x="274320" y="4645152"/>
            <a:ext cx="411480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UPI Payment — Validates format: prefix@handle (paytm, gpay, phonepe...)</a:t>
            </a:r>
            <a:endParaRPr lang="en-US" sz="850" dirty="0"/>
          </a:p>
        </p:txBody>
      </p:sp>
      <p:sp>
        <p:nvSpPr>
          <p:cNvPr id="8" name="Shape 5"/>
          <p:cNvSpPr/>
          <p:nvPr/>
        </p:nvSpPr>
        <p:spPr>
          <a:xfrm>
            <a:off x="4572000" y="960120"/>
            <a:ext cx="4297680" cy="365760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617720" y="1005840"/>
            <a:ext cx="4206240" cy="3566160"/>
          </a:xfrm>
          <a:prstGeom prst="rect">
            <a:avLst/>
          </a:prstGeom>
        </p:spPr>
      </p:pic>
      <p:sp>
        <p:nvSpPr>
          <p:cNvPr id="10" name="Text 6"/>
          <p:cNvSpPr/>
          <p:nvPr/>
        </p:nvSpPr>
        <p:spPr>
          <a:xfrm>
            <a:off x="4572000" y="4645152"/>
            <a:ext cx="429768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Card Payment — 16-digit number, MM/YY expiry, CVV, Cardholder Name</a:t>
            </a:r>
            <a:endParaRPr lang="en-US" sz="850" dirty="0"/>
          </a:p>
        </p:txBody>
      </p:sp>
      <p:sp>
        <p:nvSpPr>
          <p:cNvPr id="11" name="Shape 7"/>
          <p:cNvSpPr/>
          <p:nvPr/>
        </p:nvSpPr>
        <p:spPr>
          <a:xfrm>
            <a:off x="0" y="4846320"/>
            <a:ext cx="9144000" cy="297180"/>
          </a:xfrm>
          <a:prstGeom prst="rect">
            <a:avLst/>
          </a:prstGeom>
          <a:solidFill>
            <a:srgbClr val="1A1A1A"/>
          </a:solidFill>
          <a:ln w="12700">
            <a:solidFill>
              <a:srgbClr val="1A1A1A"/>
            </a:solidFill>
            <a:prstDash val="solid"/>
          </a:ln>
        </p:spPr>
      </p:sp>
      <p:sp>
        <p:nvSpPr>
          <p:cNvPr id="12" name="Shape 8"/>
          <p:cNvSpPr/>
          <p:nvPr/>
        </p:nvSpPr>
        <p:spPr>
          <a:xfrm>
            <a:off x="0" y="4846320"/>
            <a:ext cx="9144000" cy="18288"/>
          </a:xfrm>
          <a:prstGeom prst="rect">
            <a:avLst/>
          </a:prstGeom>
          <a:solidFill>
            <a:srgbClr val="D4AF37"/>
          </a:solidFill>
          <a:ln w="12700">
            <a:solidFill>
              <a:srgbClr val="D4AF37"/>
            </a:solidFill>
            <a:prstDash val="solid"/>
          </a:ln>
        </p:spPr>
      </p:sp>
      <p:sp>
        <p:nvSpPr>
          <p:cNvPr id="13" name="Text 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4" name="Shape 10"/>
          <p:cNvSpPr/>
          <p:nvPr/>
        </p:nvSpPr>
        <p:spPr>
          <a:xfrm>
            <a:off x="8686800" y="91440"/>
            <a:ext cx="320040" cy="320040"/>
          </a:xfrm>
          <a:prstGeom prst="ellipse">
            <a:avLst/>
          </a:prstGeom>
          <a:solidFill>
            <a:srgbClr val="D4AF37"/>
          </a:solidFill>
          <a:ln w="12700">
            <a:solidFill>
              <a:srgbClr val="D4AF37"/>
            </a:solidFill>
            <a:prstDash val="solid"/>
          </a:ln>
        </p:spPr>
      </p:sp>
      <p:sp>
        <p:nvSpPr>
          <p:cNvPr id="15" name="Text 1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Booking Confirmed &amp; QR Ticket</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7: Instant QR code generated — Download PNG — Scan at theatre entrance</a:t>
            </a:r>
            <a:endParaRPr lang="en-US" sz="1100" dirty="0"/>
          </a:p>
        </p:txBody>
      </p:sp>
      <p:sp>
        <p:nvSpPr>
          <p:cNvPr id="5" name="Shape 3"/>
          <p:cNvSpPr/>
          <p:nvPr/>
        </p:nvSpPr>
        <p:spPr>
          <a:xfrm>
            <a:off x="274320" y="960120"/>
            <a:ext cx="4114800" cy="365760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3566160"/>
          </a:xfrm>
          <a:prstGeom prst="rect">
            <a:avLst/>
          </a:prstGeom>
        </p:spPr>
      </p:pic>
      <p:sp>
        <p:nvSpPr>
          <p:cNvPr id="7" name="Text 4"/>
          <p:cNvSpPr/>
          <p:nvPr/>
        </p:nvSpPr>
        <p:spPr>
          <a:xfrm>
            <a:off x="274320" y="4645152"/>
            <a:ext cx="411480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BOOKING CONFIRMED! — Movie, Seats, Time, Amount, Booking ID + QR Code</a:t>
            </a:r>
            <a:endParaRPr lang="en-US" sz="850" dirty="0"/>
          </a:p>
        </p:txBody>
      </p:sp>
      <p:sp>
        <p:nvSpPr>
          <p:cNvPr id="8" name="Shape 5"/>
          <p:cNvSpPr/>
          <p:nvPr/>
        </p:nvSpPr>
        <p:spPr>
          <a:xfrm>
            <a:off x="4572000" y="960120"/>
            <a:ext cx="4297680" cy="365760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617720" y="1005840"/>
            <a:ext cx="4206240" cy="3566160"/>
          </a:xfrm>
          <a:prstGeom prst="rect">
            <a:avLst/>
          </a:prstGeom>
        </p:spPr>
      </p:pic>
      <p:sp>
        <p:nvSpPr>
          <p:cNvPr id="10" name="Text 6"/>
          <p:cNvSpPr/>
          <p:nvPr/>
        </p:nvSpPr>
        <p:spPr>
          <a:xfrm>
            <a:off x="4572000" y="4645152"/>
            <a:ext cx="429768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MY TICKETS — 12th Fail · Dune: Part Two · Oppenheimer · Saripodhaa · Tillu Square · Hanu-Man</a:t>
            </a:r>
            <a:endParaRPr lang="en-US" sz="850" dirty="0"/>
          </a:p>
        </p:txBody>
      </p:sp>
      <p:sp>
        <p:nvSpPr>
          <p:cNvPr id="11" name="Shape 7"/>
          <p:cNvSpPr/>
          <p:nvPr/>
        </p:nvSpPr>
        <p:spPr>
          <a:xfrm>
            <a:off x="0" y="4846320"/>
            <a:ext cx="9144000" cy="297180"/>
          </a:xfrm>
          <a:prstGeom prst="rect">
            <a:avLst/>
          </a:prstGeom>
          <a:solidFill>
            <a:srgbClr val="1A1A1A"/>
          </a:solidFill>
          <a:ln w="12700">
            <a:solidFill>
              <a:srgbClr val="1A1A1A"/>
            </a:solidFill>
            <a:prstDash val="solid"/>
          </a:ln>
        </p:spPr>
      </p:sp>
      <p:sp>
        <p:nvSpPr>
          <p:cNvPr id="12" name="Shape 8"/>
          <p:cNvSpPr/>
          <p:nvPr/>
        </p:nvSpPr>
        <p:spPr>
          <a:xfrm>
            <a:off x="0" y="4846320"/>
            <a:ext cx="9144000" cy="18288"/>
          </a:xfrm>
          <a:prstGeom prst="rect">
            <a:avLst/>
          </a:prstGeom>
          <a:solidFill>
            <a:srgbClr val="D4AF37"/>
          </a:solidFill>
          <a:ln w="12700">
            <a:solidFill>
              <a:srgbClr val="D4AF37"/>
            </a:solidFill>
            <a:prstDash val="solid"/>
          </a:ln>
        </p:spPr>
      </p:sp>
      <p:sp>
        <p:nvSpPr>
          <p:cNvPr id="13" name="Text 9"/>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4" name="Shape 10"/>
          <p:cNvSpPr/>
          <p:nvPr/>
        </p:nvSpPr>
        <p:spPr>
          <a:xfrm>
            <a:off x="8686800" y="91440"/>
            <a:ext cx="320040" cy="320040"/>
          </a:xfrm>
          <a:prstGeom prst="ellipse">
            <a:avLst/>
          </a:prstGeom>
          <a:solidFill>
            <a:srgbClr val="D4AF37"/>
          </a:solidFill>
          <a:ln w="12700">
            <a:solidFill>
              <a:srgbClr val="D4AF37"/>
            </a:solidFill>
            <a:prstDash val="solid"/>
          </a:ln>
        </p:spPr>
      </p:sp>
      <p:sp>
        <p:nvSpPr>
          <p:cNvPr id="15" name="Text 11"/>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Admin Login &amp; Dashboard</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Step 8: Admin-only access — Secure login → Full booking analytics + Logout</a:t>
            </a:r>
            <a:endParaRPr lang="en-US" sz="1100" dirty="0"/>
          </a:p>
        </p:txBody>
      </p:sp>
      <p:sp>
        <p:nvSpPr>
          <p:cNvPr id="5" name="Shape 3"/>
          <p:cNvSpPr/>
          <p:nvPr/>
        </p:nvSpPr>
        <p:spPr>
          <a:xfrm>
            <a:off x="274320" y="960120"/>
            <a:ext cx="3474720" cy="3657600"/>
          </a:xfrm>
          <a:prstGeom prst="rect">
            <a:avLst/>
          </a:prstGeom>
          <a:solidFill>
            <a:srgbClr val="2A2A2A"/>
          </a:solidFill>
          <a:ln w="1905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3383280" cy="3566160"/>
          </a:xfrm>
          <a:prstGeom prst="rect">
            <a:avLst/>
          </a:prstGeom>
        </p:spPr>
      </p:pic>
      <p:sp>
        <p:nvSpPr>
          <p:cNvPr id="7" name="Text 4"/>
          <p:cNvSpPr/>
          <p:nvPr/>
        </p:nvSpPr>
        <p:spPr>
          <a:xfrm>
            <a:off x="274320" y="4645152"/>
            <a:ext cx="347472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Admin Login — Credentials: admin@cinebook.com / Admin@123</a:t>
            </a:r>
            <a:endParaRPr lang="en-US" sz="850" dirty="0"/>
          </a:p>
        </p:txBody>
      </p:sp>
      <p:sp>
        <p:nvSpPr>
          <p:cNvPr id="8" name="Shape 5"/>
          <p:cNvSpPr/>
          <p:nvPr/>
        </p:nvSpPr>
        <p:spPr>
          <a:xfrm>
            <a:off x="3931920" y="960120"/>
            <a:ext cx="4937760" cy="3657600"/>
          </a:xfrm>
          <a:prstGeom prst="rect">
            <a:avLst/>
          </a:prstGeom>
          <a:solidFill>
            <a:srgbClr val="2A2A2A"/>
          </a:solidFill>
          <a:ln w="1905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3977640" y="1005840"/>
            <a:ext cx="4846320" cy="3566160"/>
          </a:xfrm>
          <a:prstGeom prst="rect">
            <a:avLst/>
          </a:prstGeom>
        </p:spPr>
      </p:pic>
      <p:sp>
        <p:nvSpPr>
          <p:cNvPr id="10" name="Text 6"/>
          <p:cNvSpPr/>
          <p:nvPr/>
        </p:nvSpPr>
        <p:spPr>
          <a:xfrm>
            <a:off x="3931920" y="4645152"/>
            <a:ext cx="4937760" cy="164592"/>
          </a:xfrm>
          <a:prstGeom prst="rect">
            <a:avLst/>
          </a:prstGeom>
          <a:noFill/>
          <a:ln/>
        </p:spPr>
        <p:txBody>
          <a:bodyPr wrap="square" rtlCol="0" anchor="ctr"/>
          <a:lstStyle/>
          <a:p>
            <a:pPr algn="ctr" indent="0" marL="0">
              <a:buNone/>
            </a:pPr>
            <a:r>
              <a:rPr lang="en-US" sz="850" dirty="0">
                <a:solidFill>
                  <a:srgbClr val="888888"/>
                </a:solidFill>
                <a:latin typeface="Calibri" pitchFamily="34" charset="0"/>
                <a:ea typeface="Calibri" pitchFamily="34" charset="-122"/>
                <a:cs typeface="Calibri" pitchFamily="34" charset="-120"/>
              </a:rPr>
              <a:t>Admin Dashboard — 12 Bookings | ₹9,450 Revenue | 21 Seats | 9 Movies | 3 Languages | CSV Export</a:t>
            </a:r>
            <a:endParaRPr lang="en-US" sz="850" dirty="0"/>
          </a:p>
        </p:txBody>
      </p:sp>
      <p:sp>
        <p:nvSpPr>
          <p:cNvPr id="11" name="Text 7"/>
          <p:cNvSpPr/>
          <p:nvPr/>
        </p:nvSpPr>
        <p:spPr>
          <a:xfrm>
            <a:off x="3749040" y="2560320"/>
            <a:ext cx="182880" cy="320040"/>
          </a:xfrm>
          <a:prstGeom prst="rect">
            <a:avLst/>
          </a:prstGeom>
          <a:noFill/>
          <a:ln/>
        </p:spPr>
        <p:txBody>
          <a:bodyPr wrap="square" rtlCol="0" anchor="ctr"/>
          <a:lstStyle/>
          <a:p>
            <a:pPr algn="ctr" indent="0" marL="0">
              <a:buNone/>
            </a:pPr>
            <a:r>
              <a:rPr lang="en-US" sz="2000" dirty="0">
                <a:solidFill>
                  <a:srgbClr val="D4AF37"/>
                </a:solidFill>
              </a:rPr>
              <a:t>→</a:t>
            </a:r>
            <a:endParaRPr lang="en-US" sz="2000" dirty="0"/>
          </a:p>
        </p:txBody>
      </p:sp>
      <p:sp>
        <p:nvSpPr>
          <p:cNvPr id="12" name="Shape 8"/>
          <p:cNvSpPr/>
          <p:nvPr/>
        </p:nvSpPr>
        <p:spPr>
          <a:xfrm>
            <a:off x="0" y="4846320"/>
            <a:ext cx="9144000" cy="297180"/>
          </a:xfrm>
          <a:prstGeom prst="rect">
            <a:avLst/>
          </a:prstGeom>
          <a:solidFill>
            <a:srgbClr val="1A1A1A"/>
          </a:solidFill>
          <a:ln w="12700">
            <a:solidFill>
              <a:srgbClr val="1A1A1A"/>
            </a:solidFill>
            <a:prstDash val="solid"/>
          </a:ln>
        </p:spPr>
      </p:sp>
      <p:sp>
        <p:nvSpPr>
          <p:cNvPr id="13" name="Shape 9"/>
          <p:cNvSpPr/>
          <p:nvPr/>
        </p:nvSpPr>
        <p:spPr>
          <a:xfrm>
            <a:off x="0" y="4846320"/>
            <a:ext cx="9144000" cy="18288"/>
          </a:xfrm>
          <a:prstGeom prst="rect">
            <a:avLst/>
          </a:prstGeom>
          <a:solidFill>
            <a:srgbClr val="D4AF37"/>
          </a:solidFill>
          <a:ln w="12700">
            <a:solidFill>
              <a:srgbClr val="D4AF37"/>
            </a:solidFill>
            <a:prstDash val="solid"/>
          </a:ln>
        </p:spPr>
      </p:sp>
      <p:sp>
        <p:nvSpPr>
          <p:cNvPr id="14" name="Text 10"/>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5" name="Shape 11"/>
          <p:cNvSpPr/>
          <p:nvPr/>
        </p:nvSpPr>
        <p:spPr>
          <a:xfrm>
            <a:off x="8686800" y="91440"/>
            <a:ext cx="320040" cy="320040"/>
          </a:xfrm>
          <a:prstGeom prst="ellipse">
            <a:avLst/>
          </a:prstGeom>
          <a:solidFill>
            <a:srgbClr val="D4AF37"/>
          </a:solidFill>
          <a:ln w="12700">
            <a:solidFill>
              <a:srgbClr val="D4AF37"/>
            </a:solidFill>
            <a:prstDash val="solid"/>
          </a:ln>
        </p:spPr>
      </p:sp>
      <p:sp>
        <p:nvSpPr>
          <p:cNvPr id="16" name="Text 12"/>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Proof of AI Prompts Generating Code</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Screenshots from Claude AI (Anthropic) session showing actual code generation</a:t>
            </a:r>
            <a:endParaRPr lang="en-US" sz="1100" dirty="0"/>
          </a:p>
        </p:txBody>
      </p:sp>
      <p:sp>
        <p:nvSpPr>
          <p:cNvPr id="5" name="Shape 3"/>
          <p:cNvSpPr/>
          <p:nvPr/>
        </p:nvSpPr>
        <p:spPr>
          <a:xfrm>
            <a:off x="274320" y="960120"/>
            <a:ext cx="4114800" cy="182880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4023360" cy="1737360"/>
          </a:xfrm>
          <a:prstGeom prst="rect">
            <a:avLst/>
          </a:prstGeom>
        </p:spPr>
      </p:pic>
      <p:sp>
        <p:nvSpPr>
          <p:cNvPr id="7" name="Text 4"/>
          <p:cNvSpPr/>
          <p:nvPr/>
        </p:nvSpPr>
        <p:spPr>
          <a:xfrm>
            <a:off x="274320" y="2807208"/>
            <a:ext cx="4114800" cy="201168"/>
          </a:xfrm>
          <a:prstGeom prst="rect">
            <a:avLst/>
          </a:prstGeom>
          <a:noFill/>
          <a:ln/>
        </p:spPr>
        <p:txBody>
          <a:bodyPr wrap="square" rtlCol="0" anchor="ctr"/>
          <a:lstStyle/>
          <a:p>
            <a:pPr algn="ctr" indent="0" marL="0">
              <a:buNone/>
            </a:pPr>
            <a:r>
              <a:rPr lang="en-US" sz="850" b="1" dirty="0">
                <a:solidFill>
                  <a:srgbClr val="D4AF37"/>
                </a:solidFill>
                <a:latin typeface="Calibri" pitchFamily="34" charset="0"/>
                <a:ea typeface="Calibri" pitchFamily="34" charset="-122"/>
                <a:cs typeface="Calibri" pitchFamily="34" charset="-120"/>
              </a:rPr>
              <a:t>Prompt 01 → Homepage Layout: 'BOOK YOUR CINEMA EXPERIENCE' Dark Theme Generated</a:t>
            </a:r>
            <a:endParaRPr lang="en-US" sz="850" dirty="0"/>
          </a:p>
        </p:txBody>
      </p:sp>
      <p:sp>
        <p:nvSpPr>
          <p:cNvPr id="8" name="Shape 5"/>
          <p:cNvSpPr/>
          <p:nvPr/>
        </p:nvSpPr>
        <p:spPr>
          <a:xfrm>
            <a:off x="4754880" y="960120"/>
            <a:ext cx="4114800" cy="1828800"/>
          </a:xfrm>
          <a:prstGeom prst="rect">
            <a:avLst/>
          </a:prstGeom>
          <a:solidFill>
            <a:srgbClr val="2A2A2A"/>
          </a:solidFill>
          <a:ln w="12700">
            <a:solidFill>
              <a:srgbClr val="D4AF37"/>
            </a:solidFill>
            <a:prstDash val="solid"/>
          </a:ln>
        </p:spPr>
      </p:sp>
      <p:pic>
        <p:nvPicPr>
          <p:cNvPr id="9" name="Image 1" descr="preencoded.png">    </p:cNvPr>
          <p:cNvPicPr>
            <a:picLocks noChangeAspect="1"/>
          </p:cNvPicPr>
          <p:nvPr/>
        </p:nvPicPr>
        <p:blipFill>
          <a:blip r:embed="rId2"/>
          <a:srcRect l="0" r="0" t="0" b="0"/>
          <a:stretch/>
        </p:blipFill>
        <p:spPr>
          <a:xfrm>
            <a:off x="4800600" y="1005840"/>
            <a:ext cx="4023360" cy="1737360"/>
          </a:xfrm>
          <a:prstGeom prst="rect">
            <a:avLst/>
          </a:prstGeom>
        </p:spPr>
      </p:pic>
      <p:sp>
        <p:nvSpPr>
          <p:cNvPr id="10" name="Text 6"/>
          <p:cNvSpPr/>
          <p:nvPr/>
        </p:nvSpPr>
        <p:spPr>
          <a:xfrm>
            <a:off x="4754880" y="2807208"/>
            <a:ext cx="4114800" cy="201168"/>
          </a:xfrm>
          <a:prstGeom prst="rect">
            <a:avLst/>
          </a:prstGeom>
          <a:noFill/>
          <a:ln/>
        </p:spPr>
        <p:txBody>
          <a:bodyPr wrap="square" rtlCol="0" anchor="ctr"/>
          <a:lstStyle/>
          <a:p>
            <a:pPr algn="ctr" indent="0" marL="0">
              <a:buNone/>
            </a:pPr>
            <a:r>
              <a:rPr lang="en-US" sz="850" b="1" dirty="0">
                <a:solidFill>
                  <a:srgbClr val="D4AF37"/>
                </a:solidFill>
                <a:latin typeface="Calibri" pitchFamily="34" charset="0"/>
                <a:ea typeface="Calibri" pitchFamily="34" charset="-122"/>
                <a:cs typeface="Calibri" pitchFamily="34" charset="-120"/>
              </a:rPr>
              <a:t>Prompt 12 → Weak Password Detection: 'Very Strong 🔒' strength meter + language preference</a:t>
            </a:r>
            <a:endParaRPr lang="en-US" sz="850" dirty="0"/>
          </a:p>
        </p:txBody>
      </p:sp>
      <p:sp>
        <p:nvSpPr>
          <p:cNvPr id="11" name="Shape 7"/>
          <p:cNvSpPr/>
          <p:nvPr/>
        </p:nvSpPr>
        <p:spPr>
          <a:xfrm>
            <a:off x="274320" y="3108960"/>
            <a:ext cx="4114800" cy="1600200"/>
          </a:xfrm>
          <a:prstGeom prst="rect">
            <a:avLst/>
          </a:prstGeom>
          <a:solidFill>
            <a:srgbClr val="2A2A2A"/>
          </a:solidFill>
          <a:ln w="12700">
            <a:solidFill>
              <a:srgbClr val="D4AF37"/>
            </a:solidFill>
            <a:prstDash val="solid"/>
          </a:ln>
        </p:spPr>
      </p:sp>
      <p:pic>
        <p:nvPicPr>
          <p:cNvPr id="12" name="Image 2" descr="preencoded.png">    </p:cNvPr>
          <p:cNvPicPr>
            <a:picLocks noChangeAspect="1"/>
          </p:cNvPicPr>
          <p:nvPr/>
        </p:nvPicPr>
        <p:blipFill>
          <a:blip r:embed="rId3"/>
          <a:srcRect l="0" r="0" t="0" b="0"/>
          <a:stretch/>
        </p:blipFill>
        <p:spPr>
          <a:xfrm>
            <a:off x="320040" y="3154680"/>
            <a:ext cx="4023360" cy="1508760"/>
          </a:xfrm>
          <a:prstGeom prst="rect">
            <a:avLst/>
          </a:prstGeom>
        </p:spPr>
      </p:pic>
      <p:sp>
        <p:nvSpPr>
          <p:cNvPr id="13" name="Text 8"/>
          <p:cNvSpPr/>
          <p:nvPr/>
        </p:nvSpPr>
        <p:spPr>
          <a:xfrm>
            <a:off x="274320" y="4727448"/>
            <a:ext cx="4114800" cy="164592"/>
          </a:xfrm>
          <a:prstGeom prst="rect">
            <a:avLst/>
          </a:prstGeom>
          <a:noFill/>
          <a:ln/>
        </p:spPr>
        <p:txBody>
          <a:bodyPr wrap="square" rtlCol="0" anchor="ctr"/>
          <a:lstStyle/>
          <a:p>
            <a:pPr algn="ctr" indent="0" marL="0">
              <a:buNone/>
            </a:pPr>
            <a:r>
              <a:rPr lang="en-US" sz="850" b="1" dirty="0">
                <a:solidFill>
                  <a:srgbClr val="D4AF37"/>
                </a:solidFill>
                <a:latin typeface="Calibri" pitchFamily="34" charset="0"/>
                <a:ea typeface="Calibri" pitchFamily="34" charset="-122"/>
                <a:cs typeface="Calibri" pitchFamily="34" charset="-120"/>
              </a:rPr>
              <a:t>Prompt 03 → Booking Confirmation Modal + QR Code Canvas + Download PNG</a:t>
            </a:r>
            <a:endParaRPr lang="en-US" sz="850" dirty="0"/>
          </a:p>
        </p:txBody>
      </p:sp>
      <p:sp>
        <p:nvSpPr>
          <p:cNvPr id="14" name="Shape 9"/>
          <p:cNvSpPr/>
          <p:nvPr/>
        </p:nvSpPr>
        <p:spPr>
          <a:xfrm>
            <a:off x="4754880" y="3108960"/>
            <a:ext cx="4114800" cy="1600200"/>
          </a:xfrm>
          <a:prstGeom prst="rect">
            <a:avLst/>
          </a:prstGeom>
          <a:solidFill>
            <a:srgbClr val="2A2A2A"/>
          </a:solidFill>
          <a:ln w="12700">
            <a:solidFill>
              <a:srgbClr val="D4AF37"/>
            </a:solidFill>
            <a:prstDash val="solid"/>
          </a:ln>
        </p:spPr>
      </p:sp>
      <p:pic>
        <p:nvPicPr>
          <p:cNvPr id="15" name="Image 3" descr="preencoded.png">    </p:cNvPr>
          <p:cNvPicPr>
            <a:picLocks noChangeAspect="1"/>
          </p:cNvPicPr>
          <p:nvPr/>
        </p:nvPicPr>
        <p:blipFill>
          <a:blip r:embed="rId4"/>
          <a:srcRect l="0" r="0" t="0" b="0"/>
          <a:stretch/>
        </p:blipFill>
        <p:spPr>
          <a:xfrm>
            <a:off x="4800600" y="3154680"/>
            <a:ext cx="4023360" cy="1508760"/>
          </a:xfrm>
          <a:prstGeom prst="rect">
            <a:avLst/>
          </a:prstGeom>
        </p:spPr>
      </p:pic>
      <p:sp>
        <p:nvSpPr>
          <p:cNvPr id="16" name="Text 10"/>
          <p:cNvSpPr/>
          <p:nvPr/>
        </p:nvSpPr>
        <p:spPr>
          <a:xfrm>
            <a:off x="4754880" y="4727448"/>
            <a:ext cx="4114800" cy="164592"/>
          </a:xfrm>
          <a:prstGeom prst="rect">
            <a:avLst/>
          </a:prstGeom>
          <a:noFill/>
          <a:ln/>
        </p:spPr>
        <p:txBody>
          <a:bodyPr wrap="square" rtlCol="0" anchor="ctr"/>
          <a:lstStyle/>
          <a:p>
            <a:pPr algn="ctr" indent="0" marL="0">
              <a:buNone/>
            </a:pPr>
            <a:r>
              <a:rPr lang="en-US" sz="850" b="1" dirty="0">
                <a:solidFill>
                  <a:srgbClr val="D4AF37"/>
                </a:solidFill>
                <a:latin typeface="Calibri" pitchFamily="34" charset="0"/>
                <a:ea typeface="Calibri" pitchFamily="34" charset="-122"/>
                <a:cs typeface="Calibri" pitchFamily="34" charset="-120"/>
              </a:rPr>
              <a:t>Prompt 06 → Admin Dashboard: Bookings table, filters, CSV export, revenue stats</a:t>
            </a:r>
            <a:endParaRPr lang="en-US" sz="850" dirty="0"/>
          </a:p>
        </p:txBody>
      </p:sp>
      <p:sp>
        <p:nvSpPr>
          <p:cNvPr id="17" name="Shape 11"/>
          <p:cNvSpPr/>
          <p:nvPr/>
        </p:nvSpPr>
        <p:spPr>
          <a:xfrm>
            <a:off x="0" y="4846320"/>
            <a:ext cx="9144000" cy="297180"/>
          </a:xfrm>
          <a:prstGeom prst="rect">
            <a:avLst/>
          </a:prstGeom>
          <a:solidFill>
            <a:srgbClr val="1A1A1A"/>
          </a:solidFill>
          <a:ln w="12700">
            <a:solidFill>
              <a:srgbClr val="1A1A1A"/>
            </a:solidFill>
            <a:prstDash val="solid"/>
          </a:ln>
        </p:spPr>
      </p:sp>
      <p:sp>
        <p:nvSpPr>
          <p:cNvPr id="18" name="Shape 12"/>
          <p:cNvSpPr/>
          <p:nvPr/>
        </p:nvSpPr>
        <p:spPr>
          <a:xfrm>
            <a:off x="0" y="4846320"/>
            <a:ext cx="9144000" cy="18288"/>
          </a:xfrm>
          <a:prstGeom prst="rect">
            <a:avLst/>
          </a:prstGeom>
          <a:solidFill>
            <a:srgbClr val="D4AF37"/>
          </a:solidFill>
          <a:ln w="12700">
            <a:solidFill>
              <a:srgbClr val="D4AF37"/>
            </a:solidFill>
            <a:prstDash val="solid"/>
          </a:ln>
        </p:spPr>
      </p:sp>
      <p:sp>
        <p:nvSpPr>
          <p:cNvPr id="19" name="Text 13"/>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20" name="Shape 14"/>
          <p:cNvSpPr/>
          <p:nvPr/>
        </p:nvSpPr>
        <p:spPr>
          <a:xfrm>
            <a:off x="8686800" y="91440"/>
            <a:ext cx="320040" cy="320040"/>
          </a:xfrm>
          <a:prstGeom prst="ellipse">
            <a:avLst/>
          </a:prstGeom>
          <a:solidFill>
            <a:srgbClr val="D4AF37"/>
          </a:solidFill>
          <a:ln w="12700">
            <a:solidFill>
              <a:srgbClr val="D4AF37"/>
            </a:solidFill>
            <a:prstDash val="solid"/>
          </a:ln>
        </p:spPr>
      </p:sp>
      <p:sp>
        <p:nvSpPr>
          <p:cNvPr id="21" name="Text 15"/>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Frontend View — Sign Up &amp; Live Search</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Create Account with password strength meter | Real-time movie search</a:t>
            </a:r>
            <a:endParaRPr lang="en-US" sz="1100" dirty="0"/>
          </a:p>
        </p:txBody>
      </p:sp>
      <p:sp>
        <p:nvSpPr>
          <p:cNvPr id="5" name="Shape 3"/>
          <p:cNvSpPr/>
          <p:nvPr/>
        </p:nvSpPr>
        <p:spPr>
          <a:xfrm>
            <a:off x="274320" y="960120"/>
            <a:ext cx="3931920" cy="3794760"/>
          </a:xfrm>
          <a:prstGeom prst="rect">
            <a:avLst/>
          </a:prstGeom>
          <a:solidFill>
            <a:srgbClr val="2A2A2A"/>
          </a:solidFill>
          <a:ln w="1270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3840480" cy="3703320"/>
          </a:xfrm>
          <a:prstGeom prst="rect">
            <a:avLst/>
          </a:prstGeom>
        </p:spPr>
      </p:pic>
      <p:sp>
        <p:nvSpPr>
          <p:cNvPr id="7" name="Shape 4"/>
          <p:cNvSpPr/>
          <p:nvPr/>
        </p:nvSpPr>
        <p:spPr>
          <a:xfrm>
            <a:off x="274320" y="4773168"/>
            <a:ext cx="3931920" cy="201168"/>
          </a:xfrm>
          <a:prstGeom prst="rect">
            <a:avLst/>
          </a:prstGeom>
          <a:solidFill>
            <a:srgbClr val="2A2A2A"/>
          </a:solidFill>
          <a:ln w="12700">
            <a:solidFill>
              <a:srgbClr val="2A2A2A"/>
            </a:solidFill>
            <a:prstDash val="solid"/>
          </a:ln>
        </p:spPr>
      </p:sp>
      <p:sp>
        <p:nvSpPr>
          <p:cNvPr id="8" name="Text 5"/>
          <p:cNvSpPr/>
          <p:nvPr/>
        </p:nvSpPr>
        <p:spPr>
          <a:xfrm>
            <a:off x="274320" y="4773168"/>
            <a:ext cx="3931920" cy="201168"/>
          </a:xfrm>
          <a:prstGeom prst="rect">
            <a:avLst/>
          </a:prstGeom>
          <a:noFill/>
          <a:ln/>
        </p:spPr>
        <p:txBody>
          <a:bodyPr wrap="square" rtlCol="0" anchor="ctr"/>
          <a:lstStyle/>
          <a:p>
            <a:pPr algn="ctr" indent="0" marL="0">
              <a:buNone/>
            </a:pPr>
            <a:r>
              <a:rPr lang="en-US" sz="800" b="1" dirty="0">
                <a:solidFill>
                  <a:srgbClr val="D4AF37"/>
                </a:solidFill>
                <a:latin typeface="Calibri" pitchFamily="34" charset="0"/>
                <a:ea typeface="Calibri" pitchFamily="34" charset="-122"/>
                <a:cs typeface="Calibri" pitchFamily="34" charset="-120"/>
              </a:rPr>
              <a:t>🔐 Very Strong password — 8+ chars · Uppercase · Lowercase · Number · Symbol</a:t>
            </a:r>
            <a:endParaRPr lang="en-US" sz="800" dirty="0"/>
          </a:p>
        </p:txBody>
      </p:sp>
      <p:sp>
        <p:nvSpPr>
          <p:cNvPr id="9" name="Shape 6"/>
          <p:cNvSpPr/>
          <p:nvPr/>
        </p:nvSpPr>
        <p:spPr>
          <a:xfrm>
            <a:off x="4389120" y="960120"/>
            <a:ext cx="4480560" cy="3794760"/>
          </a:xfrm>
          <a:prstGeom prst="rect">
            <a:avLst/>
          </a:prstGeom>
          <a:solidFill>
            <a:srgbClr val="2A2A2A"/>
          </a:solidFill>
          <a:ln w="12700">
            <a:solidFill>
              <a:srgbClr val="D4AF37"/>
            </a:solidFill>
            <a:prstDash val="solid"/>
          </a:ln>
        </p:spPr>
      </p:sp>
      <p:pic>
        <p:nvPicPr>
          <p:cNvPr id="10" name="Image 1" descr="preencoded.png">    </p:cNvPr>
          <p:cNvPicPr>
            <a:picLocks noChangeAspect="1"/>
          </p:cNvPicPr>
          <p:nvPr/>
        </p:nvPicPr>
        <p:blipFill>
          <a:blip r:embed="rId2"/>
          <a:srcRect l="0" r="0" t="0" b="0"/>
          <a:stretch/>
        </p:blipFill>
        <p:spPr>
          <a:xfrm>
            <a:off x="4434840" y="1005840"/>
            <a:ext cx="4389120" cy="3703320"/>
          </a:xfrm>
          <a:prstGeom prst="rect">
            <a:avLst/>
          </a:prstGeom>
        </p:spPr>
      </p:pic>
      <p:sp>
        <p:nvSpPr>
          <p:cNvPr id="11" name="Shape 7"/>
          <p:cNvSpPr/>
          <p:nvPr/>
        </p:nvSpPr>
        <p:spPr>
          <a:xfrm>
            <a:off x="4389120" y="4773168"/>
            <a:ext cx="4480560" cy="201168"/>
          </a:xfrm>
          <a:prstGeom prst="rect">
            <a:avLst/>
          </a:prstGeom>
          <a:solidFill>
            <a:srgbClr val="2A2A2A"/>
          </a:solidFill>
          <a:ln w="12700">
            <a:solidFill>
              <a:srgbClr val="2A2A2A"/>
            </a:solidFill>
            <a:prstDash val="solid"/>
          </a:ln>
        </p:spPr>
      </p:sp>
      <p:sp>
        <p:nvSpPr>
          <p:cNvPr id="12" name="Text 8"/>
          <p:cNvSpPr/>
          <p:nvPr/>
        </p:nvSpPr>
        <p:spPr>
          <a:xfrm>
            <a:off x="4389120" y="4773168"/>
            <a:ext cx="4480560" cy="201168"/>
          </a:xfrm>
          <a:prstGeom prst="rect">
            <a:avLst/>
          </a:prstGeom>
          <a:noFill/>
          <a:ln/>
        </p:spPr>
        <p:txBody>
          <a:bodyPr wrap="square" rtlCol="0" anchor="ctr"/>
          <a:lstStyle/>
          <a:p>
            <a:pPr algn="ctr" indent="0" marL="0">
              <a:buNone/>
            </a:pPr>
            <a:r>
              <a:rPr lang="en-US" sz="800" b="1" dirty="0">
                <a:solidFill>
                  <a:srgbClr val="D4AF37"/>
                </a:solidFill>
                <a:latin typeface="Calibri" pitchFamily="34" charset="0"/>
                <a:ea typeface="Calibri" pitchFamily="34" charset="-122"/>
                <a:cs typeface="Calibri" pitchFamily="34" charset="-120"/>
              </a:rPr>
              <a:t>🔍 Live Search — filters movies in real-time as you type (Akhanda shown)</a:t>
            </a:r>
            <a:endParaRPr lang="en-US" sz="800" dirty="0"/>
          </a:p>
        </p:txBody>
      </p:sp>
      <p:sp>
        <p:nvSpPr>
          <p:cNvPr id="13" name="Shape 9"/>
          <p:cNvSpPr/>
          <p:nvPr/>
        </p:nvSpPr>
        <p:spPr>
          <a:xfrm>
            <a:off x="0" y="4846320"/>
            <a:ext cx="9144000" cy="297180"/>
          </a:xfrm>
          <a:prstGeom prst="rect">
            <a:avLst/>
          </a:prstGeom>
          <a:solidFill>
            <a:srgbClr val="1A1A1A"/>
          </a:solidFill>
          <a:ln w="12700">
            <a:solidFill>
              <a:srgbClr val="1A1A1A"/>
            </a:solidFill>
            <a:prstDash val="solid"/>
          </a:ln>
        </p:spPr>
      </p:sp>
      <p:sp>
        <p:nvSpPr>
          <p:cNvPr id="14" name="Shape 10"/>
          <p:cNvSpPr/>
          <p:nvPr/>
        </p:nvSpPr>
        <p:spPr>
          <a:xfrm>
            <a:off x="0" y="4846320"/>
            <a:ext cx="9144000" cy="18288"/>
          </a:xfrm>
          <a:prstGeom prst="rect">
            <a:avLst/>
          </a:prstGeom>
          <a:solidFill>
            <a:srgbClr val="D4AF37"/>
          </a:solidFill>
          <a:ln w="12700">
            <a:solidFill>
              <a:srgbClr val="D4AF37"/>
            </a:solidFill>
            <a:prstDash val="solid"/>
          </a:ln>
        </p:spPr>
      </p:sp>
      <p:sp>
        <p:nvSpPr>
          <p:cNvPr id="15" name="Text 11"/>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16" name="Shape 12"/>
          <p:cNvSpPr/>
          <p:nvPr/>
        </p:nvSpPr>
        <p:spPr>
          <a:xfrm>
            <a:off x="8686800" y="91440"/>
            <a:ext cx="320040" cy="320040"/>
          </a:xfrm>
          <a:prstGeom prst="ellipse">
            <a:avLst/>
          </a:prstGeom>
          <a:solidFill>
            <a:srgbClr val="D4AF37"/>
          </a:solidFill>
          <a:ln w="12700">
            <a:solidFill>
              <a:srgbClr val="D4AF37"/>
            </a:solidFill>
            <a:prstDash val="solid"/>
          </a:ln>
        </p:spPr>
      </p:sp>
      <p:sp>
        <p:nvSpPr>
          <p:cNvPr id="17" name="Text 13"/>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Admin Dashboard — Full Booking Management</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12 Bookings | ₹9,450 Revenue | 21 Seats | 9 Movies | 3 Languages | Export CSV</a:t>
            </a:r>
            <a:endParaRPr lang="en-US" sz="1100" dirty="0"/>
          </a:p>
        </p:txBody>
      </p:sp>
      <p:sp>
        <p:nvSpPr>
          <p:cNvPr id="5" name="Shape 3"/>
          <p:cNvSpPr/>
          <p:nvPr/>
        </p:nvSpPr>
        <p:spPr>
          <a:xfrm>
            <a:off x="274320" y="960120"/>
            <a:ext cx="8595360" cy="3657600"/>
          </a:xfrm>
          <a:prstGeom prst="rect">
            <a:avLst/>
          </a:prstGeom>
          <a:solidFill>
            <a:srgbClr val="2A2A2A"/>
          </a:solidFill>
          <a:ln w="19050">
            <a:solidFill>
              <a:srgbClr val="D4AF37"/>
            </a:solidFill>
            <a:prstDash val="solid"/>
          </a:ln>
        </p:spPr>
      </p:sp>
      <p:pic>
        <p:nvPicPr>
          <p:cNvPr id="6" name="Image 0" descr="preencoded.png">    </p:cNvPr>
          <p:cNvPicPr>
            <a:picLocks noChangeAspect="1"/>
          </p:cNvPicPr>
          <p:nvPr/>
        </p:nvPicPr>
        <p:blipFill>
          <a:blip r:embed="rId1"/>
          <a:srcRect l="0" r="0" t="0" b="0"/>
          <a:stretch/>
        </p:blipFill>
        <p:spPr>
          <a:xfrm>
            <a:off x="320040" y="1005840"/>
            <a:ext cx="8503920" cy="3566160"/>
          </a:xfrm>
          <a:prstGeom prst="rect">
            <a:avLst/>
          </a:prstGeom>
        </p:spPr>
      </p:pic>
      <p:sp>
        <p:nvSpPr>
          <p:cNvPr id="7" name="Shape 4"/>
          <p:cNvSpPr/>
          <p:nvPr/>
        </p:nvSpPr>
        <p:spPr>
          <a:xfrm>
            <a:off x="274320" y="4645152"/>
            <a:ext cx="1353312" cy="384048"/>
          </a:xfrm>
          <a:prstGeom prst="rect">
            <a:avLst/>
          </a:prstGeom>
          <a:solidFill>
            <a:srgbClr val="2A2A2A"/>
          </a:solidFill>
          <a:ln w="6350">
            <a:solidFill>
              <a:srgbClr val="404040"/>
            </a:solidFill>
            <a:prstDash val="solid"/>
          </a:ln>
        </p:spPr>
      </p:sp>
      <p:sp>
        <p:nvSpPr>
          <p:cNvPr id="8" name="Text 5"/>
          <p:cNvSpPr/>
          <p:nvPr/>
        </p:nvSpPr>
        <p:spPr>
          <a:xfrm>
            <a:off x="274320"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12</a:t>
            </a:r>
            <a:endParaRPr lang="en-US" sz="1300" dirty="0"/>
          </a:p>
        </p:txBody>
      </p:sp>
      <p:sp>
        <p:nvSpPr>
          <p:cNvPr id="9" name="Text 6"/>
          <p:cNvSpPr/>
          <p:nvPr/>
        </p:nvSpPr>
        <p:spPr>
          <a:xfrm>
            <a:off x="274320"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TOTAL BOOKINGS</a:t>
            </a:r>
            <a:endParaRPr lang="en-US" sz="700" dirty="0"/>
          </a:p>
        </p:txBody>
      </p:sp>
      <p:sp>
        <p:nvSpPr>
          <p:cNvPr id="10" name="Shape 7"/>
          <p:cNvSpPr/>
          <p:nvPr/>
        </p:nvSpPr>
        <p:spPr>
          <a:xfrm>
            <a:off x="1719072" y="4645152"/>
            <a:ext cx="1353312" cy="384048"/>
          </a:xfrm>
          <a:prstGeom prst="rect">
            <a:avLst/>
          </a:prstGeom>
          <a:solidFill>
            <a:srgbClr val="2A2A2A"/>
          </a:solidFill>
          <a:ln w="6350">
            <a:solidFill>
              <a:srgbClr val="404040"/>
            </a:solidFill>
            <a:prstDash val="solid"/>
          </a:ln>
        </p:spPr>
      </p:sp>
      <p:sp>
        <p:nvSpPr>
          <p:cNvPr id="11" name="Text 8"/>
          <p:cNvSpPr/>
          <p:nvPr/>
        </p:nvSpPr>
        <p:spPr>
          <a:xfrm>
            <a:off x="1719072"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₹9,450</a:t>
            </a:r>
            <a:endParaRPr lang="en-US" sz="1300" dirty="0"/>
          </a:p>
        </p:txBody>
      </p:sp>
      <p:sp>
        <p:nvSpPr>
          <p:cNvPr id="12" name="Text 9"/>
          <p:cNvSpPr/>
          <p:nvPr/>
        </p:nvSpPr>
        <p:spPr>
          <a:xfrm>
            <a:off x="1719072"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REVENUE</a:t>
            </a:r>
            <a:endParaRPr lang="en-US" sz="700" dirty="0"/>
          </a:p>
        </p:txBody>
      </p:sp>
      <p:sp>
        <p:nvSpPr>
          <p:cNvPr id="13" name="Shape 10"/>
          <p:cNvSpPr/>
          <p:nvPr/>
        </p:nvSpPr>
        <p:spPr>
          <a:xfrm>
            <a:off x="3163824" y="4645152"/>
            <a:ext cx="1353312" cy="384048"/>
          </a:xfrm>
          <a:prstGeom prst="rect">
            <a:avLst/>
          </a:prstGeom>
          <a:solidFill>
            <a:srgbClr val="2A2A2A"/>
          </a:solidFill>
          <a:ln w="6350">
            <a:solidFill>
              <a:srgbClr val="404040"/>
            </a:solidFill>
            <a:prstDash val="solid"/>
          </a:ln>
        </p:spPr>
      </p:sp>
      <p:sp>
        <p:nvSpPr>
          <p:cNvPr id="14" name="Text 11"/>
          <p:cNvSpPr/>
          <p:nvPr/>
        </p:nvSpPr>
        <p:spPr>
          <a:xfrm>
            <a:off x="3163824"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21</a:t>
            </a:r>
            <a:endParaRPr lang="en-US" sz="1300" dirty="0"/>
          </a:p>
        </p:txBody>
      </p:sp>
      <p:sp>
        <p:nvSpPr>
          <p:cNvPr id="15" name="Text 12"/>
          <p:cNvSpPr/>
          <p:nvPr/>
        </p:nvSpPr>
        <p:spPr>
          <a:xfrm>
            <a:off x="3163824"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SEATS BOOKED</a:t>
            </a:r>
            <a:endParaRPr lang="en-US" sz="700" dirty="0"/>
          </a:p>
        </p:txBody>
      </p:sp>
      <p:sp>
        <p:nvSpPr>
          <p:cNvPr id="16" name="Shape 13"/>
          <p:cNvSpPr/>
          <p:nvPr/>
        </p:nvSpPr>
        <p:spPr>
          <a:xfrm>
            <a:off x="4608576" y="4645152"/>
            <a:ext cx="1353312" cy="384048"/>
          </a:xfrm>
          <a:prstGeom prst="rect">
            <a:avLst/>
          </a:prstGeom>
          <a:solidFill>
            <a:srgbClr val="2A2A2A"/>
          </a:solidFill>
          <a:ln w="6350">
            <a:solidFill>
              <a:srgbClr val="404040"/>
            </a:solidFill>
            <a:prstDash val="solid"/>
          </a:ln>
        </p:spPr>
      </p:sp>
      <p:sp>
        <p:nvSpPr>
          <p:cNvPr id="17" name="Text 14"/>
          <p:cNvSpPr/>
          <p:nvPr/>
        </p:nvSpPr>
        <p:spPr>
          <a:xfrm>
            <a:off x="4608576"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9</a:t>
            </a:r>
            <a:endParaRPr lang="en-US" sz="1300" dirty="0"/>
          </a:p>
        </p:txBody>
      </p:sp>
      <p:sp>
        <p:nvSpPr>
          <p:cNvPr id="18" name="Text 15"/>
          <p:cNvSpPr/>
          <p:nvPr/>
        </p:nvSpPr>
        <p:spPr>
          <a:xfrm>
            <a:off x="4608576"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MOVIES</a:t>
            </a:r>
            <a:endParaRPr lang="en-US" sz="700" dirty="0"/>
          </a:p>
        </p:txBody>
      </p:sp>
      <p:sp>
        <p:nvSpPr>
          <p:cNvPr id="19" name="Shape 16"/>
          <p:cNvSpPr/>
          <p:nvPr/>
        </p:nvSpPr>
        <p:spPr>
          <a:xfrm>
            <a:off x="6053328" y="4645152"/>
            <a:ext cx="1353312" cy="384048"/>
          </a:xfrm>
          <a:prstGeom prst="rect">
            <a:avLst/>
          </a:prstGeom>
          <a:solidFill>
            <a:srgbClr val="2A2A2A"/>
          </a:solidFill>
          <a:ln w="6350">
            <a:solidFill>
              <a:srgbClr val="404040"/>
            </a:solidFill>
            <a:prstDash val="solid"/>
          </a:ln>
        </p:spPr>
      </p:sp>
      <p:sp>
        <p:nvSpPr>
          <p:cNvPr id="20" name="Text 17"/>
          <p:cNvSpPr/>
          <p:nvPr/>
        </p:nvSpPr>
        <p:spPr>
          <a:xfrm>
            <a:off x="6053328"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3</a:t>
            </a:r>
            <a:endParaRPr lang="en-US" sz="1300" dirty="0"/>
          </a:p>
        </p:txBody>
      </p:sp>
      <p:sp>
        <p:nvSpPr>
          <p:cNvPr id="21" name="Text 18"/>
          <p:cNvSpPr/>
          <p:nvPr/>
        </p:nvSpPr>
        <p:spPr>
          <a:xfrm>
            <a:off x="6053328"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LANGUAGES</a:t>
            </a:r>
            <a:endParaRPr lang="en-US" sz="700" dirty="0"/>
          </a:p>
        </p:txBody>
      </p:sp>
      <p:sp>
        <p:nvSpPr>
          <p:cNvPr id="22" name="Shape 19"/>
          <p:cNvSpPr/>
          <p:nvPr/>
        </p:nvSpPr>
        <p:spPr>
          <a:xfrm>
            <a:off x="7498080" y="4645152"/>
            <a:ext cx="1353312" cy="384048"/>
          </a:xfrm>
          <a:prstGeom prst="rect">
            <a:avLst/>
          </a:prstGeom>
          <a:solidFill>
            <a:srgbClr val="2A2A2A"/>
          </a:solidFill>
          <a:ln w="6350">
            <a:solidFill>
              <a:srgbClr val="404040"/>
            </a:solidFill>
            <a:prstDash val="solid"/>
          </a:ln>
        </p:spPr>
      </p:sp>
      <p:sp>
        <p:nvSpPr>
          <p:cNvPr id="23" name="Text 20"/>
          <p:cNvSpPr/>
          <p:nvPr/>
        </p:nvSpPr>
        <p:spPr>
          <a:xfrm>
            <a:off x="7498080" y="4645152"/>
            <a:ext cx="1353312" cy="201168"/>
          </a:xfrm>
          <a:prstGeom prst="rect">
            <a:avLst/>
          </a:prstGeom>
          <a:noFill/>
          <a:ln/>
        </p:spPr>
        <p:txBody>
          <a:bodyPr wrap="square" rtlCol="0" anchor="ctr"/>
          <a:lstStyle/>
          <a:p>
            <a:pPr algn="ctr" indent="0" marL="0">
              <a:buNone/>
            </a:pPr>
            <a:r>
              <a:rPr lang="en-US" sz="1300" b="1" dirty="0">
                <a:solidFill>
                  <a:srgbClr val="D4AF37"/>
                </a:solidFill>
                <a:latin typeface="Arial Black" pitchFamily="34" charset="0"/>
                <a:ea typeface="Arial Black" pitchFamily="34" charset="-122"/>
                <a:cs typeface="Arial Black" pitchFamily="34" charset="-120"/>
              </a:rPr>
              <a:t>CSV</a:t>
            </a:r>
            <a:endParaRPr lang="en-US" sz="1300" dirty="0"/>
          </a:p>
        </p:txBody>
      </p:sp>
      <p:sp>
        <p:nvSpPr>
          <p:cNvPr id="24" name="Text 21"/>
          <p:cNvSpPr/>
          <p:nvPr/>
        </p:nvSpPr>
        <p:spPr>
          <a:xfrm>
            <a:off x="7498080" y="4828032"/>
            <a:ext cx="1353312" cy="164592"/>
          </a:xfrm>
          <a:prstGeom prst="rect">
            <a:avLst/>
          </a:prstGeom>
          <a:noFill/>
          <a:ln/>
        </p:spPr>
        <p:txBody>
          <a:bodyPr wrap="square" rtlCol="0" anchor="ctr"/>
          <a:lstStyle/>
          <a:p>
            <a:pPr algn="ctr" indent="0" marL="0">
              <a:buNone/>
            </a:pPr>
            <a:r>
              <a:rPr lang="en-US" sz="700" dirty="0">
                <a:solidFill>
                  <a:srgbClr val="888888"/>
                </a:solidFill>
                <a:latin typeface="Calibri" pitchFamily="34" charset="0"/>
                <a:ea typeface="Calibri" pitchFamily="34" charset="-122"/>
                <a:cs typeface="Calibri" pitchFamily="34" charset="-120"/>
              </a:rPr>
              <a:t>EXPORT</a:t>
            </a:r>
            <a:endParaRPr lang="en-US" sz="700" dirty="0"/>
          </a:p>
        </p:txBody>
      </p:sp>
      <p:sp>
        <p:nvSpPr>
          <p:cNvPr id="25" name="Shape 22"/>
          <p:cNvSpPr/>
          <p:nvPr/>
        </p:nvSpPr>
        <p:spPr>
          <a:xfrm>
            <a:off x="8686800" y="91440"/>
            <a:ext cx="320040" cy="320040"/>
          </a:xfrm>
          <a:prstGeom prst="ellipse">
            <a:avLst/>
          </a:prstGeom>
          <a:solidFill>
            <a:srgbClr val="D4AF37"/>
          </a:solidFill>
          <a:ln w="12700">
            <a:solidFill>
              <a:srgbClr val="D4AF37"/>
            </a:solidFill>
            <a:prstDash val="solid"/>
          </a:ln>
        </p:spPr>
      </p:sp>
      <p:sp>
        <p:nvSpPr>
          <p:cNvPr id="26" name="Text 23"/>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457200" y="274320"/>
            <a:ext cx="64008" cy="502920"/>
          </a:xfrm>
          <a:prstGeom prst="rect">
            <a:avLst/>
          </a:prstGeom>
          <a:solidFill>
            <a:srgbClr val="D4AF37"/>
          </a:solidFill>
          <a:ln w="12700">
            <a:solidFill>
              <a:srgbClr val="D4AF37"/>
            </a:solidFill>
            <a:prstDash val="solid"/>
          </a:ln>
        </p:spPr>
      </p:sp>
      <p:sp>
        <p:nvSpPr>
          <p:cNvPr id="3" name="Text 1"/>
          <p:cNvSpPr/>
          <p:nvPr/>
        </p:nvSpPr>
        <p:spPr>
          <a:xfrm>
            <a:off x="594360" y="256032"/>
            <a:ext cx="7772400" cy="502920"/>
          </a:xfrm>
          <a:prstGeom prst="rect">
            <a:avLst/>
          </a:prstGeom>
          <a:noFill/>
          <a:ln/>
        </p:spPr>
        <p:txBody>
          <a:bodyPr wrap="square" lIns="0" tIns="0" rIns="0" bIns="0" rtlCol="0" anchor="ctr"/>
          <a:lstStyle/>
          <a:p>
            <a:pPr indent="0" marL="0">
              <a:buNone/>
            </a:pPr>
            <a:r>
              <a:rPr lang="en-US" sz="2800" b="1" dirty="0">
                <a:solidFill>
                  <a:srgbClr val="F5F5F5"/>
                </a:solidFill>
                <a:latin typeface="Arial Black" pitchFamily="34" charset="0"/>
                <a:ea typeface="Arial Black" pitchFamily="34" charset="-122"/>
                <a:cs typeface="Arial Black" pitchFamily="34" charset="-120"/>
              </a:rPr>
              <a:t>References</a:t>
            </a:r>
            <a:endParaRPr lang="en-US" sz="2800" dirty="0"/>
          </a:p>
        </p:txBody>
      </p:sp>
      <p:sp>
        <p:nvSpPr>
          <p:cNvPr id="4" name="Text 2"/>
          <p:cNvSpPr/>
          <p:nvPr/>
        </p:nvSpPr>
        <p:spPr>
          <a:xfrm>
            <a:off x="594360" y="777240"/>
            <a:ext cx="8046720" cy="2286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All resources, tools, and documentation used throughout the project</a:t>
            </a:r>
            <a:endParaRPr lang="en-US" sz="1100" dirty="0"/>
          </a:p>
        </p:txBody>
      </p:sp>
      <p:sp>
        <p:nvSpPr>
          <p:cNvPr id="5" name="Shape 3"/>
          <p:cNvSpPr/>
          <p:nvPr/>
        </p:nvSpPr>
        <p:spPr>
          <a:xfrm>
            <a:off x="365760" y="1005840"/>
            <a:ext cx="4023360" cy="1691640"/>
          </a:xfrm>
          <a:prstGeom prst="rect">
            <a:avLst/>
          </a:prstGeom>
          <a:solidFill>
            <a:srgbClr val="2A2A2A"/>
          </a:solidFill>
          <a:ln w="6350">
            <a:solidFill>
              <a:srgbClr val="404040"/>
            </a:solidFill>
            <a:prstDash val="solid"/>
          </a:ln>
        </p:spPr>
      </p:sp>
      <p:sp>
        <p:nvSpPr>
          <p:cNvPr id="6" name="Shape 4"/>
          <p:cNvSpPr/>
          <p:nvPr/>
        </p:nvSpPr>
        <p:spPr>
          <a:xfrm>
            <a:off x="365760" y="1005840"/>
            <a:ext cx="4023360" cy="347472"/>
          </a:xfrm>
          <a:prstGeom prst="rect">
            <a:avLst/>
          </a:prstGeom>
          <a:solidFill>
            <a:srgbClr val="1A1A1A"/>
          </a:solidFill>
          <a:ln w="6350">
            <a:solidFill>
              <a:srgbClr val="404040"/>
            </a:solidFill>
            <a:prstDash val="solid"/>
          </a:ln>
        </p:spPr>
      </p:sp>
      <p:sp>
        <p:nvSpPr>
          <p:cNvPr id="7" name="Shape 5"/>
          <p:cNvSpPr/>
          <p:nvPr/>
        </p:nvSpPr>
        <p:spPr>
          <a:xfrm>
            <a:off x="365760" y="1005840"/>
            <a:ext cx="4023360" cy="36576"/>
          </a:xfrm>
          <a:prstGeom prst="rect">
            <a:avLst/>
          </a:prstGeom>
          <a:solidFill>
            <a:srgbClr val="66AAFF"/>
          </a:solidFill>
          <a:ln w="12700">
            <a:solidFill>
              <a:srgbClr val="66AAFF"/>
            </a:solidFill>
            <a:prstDash val="solid"/>
          </a:ln>
        </p:spPr>
      </p:sp>
      <p:sp>
        <p:nvSpPr>
          <p:cNvPr id="8" name="Text 6"/>
          <p:cNvSpPr/>
          <p:nvPr/>
        </p:nvSpPr>
        <p:spPr>
          <a:xfrm>
            <a:off x="475488" y="1060704"/>
            <a:ext cx="3749040" cy="256032"/>
          </a:xfrm>
          <a:prstGeom prst="rect">
            <a:avLst/>
          </a:prstGeom>
          <a:noFill/>
          <a:ln/>
        </p:spPr>
        <p:txBody>
          <a:bodyPr wrap="square" lIns="0" tIns="0" rIns="0" bIns="0" rtlCol="0" anchor="ctr"/>
          <a:lstStyle/>
          <a:p>
            <a:pPr indent="0" marL="0">
              <a:buNone/>
            </a:pPr>
            <a:r>
              <a:rPr lang="en-US" sz="1100" b="1" dirty="0">
                <a:solidFill>
                  <a:srgbClr val="66AAFF"/>
                </a:solidFill>
                <a:latin typeface="Calibri" pitchFamily="34" charset="0"/>
                <a:ea typeface="Calibri" pitchFamily="34" charset="-122"/>
                <a:cs typeface="Calibri" pitchFamily="34" charset="-120"/>
              </a:rPr>
              <a:t>📚 Technical Documentation</a:t>
            </a:r>
            <a:endParaRPr lang="en-US" sz="1100" dirty="0"/>
          </a:p>
        </p:txBody>
      </p:sp>
      <p:sp>
        <p:nvSpPr>
          <p:cNvPr id="9" name="Text 7"/>
          <p:cNvSpPr/>
          <p:nvPr/>
        </p:nvSpPr>
        <p:spPr>
          <a:xfrm>
            <a:off x="475488" y="1444752"/>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MDN Web Docs — developer.mozilla.org</a:t>
            </a:r>
            <a:endParaRPr lang="en-US" sz="950" dirty="0"/>
          </a:p>
        </p:txBody>
      </p:sp>
      <p:sp>
        <p:nvSpPr>
          <p:cNvPr id="10" name="Text 8"/>
          <p:cNvSpPr/>
          <p:nvPr/>
        </p:nvSpPr>
        <p:spPr>
          <a:xfrm>
            <a:off x="475488" y="1755648"/>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W3Schools — w3schools.com</a:t>
            </a:r>
            <a:endParaRPr lang="en-US" sz="950" dirty="0"/>
          </a:p>
        </p:txBody>
      </p:sp>
      <p:sp>
        <p:nvSpPr>
          <p:cNvPr id="11" name="Text 9"/>
          <p:cNvSpPr/>
          <p:nvPr/>
        </p:nvSpPr>
        <p:spPr>
          <a:xfrm>
            <a:off x="475488" y="2066544"/>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Express.js Docs — expressjs.com</a:t>
            </a:r>
            <a:endParaRPr lang="en-US" sz="950" dirty="0"/>
          </a:p>
        </p:txBody>
      </p:sp>
      <p:sp>
        <p:nvSpPr>
          <p:cNvPr id="12" name="Text 10"/>
          <p:cNvSpPr/>
          <p:nvPr/>
        </p:nvSpPr>
        <p:spPr>
          <a:xfrm>
            <a:off x="475488" y="2377440"/>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Node.js Docs — nodejs.org/docs</a:t>
            </a:r>
            <a:endParaRPr lang="en-US" sz="950" dirty="0"/>
          </a:p>
        </p:txBody>
      </p:sp>
      <p:sp>
        <p:nvSpPr>
          <p:cNvPr id="13" name="Shape 11"/>
          <p:cNvSpPr/>
          <p:nvPr/>
        </p:nvSpPr>
        <p:spPr>
          <a:xfrm>
            <a:off x="4663440" y="1005840"/>
            <a:ext cx="4023360" cy="1691640"/>
          </a:xfrm>
          <a:prstGeom prst="rect">
            <a:avLst/>
          </a:prstGeom>
          <a:solidFill>
            <a:srgbClr val="2A2A2A"/>
          </a:solidFill>
          <a:ln w="6350">
            <a:solidFill>
              <a:srgbClr val="404040"/>
            </a:solidFill>
            <a:prstDash val="solid"/>
          </a:ln>
        </p:spPr>
      </p:sp>
      <p:sp>
        <p:nvSpPr>
          <p:cNvPr id="14" name="Shape 12"/>
          <p:cNvSpPr/>
          <p:nvPr/>
        </p:nvSpPr>
        <p:spPr>
          <a:xfrm>
            <a:off x="4663440" y="1005840"/>
            <a:ext cx="4023360" cy="347472"/>
          </a:xfrm>
          <a:prstGeom prst="rect">
            <a:avLst/>
          </a:prstGeom>
          <a:solidFill>
            <a:srgbClr val="1A1A1A"/>
          </a:solidFill>
          <a:ln w="6350">
            <a:solidFill>
              <a:srgbClr val="404040"/>
            </a:solidFill>
            <a:prstDash val="solid"/>
          </a:ln>
        </p:spPr>
      </p:sp>
      <p:sp>
        <p:nvSpPr>
          <p:cNvPr id="15" name="Shape 13"/>
          <p:cNvSpPr/>
          <p:nvPr/>
        </p:nvSpPr>
        <p:spPr>
          <a:xfrm>
            <a:off x="4663440" y="1005840"/>
            <a:ext cx="4023360" cy="36576"/>
          </a:xfrm>
          <a:prstGeom prst="rect">
            <a:avLst/>
          </a:prstGeom>
          <a:solidFill>
            <a:srgbClr val="D4AF37"/>
          </a:solidFill>
          <a:ln w="12700">
            <a:solidFill>
              <a:srgbClr val="D4AF37"/>
            </a:solidFill>
            <a:prstDash val="solid"/>
          </a:ln>
        </p:spPr>
      </p:sp>
      <p:sp>
        <p:nvSpPr>
          <p:cNvPr id="16" name="Text 14"/>
          <p:cNvSpPr/>
          <p:nvPr/>
        </p:nvSpPr>
        <p:spPr>
          <a:xfrm>
            <a:off x="4773168" y="1060704"/>
            <a:ext cx="3749040" cy="256032"/>
          </a:xfrm>
          <a:prstGeom prst="rect">
            <a:avLst/>
          </a:prstGeom>
          <a:noFill/>
          <a:ln/>
        </p:spPr>
        <p:txBody>
          <a:bodyPr wrap="square" lIns="0" tIns="0" rIns="0" bIns="0" rtlCol="0" anchor="ctr"/>
          <a:lstStyle/>
          <a:p>
            <a:pPr indent="0" marL="0">
              <a:buNone/>
            </a:pPr>
            <a:r>
              <a:rPr lang="en-US" sz="1100" b="1" dirty="0">
                <a:solidFill>
                  <a:srgbClr val="D4AF37"/>
                </a:solidFill>
                <a:latin typeface="Calibri" pitchFamily="34" charset="0"/>
                <a:ea typeface="Calibri" pitchFamily="34" charset="-122"/>
                <a:cs typeface="Calibri" pitchFamily="34" charset="-120"/>
              </a:rPr>
              <a:t>🤖 AI Tools &amp; Resources</a:t>
            </a:r>
            <a:endParaRPr lang="en-US" sz="1100" dirty="0"/>
          </a:p>
        </p:txBody>
      </p:sp>
      <p:sp>
        <p:nvSpPr>
          <p:cNvPr id="17" name="Text 15"/>
          <p:cNvSpPr/>
          <p:nvPr/>
        </p:nvSpPr>
        <p:spPr>
          <a:xfrm>
            <a:off x="4773168" y="1444752"/>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Claude AI — claude.ai (Anthropic)</a:t>
            </a:r>
            <a:endParaRPr lang="en-US" sz="950" dirty="0"/>
          </a:p>
        </p:txBody>
      </p:sp>
      <p:sp>
        <p:nvSpPr>
          <p:cNvPr id="18" name="Text 16"/>
          <p:cNvSpPr/>
          <p:nvPr/>
        </p:nvSpPr>
        <p:spPr>
          <a:xfrm>
            <a:off x="4773168" y="1755648"/>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Anthropic Docs — docs.anthropic.com</a:t>
            </a:r>
            <a:endParaRPr lang="en-US" sz="950" dirty="0"/>
          </a:p>
        </p:txBody>
      </p:sp>
      <p:sp>
        <p:nvSpPr>
          <p:cNvPr id="19" name="Text 17"/>
          <p:cNvSpPr/>
          <p:nvPr/>
        </p:nvSpPr>
        <p:spPr>
          <a:xfrm>
            <a:off x="4773168" y="2066544"/>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GitHub Copilot — github.com/features/copilot</a:t>
            </a:r>
            <a:endParaRPr lang="en-US" sz="950" dirty="0"/>
          </a:p>
        </p:txBody>
      </p:sp>
      <p:sp>
        <p:nvSpPr>
          <p:cNvPr id="20" name="Shape 18"/>
          <p:cNvSpPr/>
          <p:nvPr/>
        </p:nvSpPr>
        <p:spPr>
          <a:xfrm>
            <a:off x="365760" y="2834640"/>
            <a:ext cx="4023360" cy="1691640"/>
          </a:xfrm>
          <a:prstGeom prst="rect">
            <a:avLst/>
          </a:prstGeom>
          <a:solidFill>
            <a:srgbClr val="2A2A2A"/>
          </a:solidFill>
          <a:ln w="6350">
            <a:solidFill>
              <a:srgbClr val="404040"/>
            </a:solidFill>
            <a:prstDash val="solid"/>
          </a:ln>
        </p:spPr>
      </p:sp>
      <p:sp>
        <p:nvSpPr>
          <p:cNvPr id="21" name="Shape 19"/>
          <p:cNvSpPr/>
          <p:nvPr/>
        </p:nvSpPr>
        <p:spPr>
          <a:xfrm>
            <a:off x="365760" y="2834640"/>
            <a:ext cx="4023360" cy="347472"/>
          </a:xfrm>
          <a:prstGeom prst="rect">
            <a:avLst/>
          </a:prstGeom>
          <a:solidFill>
            <a:srgbClr val="1A1A1A"/>
          </a:solidFill>
          <a:ln w="6350">
            <a:solidFill>
              <a:srgbClr val="404040"/>
            </a:solidFill>
            <a:prstDash val="solid"/>
          </a:ln>
        </p:spPr>
      </p:sp>
      <p:sp>
        <p:nvSpPr>
          <p:cNvPr id="22" name="Shape 20"/>
          <p:cNvSpPr/>
          <p:nvPr/>
        </p:nvSpPr>
        <p:spPr>
          <a:xfrm>
            <a:off x="365760" y="2834640"/>
            <a:ext cx="4023360" cy="36576"/>
          </a:xfrm>
          <a:prstGeom prst="rect">
            <a:avLst/>
          </a:prstGeom>
          <a:solidFill>
            <a:srgbClr val="FF9966"/>
          </a:solidFill>
          <a:ln w="12700">
            <a:solidFill>
              <a:srgbClr val="FF9966"/>
            </a:solidFill>
            <a:prstDash val="solid"/>
          </a:ln>
        </p:spPr>
      </p:sp>
      <p:sp>
        <p:nvSpPr>
          <p:cNvPr id="23" name="Text 21"/>
          <p:cNvSpPr/>
          <p:nvPr/>
        </p:nvSpPr>
        <p:spPr>
          <a:xfrm>
            <a:off x="475488" y="2889504"/>
            <a:ext cx="3749040" cy="256032"/>
          </a:xfrm>
          <a:prstGeom prst="rect">
            <a:avLst/>
          </a:prstGeom>
          <a:noFill/>
          <a:ln/>
        </p:spPr>
        <p:txBody>
          <a:bodyPr wrap="square" lIns="0" tIns="0" rIns="0" bIns="0" rtlCol="0" anchor="ctr"/>
          <a:lstStyle/>
          <a:p>
            <a:pPr indent="0" marL="0">
              <a:buNone/>
            </a:pPr>
            <a:r>
              <a:rPr lang="en-US" sz="1100" b="1" dirty="0">
                <a:solidFill>
                  <a:srgbClr val="FF9966"/>
                </a:solidFill>
                <a:latin typeface="Calibri" pitchFamily="34" charset="0"/>
                <a:ea typeface="Calibri" pitchFamily="34" charset="-122"/>
                <a:cs typeface="Calibri" pitchFamily="34" charset="-120"/>
              </a:rPr>
              <a:t>🎨 Design &amp; Assets</a:t>
            </a:r>
            <a:endParaRPr lang="en-US" sz="1100" dirty="0"/>
          </a:p>
        </p:txBody>
      </p:sp>
      <p:sp>
        <p:nvSpPr>
          <p:cNvPr id="24" name="Text 22"/>
          <p:cNvSpPr/>
          <p:nvPr/>
        </p:nvSpPr>
        <p:spPr>
          <a:xfrm>
            <a:off x="475488" y="3273552"/>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Google Fonts — fonts.google.com</a:t>
            </a:r>
            <a:endParaRPr lang="en-US" sz="950" dirty="0"/>
          </a:p>
        </p:txBody>
      </p:sp>
      <p:sp>
        <p:nvSpPr>
          <p:cNvPr id="25" name="Text 23"/>
          <p:cNvSpPr/>
          <p:nvPr/>
        </p:nvSpPr>
        <p:spPr>
          <a:xfrm>
            <a:off x="475488" y="3584448"/>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TMDB — themoviedb.org (posters)</a:t>
            </a:r>
            <a:endParaRPr lang="en-US" sz="950" dirty="0"/>
          </a:p>
        </p:txBody>
      </p:sp>
      <p:sp>
        <p:nvSpPr>
          <p:cNvPr id="26" name="Text 24"/>
          <p:cNvSpPr/>
          <p:nvPr/>
        </p:nvSpPr>
        <p:spPr>
          <a:xfrm>
            <a:off x="475488" y="3895344"/>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Font Awesome — Icons</a:t>
            </a:r>
            <a:endParaRPr lang="en-US" sz="950" dirty="0"/>
          </a:p>
        </p:txBody>
      </p:sp>
      <p:sp>
        <p:nvSpPr>
          <p:cNvPr id="27" name="Shape 25"/>
          <p:cNvSpPr/>
          <p:nvPr/>
        </p:nvSpPr>
        <p:spPr>
          <a:xfrm>
            <a:off x="4663440" y="2834640"/>
            <a:ext cx="4023360" cy="1691640"/>
          </a:xfrm>
          <a:prstGeom prst="rect">
            <a:avLst/>
          </a:prstGeom>
          <a:solidFill>
            <a:srgbClr val="2A2A2A"/>
          </a:solidFill>
          <a:ln w="6350">
            <a:solidFill>
              <a:srgbClr val="404040"/>
            </a:solidFill>
            <a:prstDash val="solid"/>
          </a:ln>
        </p:spPr>
      </p:sp>
      <p:sp>
        <p:nvSpPr>
          <p:cNvPr id="28" name="Shape 26"/>
          <p:cNvSpPr/>
          <p:nvPr/>
        </p:nvSpPr>
        <p:spPr>
          <a:xfrm>
            <a:off x="4663440" y="2834640"/>
            <a:ext cx="4023360" cy="347472"/>
          </a:xfrm>
          <a:prstGeom prst="rect">
            <a:avLst/>
          </a:prstGeom>
          <a:solidFill>
            <a:srgbClr val="1A1A1A"/>
          </a:solidFill>
          <a:ln w="6350">
            <a:solidFill>
              <a:srgbClr val="404040"/>
            </a:solidFill>
            <a:prstDash val="solid"/>
          </a:ln>
        </p:spPr>
      </p:sp>
      <p:sp>
        <p:nvSpPr>
          <p:cNvPr id="29" name="Shape 27"/>
          <p:cNvSpPr/>
          <p:nvPr/>
        </p:nvSpPr>
        <p:spPr>
          <a:xfrm>
            <a:off x="4663440" y="2834640"/>
            <a:ext cx="4023360" cy="36576"/>
          </a:xfrm>
          <a:prstGeom prst="rect">
            <a:avLst/>
          </a:prstGeom>
          <a:solidFill>
            <a:srgbClr val="66FF88"/>
          </a:solidFill>
          <a:ln w="12700">
            <a:solidFill>
              <a:srgbClr val="66FF88"/>
            </a:solidFill>
            <a:prstDash val="solid"/>
          </a:ln>
        </p:spPr>
      </p:sp>
      <p:sp>
        <p:nvSpPr>
          <p:cNvPr id="30" name="Text 28"/>
          <p:cNvSpPr/>
          <p:nvPr/>
        </p:nvSpPr>
        <p:spPr>
          <a:xfrm>
            <a:off x="4773168" y="2889504"/>
            <a:ext cx="3749040" cy="256032"/>
          </a:xfrm>
          <a:prstGeom prst="rect">
            <a:avLst/>
          </a:prstGeom>
          <a:noFill/>
          <a:ln/>
        </p:spPr>
        <p:txBody>
          <a:bodyPr wrap="square" lIns="0" tIns="0" rIns="0" bIns="0" rtlCol="0" anchor="ctr"/>
          <a:lstStyle/>
          <a:p>
            <a:pPr indent="0" marL="0">
              <a:buNone/>
            </a:pPr>
            <a:r>
              <a:rPr lang="en-US" sz="1100" b="1" dirty="0">
                <a:solidFill>
                  <a:srgbClr val="66FF88"/>
                </a:solidFill>
                <a:latin typeface="Calibri" pitchFamily="34" charset="0"/>
                <a:ea typeface="Calibri" pitchFamily="34" charset="-122"/>
                <a:cs typeface="Calibri" pitchFamily="34" charset="-120"/>
              </a:rPr>
              <a:t>☁️ Deployment Platforms</a:t>
            </a:r>
            <a:endParaRPr lang="en-US" sz="1100" dirty="0"/>
          </a:p>
        </p:txBody>
      </p:sp>
      <p:sp>
        <p:nvSpPr>
          <p:cNvPr id="31" name="Text 29"/>
          <p:cNvSpPr/>
          <p:nvPr/>
        </p:nvSpPr>
        <p:spPr>
          <a:xfrm>
            <a:off x="4773168" y="3273552"/>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Netlify — netlify.com (frontend)</a:t>
            </a:r>
            <a:endParaRPr lang="en-US" sz="950" dirty="0"/>
          </a:p>
        </p:txBody>
      </p:sp>
      <p:sp>
        <p:nvSpPr>
          <p:cNvPr id="32" name="Text 30"/>
          <p:cNvSpPr/>
          <p:nvPr/>
        </p:nvSpPr>
        <p:spPr>
          <a:xfrm>
            <a:off x="4773168" y="3584448"/>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Render — render.com (backend)</a:t>
            </a:r>
            <a:endParaRPr lang="en-US" sz="950" dirty="0"/>
          </a:p>
        </p:txBody>
      </p:sp>
      <p:sp>
        <p:nvSpPr>
          <p:cNvPr id="33" name="Text 31"/>
          <p:cNvSpPr/>
          <p:nvPr/>
        </p:nvSpPr>
        <p:spPr>
          <a:xfrm>
            <a:off x="4773168" y="3895344"/>
            <a:ext cx="3749040" cy="256032"/>
          </a:xfrm>
          <a:prstGeom prst="rect">
            <a:avLst/>
          </a:prstGeom>
          <a:noFill/>
          <a:ln/>
        </p:spPr>
        <p:txBody>
          <a:bodyPr wrap="square" lIns="0" tIns="0" rIns="0" bIns="0" rtlCol="0" anchor="ctr"/>
          <a:lstStyle/>
          <a:p>
            <a:pPr indent="0" marL="0">
              <a:buNone/>
            </a:pPr>
            <a:r>
              <a:rPr lang="en-US" sz="950" dirty="0">
                <a:solidFill>
                  <a:srgbClr val="F5F5F5"/>
                </a:solidFill>
                <a:latin typeface="Calibri" pitchFamily="34" charset="0"/>
                <a:ea typeface="Calibri" pitchFamily="34" charset="-122"/>
                <a:cs typeface="Calibri" pitchFamily="34" charset="-120"/>
              </a:rPr>
              <a:t>→  GitHub — Source code &amp; commit history</a:t>
            </a:r>
            <a:endParaRPr lang="en-US" sz="950" dirty="0"/>
          </a:p>
        </p:txBody>
      </p:sp>
      <p:sp>
        <p:nvSpPr>
          <p:cNvPr id="34" name="Shape 32"/>
          <p:cNvSpPr/>
          <p:nvPr/>
        </p:nvSpPr>
        <p:spPr>
          <a:xfrm>
            <a:off x="2286000" y="4663440"/>
            <a:ext cx="4572000" cy="182880"/>
          </a:xfrm>
          <a:prstGeom prst="rect">
            <a:avLst/>
          </a:prstGeom>
          <a:solidFill>
            <a:srgbClr val="2A2A2A"/>
          </a:solidFill>
          <a:ln w="6350">
            <a:solidFill>
              <a:srgbClr val="404040"/>
            </a:solidFill>
            <a:prstDash val="solid"/>
          </a:ln>
        </p:spPr>
      </p:sp>
      <p:sp>
        <p:nvSpPr>
          <p:cNvPr id="35" name="Text 33"/>
          <p:cNvSpPr/>
          <p:nvPr/>
        </p:nvSpPr>
        <p:spPr>
          <a:xfrm>
            <a:off x="2286000" y="4663440"/>
            <a:ext cx="4572000" cy="1828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Built with Node.js · Express · HTML · CSS · JavaScript · Claude AI  |  2026</a:t>
            </a:r>
            <a:endParaRPr lang="en-US" sz="800" dirty="0"/>
          </a:p>
        </p:txBody>
      </p:sp>
      <p:sp>
        <p:nvSpPr>
          <p:cNvPr id="36" name="Shape 34"/>
          <p:cNvSpPr/>
          <p:nvPr/>
        </p:nvSpPr>
        <p:spPr>
          <a:xfrm>
            <a:off x="0" y="4846320"/>
            <a:ext cx="9144000" cy="297180"/>
          </a:xfrm>
          <a:prstGeom prst="rect">
            <a:avLst/>
          </a:prstGeom>
          <a:solidFill>
            <a:srgbClr val="1A1A1A"/>
          </a:solidFill>
          <a:ln w="12700">
            <a:solidFill>
              <a:srgbClr val="1A1A1A"/>
            </a:solidFill>
            <a:prstDash val="solid"/>
          </a:ln>
        </p:spPr>
      </p:sp>
      <p:sp>
        <p:nvSpPr>
          <p:cNvPr id="37" name="Shape 35"/>
          <p:cNvSpPr/>
          <p:nvPr/>
        </p:nvSpPr>
        <p:spPr>
          <a:xfrm>
            <a:off x="0" y="4846320"/>
            <a:ext cx="9144000" cy="18288"/>
          </a:xfrm>
          <a:prstGeom prst="rect">
            <a:avLst/>
          </a:prstGeom>
          <a:solidFill>
            <a:srgbClr val="D4AF37"/>
          </a:solidFill>
          <a:ln w="12700">
            <a:solidFill>
              <a:srgbClr val="D4AF37"/>
            </a:solidFill>
            <a:prstDash val="solid"/>
          </a:ln>
        </p:spPr>
      </p:sp>
      <p:sp>
        <p:nvSpPr>
          <p:cNvPr id="38" name="Text 36"/>
          <p:cNvSpPr/>
          <p:nvPr/>
        </p:nvSpPr>
        <p:spPr>
          <a:xfrm>
            <a:off x="0" y="4846320"/>
            <a:ext cx="9144000" cy="297180"/>
          </a:xfrm>
          <a:prstGeom prst="rect">
            <a:avLst/>
          </a:prstGeom>
          <a:noFill/>
          <a:ln/>
        </p:spPr>
        <p:txBody>
          <a:bodyPr wrap="square" rtlCol="0" anchor="ctr"/>
          <a:lstStyle/>
          <a:p>
            <a:pPr algn="ctr" indent="0" marL="0">
              <a:buNone/>
            </a:pPr>
            <a:r>
              <a:rPr lang="en-US" sz="800" dirty="0">
                <a:solidFill>
                  <a:srgbClr val="888888"/>
                </a:solidFill>
                <a:latin typeface="Calibri" pitchFamily="34" charset="0"/>
                <a:ea typeface="Calibri" pitchFamily="34" charset="-122"/>
                <a:cs typeface="Calibri" pitchFamily="34" charset="-120"/>
              </a:rPr>
              <a:t>🎬  CineBook — AI-Assisted Movie Booking Platform  |  M.Dakshinya  |  2303A51553  |  2026</a:t>
            </a:r>
            <a:endParaRPr lang="en-US" sz="800" dirty="0"/>
          </a:p>
        </p:txBody>
      </p:sp>
      <p:sp>
        <p:nvSpPr>
          <p:cNvPr id="39" name="Shape 37"/>
          <p:cNvSpPr/>
          <p:nvPr/>
        </p:nvSpPr>
        <p:spPr>
          <a:xfrm>
            <a:off x="8686800" y="91440"/>
            <a:ext cx="320040" cy="320040"/>
          </a:xfrm>
          <a:prstGeom prst="ellipse">
            <a:avLst/>
          </a:prstGeom>
          <a:solidFill>
            <a:srgbClr val="D4AF37"/>
          </a:solidFill>
          <a:ln w="12700">
            <a:solidFill>
              <a:srgbClr val="D4AF37"/>
            </a:solidFill>
            <a:prstDash val="solid"/>
          </a:ln>
        </p:spPr>
      </p:sp>
      <p:sp>
        <p:nvSpPr>
          <p:cNvPr id="40" name="Text 38"/>
          <p:cNvSpPr/>
          <p:nvPr/>
        </p:nvSpPr>
        <p:spPr>
          <a:xfrm>
            <a:off x="8686800" y="91440"/>
            <a:ext cx="320040" cy="320040"/>
          </a:xfrm>
          <a:prstGeom prst="rect">
            <a:avLst/>
          </a:prstGeom>
          <a:noFill/>
          <a:ln/>
        </p:spPr>
        <p:txBody>
          <a:bodyPr wrap="square" rtlCol="0" anchor="ctr"/>
          <a:lstStyle/>
          <a:p>
            <a:pPr algn="ctr" indent="0" marL="0">
              <a:buNone/>
            </a:pPr>
            <a:r>
              <a:rPr lang="en-US" sz="1000" b="1" dirty="0">
                <a:solidFill>
                  <a:srgbClr val="0A0A0A"/>
                </a:solidFill>
                <a:latin typeface="Arial Black" pitchFamily="34" charset="0"/>
                <a:ea typeface="Arial Black" pitchFamily="34" charset="-122"/>
                <a:cs typeface="Arial Black"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CineBook — AI-Assisted Movie Booking Platform</dc:title>
  <dc:subject>PptxGenJS Presentation</dc:subject>
  <dc:creator>M. Dakshinya</dc:creator>
  <cp:lastModifiedBy>M. Dakshinya</cp:lastModifiedBy>
  <cp:revision>1</cp:revision>
  <dcterms:created xsi:type="dcterms:W3CDTF">2026-04-10T11:02:01Z</dcterms:created>
  <dcterms:modified xsi:type="dcterms:W3CDTF">2026-04-10T11:02:01Z</dcterms:modified>
</cp:coreProperties>
</file>